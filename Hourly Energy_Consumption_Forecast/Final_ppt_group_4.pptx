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sldIdLst>
    <p:sldId id="274" r:id="rId2"/>
    <p:sldId id="275" r:id="rId3"/>
    <p:sldId id="276" r:id="rId4"/>
    <p:sldId id="277" r:id="rId5"/>
    <p:sldId id="264" r:id="rId6"/>
    <p:sldId id="266" r:id="rId7"/>
    <p:sldId id="267" r:id="rId8"/>
    <p:sldId id="268" r:id="rId9"/>
    <p:sldId id="269" r:id="rId10"/>
    <p:sldId id="282" r:id="rId11"/>
    <p:sldId id="270" r:id="rId12"/>
    <p:sldId id="271" r:id="rId13"/>
    <p:sldId id="272" r:id="rId14"/>
    <p:sldId id="283" r:id="rId15"/>
    <p:sldId id="257" r:id="rId16"/>
    <p:sldId id="258" r:id="rId17"/>
    <p:sldId id="259" r:id="rId18"/>
    <p:sldId id="260" r:id="rId19"/>
    <p:sldId id="261" r:id="rId20"/>
    <p:sldId id="262" r:id="rId21"/>
    <p:sldId id="278" r:id="rId22"/>
    <p:sldId id="280" r:id="rId23"/>
    <p:sldId id="279" r:id="rId24"/>
    <p:sldId id="281" r:id="rId25"/>
    <p:sldId id="265" r:id="rId26"/>
    <p:sldId id="263" r:id="rId27"/>
    <p:sldId id="27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6855A-1B15-4F98-84AB-F20A9FF3D47A}" type="datetimeFigureOut">
              <a:rPr lang="en-IN" smtClean="0"/>
              <a:t>15-08-2025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DC0D64-05C8-420E-ADBF-E98ABFE9F759}" type="slidenum">
              <a:rPr lang="en-IN" smtClean="0"/>
              <a:t>‹#›</a:t>
            </a:fld>
            <a:endParaRPr lang="en-IN"/>
          </a:p>
        </p:txBody>
      </p:sp>
    </p:spTree>
    <p:extLst>
      <p:ext uri="{BB962C8B-B14F-4D97-AF65-F5344CB8AC3E}">
        <p14:creationId xmlns:p14="http://schemas.microsoft.com/office/powerpoint/2010/main" val="1500225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DC0D64-05C8-420E-ADBF-E98ABFE9F759}" type="slidenum">
              <a:rPr lang="en-IN" smtClean="0"/>
              <a:t>17</a:t>
            </a:fld>
            <a:endParaRPr lang="en-IN"/>
          </a:p>
        </p:txBody>
      </p:sp>
    </p:spTree>
    <p:extLst>
      <p:ext uri="{BB962C8B-B14F-4D97-AF65-F5344CB8AC3E}">
        <p14:creationId xmlns:p14="http://schemas.microsoft.com/office/powerpoint/2010/main" val="3962824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205014-2FF3-463A-A5EE-00FA949F4727}"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3744282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F593708-F9C5-486D-9F10-9665FFA586E0}"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411406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0E190E-C38E-4C48-8B37-06FDB7D2ABBA}"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1313768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8373B5-AF2A-40F8-AF50-0122EC215E02}" type="datetime1">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1460345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10DC24-131C-45F7-8925-20CC756F2552}" type="datetime1">
              <a:rPr lang="en-IN" smtClean="0"/>
              <a:t>15-08-2025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2036383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D043735-BB25-419C-8271-B11A58C0B92E}" type="datetime1">
              <a:rPr lang="en-IN" smtClean="0"/>
              <a:t>15-08-2025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1465081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518A31A-BB6B-4173-B949-FF0DB204699F}" type="datetime1">
              <a:rPr lang="en-IN" smtClean="0"/>
              <a:t>15-08-2025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1100590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6DA89F-2F5E-4211-A219-CA23FB2588C4}" type="datetime1">
              <a:rPr lang="en-IN" smtClean="0"/>
              <a:t>15-08-2025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3054058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05B167-F325-4840-ABFF-23C9713DA732}" type="datetime1">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109096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0179E9-0CAB-4BA8-9B8A-9A2F299A8960}" type="datetime1">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227314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C96B847-43A2-4F10-B21A-CC2F8B472C6D}"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3749733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FE60D07-84D1-4EF8-8A16-7AEE38A5E37F}"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47931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B03F05-16D3-496F-931A-69EFC0632945}"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873700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365B8F7-20DF-4E7A-A92D-4BA7AAACE5AC}" type="datetime1">
              <a:rPr lang="en-IN" smtClean="0"/>
              <a:t>15-08-2025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28679730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537C84B-4791-4B1A-AE4F-57C101C7F3CB}" type="datetime1">
              <a:rPr lang="en-IN" smtClean="0"/>
              <a:t>15-08-2025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2325492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051FED-99D0-46DD-8666-5523B65870ED}"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3746815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6368BE-2AF7-4952-974E-80C12B2B9A0E}" type="datetime1">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72F1D8-2572-467E-833F-FFF5D30AE895}" type="slidenum">
              <a:rPr lang="en-IN" smtClean="0"/>
              <a:t>‹#›</a:t>
            </a:fld>
            <a:endParaRPr lang="en-IN"/>
          </a:p>
        </p:txBody>
      </p:sp>
    </p:spTree>
    <p:extLst>
      <p:ext uri="{BB962C8B-B14F-4D97-AF65-F5344CB8AC3E}">
        <p14:creationId xmlns:p14="http://schemas.microsoft.com/office/powerpoint/2010/main" val="2293907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4444763-1041-4AC2-B2C1-02A131C42780}" type="datetime1">
              <a:rPr lang="en-IN" smtClean="0"/>
              <a:t>15-08-2025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C72F1D8-2572-467E-833F-FFF5D30AE895}" type="slidenum">
              <a:rPr lang="en-IN" smtClean="0"/>
              <a:t>‹#›</a:t>
            </a:fld>
            <a:endParaRPr lang="en-IN"/>
          </a:p>
        </p:txBody>
      </p:sp>
    </p:spTree>
    <p:extLst>
      <p:ext uri="{BB962C8B-B14F-4D97-AF65-F5344CB8AC3E}">
        <p14:creationId xmlns:p14="http://schemas.microsoft.com/office/powerpoint/2010/main" val="326152918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B17C-1036-04AD-7C3D-0B90FDC3F0AC}"/>
              </a:ext>
            </a:extLst>
          </p:cNvPr>
          <p:cNvSpPr>
            <a:spLocks noGrp="1"/>
          </p:cNvSpPr>
          <p:nvPr>
            <p:ph type="ctrTitle"/>
          </p:nvPr>
        </p:nvSpPr>
        <p:spPr>
          <a:xfrm>
            <a:off x="1154954" y="1447800"/>
            <a:ext cx="10368451" cy="3329581"/>
          </a:xfrm>
        </p:spPr>
        <p:txBody>
          <a:bodyPr/>
          <a:lstStyle/>
          <a:p>
            <a:r>
              <a:rPr lang="en-US" dirty="0">
                <a:latin typeface="Times New Roman" panose="02020603050405020304" pitchFamily="18" charset="0"/>
                <a:cs typeface="Times New Roman" panose="02020603050405020304" pitchFamily="18" charset="0"/>
              </a:rPr>
              <a:t>Hourly Energy Consumption Forecast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(P-562)</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B01EC98-DDC0-BF22-166E-499BC11F0E9F}"/>
              </a:ext>
            </a:extLst>
          </p:cNvPr>
          <p:cNvSpPr>
            <a:spLocks noGrp="1"/>
          </p:cNvSpPr>
          <p:nvPr>
            <p:ph type="subTitle" idx="1"/>
          </p:nvPr>
        </p:nvSpPr>
        <p:spPr>
          <a:xfrm>
            <a:off x="7993626" y="5410200"/>
            <a:ext cx="2119225" cy="861420"/>
          </a:xfrm>
        </p:spPr>
        <p:txBody>
          <a:bodyPr/>
          <a:lstStyle/>
          <a:p>
            <a:r>
              <a:rPr lang="en-IN" b="1" dirty="0">
                <a:latin typeface="Times New Roman" panose="02020603050405020304" pitchFamily="18" charset="0"/>
                <a:cs typeface="Times New Roman" panose="02020603050405020304" pitchFamily="18" charset="0"/>
              </a:rPr>
              <a:t>Group - IV</a:t>
            </a:r>
          </a:p>
        </p:txBody>
      </p:sp>
    </p:spTree>
    <p:extLst>
      <p:ext uri="{BB962C8B-B14F-4D97-AF65-F5344CB8AC3E}">
        <p14:creationId xmlns:p14="http://schemas.microsoft.com/office/powerpoint/2010/main" val="479184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870AE-824C-E352-4FA9-78C85B6DFDF6}"/>
              </a:ext>
            </a:extLst>
          </p:cNvPr>
          <p:cNvSpPr>
            <a:spLocks noGrp="1"/>
          </p:cNvSpPr>
          <p:nvPr>
            <p:ph type="title"/>
          </p:nvPr>
        </p:nvSpPr>
        <p:spPr>
          <a:xfrm>
            <a:off x="646111" y="452718"/>
            <a:ext cx="9404723" cy="1169605"/>
          </a:xfrm>
        </p:spPr>
        <p:txBody>
          <a:bodyPr/>
          <a:lstStyle/>
          <a:p>
            <a:endParaRPr lang="en-IN" dirty="0"/>
          </a:p>
        </p:txBody>
      </p:sp>
      <p:sp>
        <p:nvSpPr>
          <p:cNvPr id="3" name="Content Placeholder 2">
            <a:extLst>
              <a:ext uri="{FF2B5EF4-FFF2-40B4-BE49-F238E27FC236}">
                <a16:creationId xmlns:a16="http://schemas.microsoft.com/office/drawing/2014/main" id="{EBC5D956-11C5-117B-4286-DE1CEE25BDD3}"/>
              </a:ext>
            </a:extLst>
          </p:cNvPr>
          <p:cNvSpPr>
            <a:spLocks noGrp="1"/>
          </p:cNvSpPr>
          <p:nvPr>
            <p:ph idx="1"/>
          </p:nvPr>
        </p:nvSpPr>
        <p:spPr>
          <a:xfrm>
            <a:off x="1462908" y="2381691"/>
            <a:ext cx="8946541" cy="3704477"/>
          </a:xfrm>
        </p:spPr>
        <p:txBody>
          <a:bodyPr/>
          <a:lstStyle/>
          <a:p>
            <a:r>
              <a:rPr lang="en-IN" dirty="0"/>
              <a:t>Mrinmoy Nanda</a:t>
            </a:r>
          </a:p>
          <a:p>
            <a:r>
              <a:rPr lang="en-IN" dirty="0"/>
              <a:t>NAVEEN NAGAPPA NAGANURI</a:t>
            </a:r>
          </a:p>
          <a:p>
            <a:r>
              <a:rPr lang="en-IN" dirty="0"/>
              <a:t>SHAIKH AKBAR ALI</a:t>
            </a:r>
          </a:p>
          <a:p>
            <a:r>
              <a:rPr lang="en-IN" dirty="0"/>
              <a:t>Bhavana S</a:t>
            </a:r>
          </a:p>
          <a:p>
            <a:r>
              <a:rPr lang="en-IN" dirty="0"/>
              <a:t>Smrithi Radhakrishnan</a:t>
            </a:r>
          </a:p>
          <a:p>
            <a:r>
              <a:rPr lang="en-IN" dirty="0" err="1"/>
              <a:t>Boyina</a:t>
            </a:r>
            <a:r>
              <a:rPr lang="en-IN" dirty="0"/>
              <a:t> </a:t>
            </a:r>
            <a:r>
              <a:rPr lang="en-IN" dirty="0" err="1"/>
              <a:t>Ramyasree</a:t>
            </a:r>
            <a:endParaRPr lang="en-IN" dirty="0"/>
          </a:p>
          <a:p>
            <a:endParaRPr lang="en-IN" dirty="0"/>
          </a:p>
          <a:p>
            <a:r>
              <a:rPr lang="en-IN" dirty="0"/>
              <a:t>Karthik </a:t>
            </a:r>
            <a:r>
              <a:rPr lang="en-IN" dirty="0" err="1"/>
              <a:t>Muskula</a:t>
            </a:r>
            <a:endParaRPr lang="en-IN" dirty="0"/>
          </a:p>
        </p:txBody>
      </p:sp>
      <p:sp>
        <p:nvSpPr>
          <p:cNvPr id="4" name="TextBox 3">
            <a:extLst>
              <a:ext uri="{FF2B5EF4-FFF2-40B4-BE49-F238E27FC236}">
                <a16:creationId xmlns:a16="http://schemas.microsoft.com/office/drawing/2014/main" id="{C1F9F13B-DD11-09E9-9684-4802DEDFF36A}"/>
              </a:ext>
            </a:extLst>
          </p:cNvPr>
          <p:cNvSpPr txBox="1"/>
          <p:nvPr/>
        </p:nvSpPr>
        <p:spPr>
          <a:xfrm>
            <a:off x="875071" y="1838632"/>
            <a:ext cx="2841523" cy="369332"/>
          </a:xfrm>
          <a:prstGeom prst="rect">
            <a:avLst/>
          </a:prstGeom>
          <a:noFill/>
        </p:spPr>
        <p:txBody>
          <a:bodyPr wrap="square" rtlCol="0">
            <a:spAutoFit/>
          </a:bodyPr>
          <a:lstStyle/>
          <a:p>
            <a:r>
              <a:rPr lang="en-US" dirty="0"/>
              <a:t>Group Members:</a:t>
            </a:r>
            <a:endParaRPr lang="en-IN" dirty="0"/>
          </a:p>
        </p:txBody>
      </p:sp>
      <p:sp>
        <p:nvSpPr>
          <p:cNvPr id="7" name="TextBox 6">
            <a:extLst>
              <a:ext uri="{FF2B5EF4-FFF2-40B4-BE49-F238E27FC236}">
                <a16:creationId xmlns:a16="http://schemas.microsoft.com/office/drawing/2014/main" id="{31EB604C-E447-54AC-4F36-9929F61538E3}"/>
              </a:ext>
            </a:extLst>
          </p:cNvPr>
          <p:cNvSpPr txBox="1"/>
          <p:nvPr/>
        </p:nvSpPr>
        <p:spPr>
          <a:xfrm>
            <a:off x="973394" y="5083277"/>
            <a:ext cx="2389239" cy="369332"/>
          </a:xfrm>
          <a:prstGeom prst="rect">
            <a:avLst/>
          </a:prstGeom>
          <a:noFill/>
        </p:spPr>
        <p:txBody>
          <a:bodyPr wrap="square" rtlCol="0">
            <a:spAutoFit/>
          </a:bodyPr>
          <a:lstStyle/>
          <a:p>
            <a:r>
              <a:rPr lang="en-IN" dirty="0"/>
              <a:t>Mentor:</a:t>
            </a:r>
          </a:p>
        </p:txBody>
      </p:sp>
      <p:sp>
        <p:nvSpPr>
          <p:cNvPr id="8" name="Slide Number Placeholder 7">
            <a:extLst>
              <a:ext uri="{FF2B5EF4-FFF2-40B4-BE49-F238E27FC236}">
                <a16:creationId xmlns:a16="http://schemas.microsoft.com/office/drawing/2014/main" id="{69963B26-145E-848D-B406-E58FB6CD4D8F}"/>
              </a:ext>
            </a:extLst>
          </p:cNvPr>
          <p:cNvSpPr>
            <a:spLocks noGrp="1"/>
          </p:cNvSpPr>
          <p:nvPr>
            <p:ph type="sldNum" sz="quarter" idx="12"/>
          </p:nvPr>
        </p:nvSpPr>
        <p:spPr/>
        <p:txBody>
          <a:bodyPr/>
          <a:lstStyle/>
          <a:p>
            <a:fld id="{DC72F1D8-2572-467E-833F-FFF5D30AE895}" type="slidenum">
              <a:rPr lang="en-IN" smtClean="0"/>
              <a:t>2</a:t>
            </a:fld>
            <a:endParaRPr lang="en-IN"/>
          </a:p>
        </p:txBody>
      </p:sp>
    </p:spTree>
    <p:extLst>
      <p:ext uri="{BB962C8B-B14F-4D97-AF65-F5344CB8AC3E}">
        <p14:creationId xmlns:p14="http://schemas.microsoft.com/office/powerpoint/2010/main" val="71749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B7F98-122D-CEB7-F926-A6C034ACF546}"/>
              </a:ext>
            </a:extLst>
          </p:cNvPr>
          <p:cNvSpPr>
            <a:spLocks noGrp="1"/>
          </p:cNvSpPr>
          <p:nvPr>
            <p:ph type="title"/>
          </p:nvPr>
        </p:nvSpPr>
        <p:spPr/>
        <p:txBody>
          <a:bodyPr/>
          <a:lstStyle/>
          <a:p>
            <a:r>
              <a:rPr lang="en-US" dirty="0"/>
              <a:t>Objective</a:t>
            </a:r>
            <a:endParaRPr lang="en-IN" dirty="0"/>
          </a:p>
        </p:txBody>
      </p:sp>
      <p:sp>
        <p:nvSpPr>
          <p:cNvPr id="4" name="Rectangle 1">
            <a:extLst>
              <a:ext uri="{FF2B5EF4-FFF2-40B4-BE49-F238E27FC236}">
                <a16:creationId xmlns:a16="http://schemas.microsoft.com/office/drawing/2014/main" id="{363E7D57-7B65-888E-FEFC-451BC6E01591}"/>
              </a:ext>
            </a:extLst>
          </p:cNvPr>
          <p:cNvSpPr>
            <a:spLocks noGrp="1" noChangeArrowheads="1"/>
          </p:cNvSpPr>
          <p:nvPr>
            <p:ph idx="1"/>
          </p:nvPr>
        </p:nvSpPr>
        <p:spPr bwMode="auto">
          <a:xfrm>
            <a:off x="1103312" y="2165501"/>
            <a:ext cx="102496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Project Goal:</a:t>
            </a:r>
            <a:r>
              <a:rPr kumimoji="0" lang="en-US" altLang="en-US" sz="1800" b="0" i="0" u="none" strike="noStrike" cap="none" normalizeH="0" baseline="0" dirty="0">
                <a:ln>
                  <a:noFill/>
                </a:ln>
                <a:solidFill>
                  <a:schemeClr val="tx1"/>
                </a:solidFill>
                <a:effectLst/>
                <a:latin typeface="Arial" panose="020B0604020202020204" pitchFamily="34" charset="0"/>
              </a:rPr>
              <a:t> Analyze and forecast hourly energy consumption for the </a:t>
            </a:r>
            <a:r>
              <a:rPr kumimoji="0" lang="en-US" altLang="en-US" sz="1800" b="1" i="0" u="none" strike="noStrike" cap="none" normalizeH="0" baseline="0" dirty="0">
                <a:ln>
                  <a:noFill/>
                </a:ln>
                <a:solidFill>
                  <a:schemeClr val="tx1"/>
                </a:solidFill>
                <a:effectLst/>
                <a:latin typeface="Arial" panose="020B0604020202020204" pitchFamily="34" charset="0"/>
              </a:rPr>
              <a:t>PJM Interconnection LLC (PJM)</a:t>
            </a:r>
            <a:r>
              <a:rPr kumimoji="0" lang="en-US" altLang="en-US" sz="1800" b="0" i="0" u="none" strike="noStrike" cap="none" normalizeH="0" baseline="0" dirty="0">
                <a:ln>
                  <a:noFill/>
                </a:ln>
                <a:solidFill>
                  <a:schemeClr val="tx1"/>
                </a:solidFill>
                <a:effectLst/>
                <a:latin typeface="Arial" panose="020B0604020202020204" pitchFamily="34" charset="0"/>
              </a:rPr>
              <a:t> region.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Source:</a:t>
            </a:r>
            <a:r>
              <a:rPr kumimoji="0" lang="en-US" altLang="en-US" sz="1800" b="0" i="0" u="none" strike="noStrike" cap="none" normalizeH="0" baseline="0" dirty="0">
                <a:ln>
                  <a:noFill/>
                </a:ln>
                <a:solidFill>
                  <a:schemeClr val="tx1"/>
                </a:solidFill>
                <a:effectLst/>
                <a:latin typeface="Arial" panose="020B0604020202020204" pitchFamily="34" charset="0"/>
              </a:rPr>
              <a:t> Hourly power consumption data (in MW) from PJM’s official website, covering multiple U.S. states and regions.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Tasks: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Split the last year into a test set and build predictive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trends by </a:t>
            </a:r>
            <a:r>
              <a:rPr kumimoji="0" lang="en-US" altLang="en-US" sz="1800" b="1" i="0" u="none" strike="noStrike" cap="none" normalizeH="0" baseline="0" dirty="0">
                <a:ln>
                  <a:noFill/>
                </a:ln>
                <a:solidFill>
                  <a:schemeClr val="tx1"/>
                </a:solidFill>
                <a:effectLst/>
                <a:latin typeface="Arial" panose="020B0604020202020204" pitchFamily="34" charset="0"/>
              </a:rPr>
              <a:t>hour of the day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holidays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seasonal variations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daily trends across </a:t>
            </a:r>
            <a:r>
              <a:rPr kumimoji="0" lang="en-US" altLang="en-US" sz="1800" b="1" i="0" u="none" strike="noStrike" cap="none" normalizeH="0" baseline="0" dirty="0">
                <a:ln>
                  <a:noFill/>
                </a:ln>
                <a:solidFill>
                  <a:schemeClr val="tx1"/>
                </a:solidFill>
                <a:effectLst/>
                <a:latin typeface="Arial" panose="020B0604020202020204" pitchFamily="34" charset="0"/>
              </a:rPr>
              <a:t>summer vs. winter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Forecast energy consumption for the </a:t>
            </a:r>
            <a:r>
              <a:rPr kumimoji="0" lang="en-US" altLang="en-US" sz="1800" b="1" i="0" u="none" strike="noStrike" cap="none" normalizeH="0" baseline="0" dirty="0">
                <a:ln>
                  <a:noFill/>
                </a:ln>
                <a:solidFill>
                  <a:schemeClr val="tx1"/>
                </a:solidFill>
                <a:effectLst/>
                <a:latin typeface="Arial" panose="020B0604020202020204" pitchFamily="34" charset="0"/>
              </a:rPr>
              <a:t>next 30 days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1A0F3BE9-4E0B-0B8E-717D-F0508BFEF996}"/>
              </a:ext>
            </a:extLst>
          </p:cNvPr>
          <p:cNvSpPr>
            <a:spLocks noGrp="1"/>
          </p:cNvSpPr>
          <p:nvPr>
            <p:ph type="sldNum" sz="quarter" idx="12"/>
          </p:nvPr>
        </p:nvSpPr>
        <p:spPr/>
        <p:txBody>
          <a:bodyPr/>
          <a:lstStyle/>
          <a:p>
            <a:fld id="{DC72F1D8-2572-467E-833F-FFF5D30AE895}" type="slidenum">
              <a:rPr lang="en-IN" smtClean="0"/>
              <a:t>3</a:t>
            </a:fld>
            <a:endParaRPr lang="en-IN"/>
          </a:p>
        </p:txBody>
      </p:sp>
    </p:spTree>
    <p:extLst>
      <p:ext uri="{BB962C8B-B14F-4D97-AF65-F5344CB8AC3E}">
        <p14:creationId xmlns:p14="http://schemas.microsoft.com/office/powerpoint/2010/main" val="297235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5E2C0-B9CE-ACB6-1169-BA2A09EDA9B1}"/>
              </a:ext>
            </a:extLst>
          </p:cNvPr>
          <p:cNvSpPr>
            <a:spLocks noGrp="1"/>
          </p:cNvSpPr>
          <p:nvPr>
            <p:ph type="title"/>
          </p:nvPr>
        </p:nvSpPr>
        <p:spPr/>
        <p:txBody>
          <a:bodyPr/>
          <a:lstStyle/>
          <a:p>
            <a:r>
              <a:rPr lang="en-US" dirty="0"/>
              <a:t>Dataset details</a:t>
            </a:r>
            <a:endParaRPr lang="en-IN" dirty="0"/>
          </a:p>
        </p:txBody>
      </p:sp>
      <p:sp>
        <p:nvSpPr>
          <p:cNvPr id="4" name="Rectangle 1">
            <a:extLst>
              <a:ext uri="{FF2B5EF4-FFF2-40B4-BE49-F238E27FC236}">
                <a16:creationId xmlns:a16="http://schemas.microsoft.com/office/drawing/2014/main" id="{61FE8487-A26B-C68B-0E40-3BC79901D5ED}"/>
              </a:ext>
            </a:extLst>
          </p:cNvPr>
          <p:cNvSpPr>
            <a:spLocks noGrp="1" noChangeArrowheads="1"/>
          </p:cNvSpPr>
          <p:nvPr>
            <p:ph idx="1"/>
          </p:nvPr>
        </p:nvSpPr>
        <p:spPr bwMode="auto">
          <a:xfrm>
            <a:off x="1103312" y="2442501"/>
            <a:ext cx="806182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Source:</a:t>
            </a:r>
            <a:r>
              <a:rPr kumimoji="0" lang="en-US" altLang="en-US" sz="1800" b="0" i="0" u="none" strike="noStrike" cap="none" normalizeH="0" baseline="0" dirty="0">
                <a:ln>
                  <a:noFill/>
                </a:ln>
                <a:solidFill>
                  <a:schemeClr val="tx1"/>
                </a:solidFill>
                <a:effectLst/>
                <a:latin typeface="Arial" panose="020B0604020202020204" pitchFamily="34" charset="0"/>
              </a:rPr>
              <a:t> PJM Interconnection LLC hourly energy consumption data (in MW).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Time Period Covered: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April 1, 2002 – August 3, 2018</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Number of Records: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143,206 hourly entries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Features: datetime  - timestamp of energy consumption</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Arial" panose="020B0604020202020204" pitchFamily="34" charset="0"/>
              </a:rPr>
              <a:t>                                     PJWM_MW – Energy consumed (in megawatts)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Quality:</a:t>
            </a:r>
            <a:r>
              <a:rPr lang="en-US" altLang="en-US" sz="1800"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No missing values</a:t>
            </a:r>
            <a:r>
              <a:rPr kumimoji="0" lang="en-US" altLang="en-US" sz="1800" b="0" i="0" u="none" strike="noStrike" cap="none" normalizeH="0" baseline="0" dirty="0">
                <a:ln>
                  <a:noFill/>
                </a:ln>
                <a:solidFill>
                  <a:schemeClr val="tx1"/>
                </a:solidFill>
                <a:effectLst/>
                <a:latin typeface="Arial" panose="020B0604020202020204" pitchFamily="34" charset="0"/>
              </a:rPr>
              <a:t> in the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Granularity:</a:t>
            </a:r>
            <a:r>
              <a:rPr kumimoji="0" lang="en-US" altLang="en-US" sz="1800" b="0" i="0" u="none" strike="noStrike" cap="none" normalizeH="0" baseline="0" dirty="0">
                <a:ln>
                  <a:noFill/>
                </a:ln>
                <a:solidFill>
                  <a:schemeClr val="tx1"/>
                </a:solidFill>
                <a:effectLst/>
                <a:latin typeface="Arial" panose="020B0604020202020204" pitchFamily="34" charset="0"/>
              </a:rPr>
              <a:t> Hourly observations.</a:t>
            </a:r>
          </a:p>
        </p:txBody>
      </p:sp>
      <p:sp>
        <p:nvSpPr>
          <p:cNvPr id="3" name="Slide Number Placeholder 2">
            <a:extLst>
              <a:ext uri="{FF2B5EF4-FFF2-40B4-BE49-F238E27FC236}">
                <a16:creationId xmlns:a16="http://schemas.microsoft.com/office/drawing/2014/main" id="{CD18EFE5-1803-A6A5-1DE3-78E4B8E1012E}"/>
              </a:ext>
            </a:extLst>
          </p:cNvPr>
          <p:cNvSpPr>
            <a:spLocks noGrp="1"/>
          </p:cNvSpPr>
          <p:nvPr>
            <p:ph type="sldNum" sz="quarter" idx="12"/>
          </p:nvPr>
        </p:nvSpPr>
        <p:spPr/>
        <p:txBody>
          <a:bodyPr/>
          <a:lstStyle/>
          <a:p>
            <a:fld id="{DC72F1D8-2572-467E-833F-FFF5D30AE895}" type="slidenum">
              <a:rPr lang="en-IN" smtClean="0"/>
              <a:t>4</a:t>
            </a:fld>
            <a:endParaRPr lang="en-IN"/>
          </a:p>
        </p:txBody>
      </p:sp>
    </p:spTree>
    <p:extLst>
      <p:ext uri="{BB962C8B-B14F-4D97-AF65-F5344CB8AC3E}">
        <p14:creationId xmlns:p14="http://schemas.microsoft.com/office/powerpoint/2010/main" val="178321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289C0B-6C74-C89F-2056-615919E9FD5D}"/>
              </a:ext>
            </a:extLst>
          </p:cNvPr>
          <p:cNvSpPr>
            <a:spLocks noGrp="1"/>
          </p:cNvSpPr>
          <p:nvPr>
            <p:ph type="title"/>
          </p:nvPr>
        </p:nvSpPr>
        <p:spPr/>
        <p:txBody>
          <a:bodyPr/>
          <a:lstStyle/>
          <a:p>
            <a:r>
              <a:rPr lang="en-US" dirty="0"/>
              <a:t>Exploratory Data Analysis</a:t>
            </a:r>
          </a:p>
        </p:txBody>
      </p:sp>
      <p:sp>
        <p:nvSpPr>
          <p:cNvPr id="5" name="Content Placeholder 4">
            <a:extLst>
              <a:ext uri="{FF2B5EF4-FFF2-40B4-BE49-F238E27FC236}">
                <a16:creationId xmlns:a16="http://schemas.microsoft.com/office/drawing/2014/main" id="{95BEFEF9-99D3-B624-3635-CD595D0DCEDE}"/>
              </a:ext>
            </a:extLst>
          </p:cNvPr>
          <p:cNvSpPr>
            <a:spLocks noGrp="1"/>
          </p:cNvSpPr>
          <p:nvPr>
            <p:ph idx="1"/>
          </p:nvPr>
        </p:nvSpPr>
        <p:spPr>
          <a:xfrm>
            <a:off x="645132" y="1602770"/>
            <a:ext cx="7902968" cy="4645630"/>
          </a:xfrm>
        </p:spPr>
        <p:txBody>
          <a:bodyPr/>
          <a:lstStyle/>
          <a:p>
            <a:r>
              <a:rPr lang="en-US" dirty="0"/>
              <a:t>In statistical summary Generated a comprehensive statistical summary table including descriptive stats, skewness, kurtosis, and missing value counts for all features</a:t>
            </a:r>
          </a:p>
          <a:p>
            <a:pPr marL="0" indent="0">
              <a:buNone/>
            </a:pPr>
            <a:endParaRPr lang="en-US" dirty="0"/>
          </a:p>
        </p:txBody>
      </p:sp>
      <p:pic>
        <p:nvPicPr>
          <p:cNvPr id="9" name="Picture 8">
            <a:extLst>
              <a:ext uri="{FF2B5EF4-FFF2-40B4-BE49-F238E27FC236}">
                <a16:creationId xmlns:a16="http://schemas.microsoft.com/office/drawing/2014/main" id="{7D0969E6-FE3D-446F-3323-FFE9C6AD2B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139" y="2815118"/>
            <a:ext cx="6102850" cy="3883633"/>
          </a:xfrm>
          <a:prstGeom prst="rect">
            <a:avLst/>
          </a:prstGeom>
        </p:spPr>
      </p:pic>
      <p:sp>
        <p:nvSpPr>
          <p:cNvPr id="2" name="Slide Number Placeholder 1">
            <a:extLst>
              <a:ext uri="{FF2B5EF4-FFF2-40B4-BE49-F238E27FC236}">
                <a16:creationId xmlns:a16="http://schemas.microsoft.com/office/drawing/2014/main" id="{6BC9C56C-2166-EB32-A0C1-1DB75DD52CA7}"/>
              </a:ext>
            </a:extLst>
          </p:cNvPr>
          <p:cNvSpPr>
            <a:spLocks noGrp="1"/>
          </p:cNvSpPr>
          <p:nvPr>
            <p:ph type="sldNum" sz="quarter" idx="12"/>
          </p:nvPr>
        </p:nvSpPr>
        <p:spPr/>
        <p:txBody>
          <a:bodyPr/>
          <a:lstStyle/>
          <a:p>
            <a:fld id="{DC72F1D8-2572-467E-833F-FFF5D30AE895}" type="slidenum">
              <a:rPr lang="en-IN" smtClean="0"/>
              <a:t>5</a:t>
            </a:fld>
            <a:endParaRPr lang="en-IN"/>
          </a:p>
        </p:txBody>
      </p:sp>
    </p:spTree>
    <p:extLst>
      <p:ext uri="{BB962C8B-B14F-4D97-AF65-F5344CB8AC3E}">
        <p14:creationId xmlns:p14="http://schemas.microsoft.com/office/powerpoint/2010/main" val="1579550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78D6-9F6D-7C47-EC15-69DCABFE912A}"/>
              </a:ext>
            </a:extLst>
          </p:cNvPr>
          <p:cNvSpPr>
            <a:spLocks noGrp="1"/>
          </p:cNvSpPr>
          <p:nvPr>
            <p:ph type="title"/>
          </p:nvPr>
        </p:nvSpPr>
        <p:spPr/>
        <p:txBody>
          <a:bodyPr/>
          <a:lstStyle/>
          <a:p>
            <a:r>
              <a:rPr lang="en-US" sz="2800" u="sng" dirty="0"/>
              <a:t>Data Visualization</a:t>
            </a:r>
          </a:p>
        </p:txBody>
      </p:sp>
      <p:sp>
        <p:nvSpPr>
          <p:cNvPr id="3" name="Content Placeholder 2">
            <a:extLst>
              <a:ext uri="{FF2B5EF4-FFF2-40B4-BE49-F238E27FC236}">
                <a16:creationId xmlns:a16="http://schemas.microsoft.com/office/drawing/2014/main" id="{CE1ADD6A-E165-4FB0-F049-1FA9144B8490}"/>
              </a:ext>
            </a:extLst>
          </p:cNvPr>
          <p:cNvSpPr>
            <a:spLocks noGrp="1"/>
          </p:cNvSpPr>
          <p:nvPr>
            <p:ph idx="1"/>
          </p:nvPr>
        </p:nvSpPr>
        <p:spPr>
          <a:xfrm>
            <a:off x="645131" y="1428108"/>
            <a:ext cx="10533151" cy="4820291"/>
          </a:xfrm>
        </p:spPr>
        <p:txBody>
          <a:bodyPr>
            <a:normAutofit lnSpcReduction="10000"/>
          </a:bodyPr>
          <a:lstStyle/>
          <a:p>
            <a:r>
              <a:rPr lang="en-US" dirty="0"/>
              <a:t>Analyzed and visualized average hourly energy consumption to identify daily usage patterns.</a:t>
            </a:r>
          </a:p>
          <a:p>
            <a:r>
              <a:rPr lang="en-US" b="1" dirty="0"/>
              <a:t>Nighttime Low</a:t>
            </a:r>
            <a:r>
              <a:rPr lang="en-US" dirty="0"/>
              <a:t> – Energy usage is lowest around </a:t>
            </a:r>
            <a:r>
              <a:rPr lang="en-US" b="1" dirty="0"/>
              <a:t>4–5 AM</a:t>
            </a:r>
            <a:r>
              <a:rPr lang="en-US" dirty="0"/>
              <a:t> (~4,650 MW), likely due to minimal activity during early morning hours.</a:t>
            </a:r>
          </a:p>
          <a:p>
            <a:r>
              <a:rPr lang="en-US" b="1" dirty="0"/>
              <a:t>Morning Surge</a:t>
            </a:r>
            <a:r>
              <a:rPr lang="en-US" dirty="0"/>
              <a:t> – Sharp increase starts after </a:t>
            </a:r>
            <a:r>
              <a:rPr lang="en-US" b="1" dirty="0"/>
              <a:t>6 AM</a:t>
            </a:r>
            <a:r>
              <a:rPr lang="en-US" dirty="0"/>
              <a:t>, peaking above </a:t>
            </a:r>
            <a:r>
              <a:rPr lang="en-US" b="1" dirty="0"/>
              <a:t>5,800 MW</a:t>
            </a:r>
            <a:r>
              <a:rPr lang="en-US" dirty="0"/>
              <a:t> by late morning as daily routines begin.</a:t>
            </a:r>
          </a:p>
          <a:p>
            <a:r>
              <a:rPr lang="en-US" b="1" dirty="0"/>
              <a:t>Daytime Plateau</a:t>
            </a:r>
            <a:r>
              <a:rPr lang="en-US" dirty="0"/>
              <a:t> – Consumption remains steady at </a:t>
            </a:r>
            <a:r>
              <a:rPr lang="en-US" b="1" dirty="0"/>
              <a:t>~5,900–6,000 MW</a:t>
            </a:r>
            <a:r>
              <a:rPr lang="en-US" dirty="0"/>
              <a:t> from late morning to early evening.</a:t>
            </a:r>
          </a:p>
          <a:p>
            <a:r>
              <a:rPr lang="en-US" b="1" dirty="0"/>
              <a:t>Evening Peak</a:t>
            </a:r>
            <a:r>
              <a:rPr lang="en-US" dirty="0"/>
              <a:t> – Maximum demand occurs around </a:t>
            </a:r>
          </a:p>
          <a:p>
            <a:pPr marL="0" indent="0">
              <a:buNone/>
            </a:pPr>
            <a:r>
              <a:rPr lang="en-US" b="1" dirty="0"/>
              <a:t>8–9 PM</a:t>
            </a:r>
            <a:r>
              <a:rPr lang="en-US" dirty="0"/>
              <a:t> (~6,200 MW), possibly from residential usage</a:t>
            </a:r>
          </a:p>
          <a:p>
            <a:pPr marL="0" indent="0">
              <a:buNone/>
            </a:pPr>
            <a:r>
              <a:rPr lang="en-US" dirty="0"/>
              <a:t>and commercial lighting.</a:t>
            </a:r>
          </a:p>
          <a:p>
            <a:r>
              <a:rPr lang="en-US" b="1" dirty="0"/>
              <a:t>Late-night Decline</a:t>
            </a:r>
            <a:r>
              <a:rPr lang="en-US" dirty="0"/>
              <a:t> – After </a:t>
            </a:r>
            <a:r>
              <a:rPr lang="en-US" b="1" dirty="0"/>
              <a:t>9 PM</a:t>
            </a:r>
            <a:r>
              <a:rPr lang="en-US" dirty="0"/>
              <a:t>, consumption </a:t>
            </a:r>
          </a:p>
          <a:p>
            <a:pPr marL="0" indent="0">
              <a:buNone/>
            </a:pPr>
            <a:r>
              <a:rPr lang="en-US" dirty="0"/>
              <a:t>gradually drops as activity decreases.</a:t>
            </a:r>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D3FD3A65-5638-19E8-82EF-33331ADC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6378" y="3917347"/>
            <a:ext cx="4529659" cy="2644924"/>
          </a:xfrm>
          <a:prstGeom prst="rect">
            <a:avLst/>
          </a:prstGeom>
        </p:spPr>
      </p:pic>
      <p:sp>
        <p:nvSpPr>
          <p:cNvPr id="4" name="Slide Number Placeholder 3">
            <a:extLst>
              <a:ext uri="{FF2B5EF4-FFF2-40B4-BE49-F238E27FC236}">
                <a16:creationId xmlns:a16="http://schemas.microsoft.com/office/drawing/2014/main" id="{28317DF5-E798-FDB7-07B5-470449699AB8}"/>
              </a:ext>
            </a:extLst>
          </p:cNvPr>
          <p:cNvSpPr>
            <a:spLocks noGrp="1"/>
          </p:cNvSpPr>
          <p:nvPr>
            <p:ph type="sldNum" sz="quarter" idx="12"/>
          </p:nvPr>
        </p:nvSpPr>
        <p:spPr/>
        <p:txBody>
          <a:bodyPr/>
          <a:lstStyle/>
          <a:p>
            <a:fld id="{DC72F1D8-2572-467E-833F-FFF5D30AE895}" type="slidenum">
              <a:rPr lang="en-IN" smtClean="0"/>
              <a:t>6</a:t>
            </a:fld>
            <a:endParaRPr lang="en-IN"/>
          </a:p>
        </p:txBody>
      </p:sp>
      <p:sp>
        <p:nvSpPr>
          <p:cNvPr id="6" name="TextBox 5">
            <a:extLst>
              <a:ext uri="{FF2B5EF4-FFF2-40B4-BE49-F238E27FC236}">
                <a16:creationId xmlns:a16="http://schemas.microsoft.com/office/drawing/2014/main" id="{55198FB0-C24A-6FE7-D6B2-D95C48962538}"/>
              </a:ext>
            </a:extLst>
          </p:cNvPr>
          <p:cNvSpPr txBox="1"/>
          <p:nvPr/>
        </p:nvSpPr>
        <p:spPr>
          <a:xfrm>
            <a:off x="1661652" y="2910348"/>
            <a:ext cx="3746090" cy="973394"/>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264943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CF4F5F-C305-3F91-D8D9-810EDAEF0B9B}"/>
              </a:ext>
            </a:extLst>
          </p:cNvPr>
          <p:cNvSpPr>
            <a:spLocks noGrp="1"/>
          </p:cNvSpPr>
          <p:nvPr>
            <p:ph idx="1"/>
          </p:nvPr>
        </p:nvSpPr>
        <p:spPr>
          <a:xfrm>
            <a:off x="431516" y="924674"/>
            <a:ext cx="10921428" cy="5323725"/>
          </a:xfrm>
        </p:spPr>
        <p:txBody>
          <a:bodyPr/>
          <a:lstStyle/>
          <a:p>
            <a:r>
              <a:rPr lang="en-US" dirty="0"/>
              <a:t>Plotted the distribution of hourly energy consumption to understand data spread and detect skewness.</a:t>
            </a:r>
          </a:p>
        </p:txBody>
      </p:sp>
      <p:pic>
        <p:nvPicPr>
          <p:cNvPr id="5" name="Picture 4">
            <a:extLst>
              <a:ext uri="{FF2B5EF4-FFF2-40B4-BE49-F238E27FC236}">
                <a16:creationId xmlns:a16="http://schemas.microsoft.com/office/drawing/2014/main" id="{5660DA46-ECCD-742D-48B2-633CF5A48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9313" y="1436721"/>
            <a:ext cx="5088236" cy="2624001"/>
          </a:xfrm>
          <a:prstGeom prst="rect">
            <a:avLst/>
          </a:prstGeom>
        </p:spPr>
      </p:pic>
      <p:sp>
        <p:nvSpPr>
          <p:cNvPr id="2" name="Slide Number Placeholder 1">
            <a:extLst>
              <a:ext uri="{FF2B5EF4-FFF2-40B4-BE49-F238E27FC236}">
                <a16:creationId xmlns:a16="http://schemas.microsoft.com/office/drawing/2014/main" id="{9D247A7E-55D9-AE3A-5F09-67F37BA5BD2C}"/>
              </a:ext>
            </a:extLst>
          </p:cNvPr>
          <p:cNvSpPr>
            <a:spLocks noGrp="1"/>
          </p:cNvSpPr>
          <p:nvPr>
            <p:ph type="sldNum" sz="quarter" idx="12"/>
          </p:nvPr>
        </p:nvSpPr>
        <p:spPr/>
        <p:txBody>
          <a:bodyPr/>
          <a:lstStyle/>
          <a:p>
            <a:fld id="{DC72F1D8-2572-467E-833F-FFF5D30AE895}" type="slidenum">
              <a:rPr lang="en-IN" smtClean="0"/>
              <a:t>7</a:t>
            </a:fld>
            <a:endParaRPr lang="en-IN"/>
          </a:p>
        </p:txBody>
      </p:sp>
      <p:sp>
        <p:nvSpPr>
          <p:cNvPr id="4" name="TextBox 3">
            <a:extLst>
              <a:ext uri="{FF2B5EF4-FFF2-40B4-BE49-F238E27FC236}">
                <a16:creationId xmlns:a16="http://schemas.microsoft.com/office/drawing/2014/main" id="{D2172376-9255-DA05-141A-84A496CE4F16}"/>
              </a:ext>
            </a:extLst>
          </p:cNvPr>
          <p:cNvSpPr txBox="1"/>
          <p:nvPr/>
        </p:nvSpPr>
        <p:spPr>
          <a:xfrm>
            <a:off x="1042219" y="2054942"/>
            <a:ext cx="4424516" cy="4801314"/>
          </a:xfrm>
          <a:prstGeom prst="rect">
            <a:avLst/>
          </a:prstGeom>
          <a:noFill/>
        </p:spPr>
        <p:txBody>
          <a:bodyPr wrap="square" rtlCol="0">
            <a:spAutoFit/>
          </a:bodyPr>
          <a:lstStyle/>
          <a:p>
            <a:r>
              <a:rPr lang="en-US" b="1" dirty="0"/>
              <a:t>Peak Consumption</a:t>
            </a:r>
            <a:r>
              <a:rPr lang="en-US" dirty="0"/>
              <a:t> – Most hourly energy consumption values cluster around </a:t>
            </a:r>
            <a:r>
              <a:rPr lang="en-US" b="1" dirty="0"/>
              <a:t>5,500 MW</a:t>
            </a:r>
            <a:r>
              <a:rPr lang="en-US" dirty="0"/>
              <a:t>.</a:t>
            </a:r>
          </a:p>
          <a:p>
            <a:endParaRPr lang="en-US" dirty="0"/>
          </a:p>
          <a:p>
            <a:r>
              <a:rPr lang="en-US" b="1" dirty="0"/>
              <a:t>Typical Range</a:t>
            </a:r>
            <a:r>
              <a:rPr lang="en-US" dirty="0"/>
              <a:t> – Majority of values lie between </a:t>
            </a:r>
            <a:r>
              <a:rPr lang="en-US" b="1" dirty="0"/>
              <a:t>4,000 MW and 7,000 MW</a:t>
            </a:r>
            <a:r>
              <a:rPr lang="en-US" dirty="0"/>
              <a:t>.</a:t>
            </a:r>
          </a:p>
          <a:p>
            <a:endParaRPr lang="en-US" dirty="0"/>
          </a:p>
          <a:p>
            <a:r>
              <a:rPr lang="en-US" b="1" dirty="0"/>
              <a:t>Slight Right Skew</a:t>
            </a:r>
            <a:r>
              <a:rPr lang="en-US" dirty="0"/>
              <a:t> – Occasional high-demand hours push values toward the higher end.</a:t>
            </a:r>
          </a:p>
          <a:p>
            <a:endParaRPr lang="en-US" dirty="0"/>
          </a:p>
          <a:p>
            <a:r>
              <a:rPr lang="en-US" b="1" dirty="0"/>
              <a:t>Few Extremes</a:t>
            </a:r>
            <a:r>
              <a:rPr lang="en-US" dirty="0"/>
              <a:t> – No significant isolated outliers are visible in the distribution.</a:t>
            </a:r>
          </a:p>
          <a:p>
            <a:endParaRPr lang="en-US" dirty="0"/>
          </a:p>
          <a:p>
            <a:r>
              <a:rPr lang="en-US" b="1" dirty="0"/>
              <a:t>Forecasting Impact</a:t>
            </a:r>
            <a:r>
              <a:rPr lang="en-US" dirty="0"/>
              <a:t> – Slight skewness may require transformations for some time series models.</a:t>
            </a:r>
            <a:endParaRPr lang="en-IN" dirty="0"/>
          </a:p>
        </p:txBody>
      </p:sp>
    </p:spTree>
    <p:extLst>
      <p:ext uri="{BB962C8B-B14F-4D97-AF65-F5344CB8AC3E}">
        <p14:creationId xmlns:p14="http://schemas.microsoft.com/office/powerpoint/2010/main" val="1296722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D2A068-6284-F128-8FC9-9DBFBB026499}"/>
              </a:ext>
            </a:extLst>
          </p:cNvPr>
          <p:cNvSpPr>
            <a:spLocks noGrp="1"/>
          </p:cNvSpPr>
          <p:nvPr>
            <p:ph idx="1"/>
          </p:nvPr>
        </p:nvSpPr>
        <p:spPr>
          <a:xfrm>
            <a:off x="842963" y="503238"/>
            <a:ext cx="9431337" cy="5745162"/>
          </a:xfrm>
        </p:spPr>
        <p:txBody>
          <a:bodyPr>
            <a:normAutofit fontScale="92500" lnSpcReduction="10000"/>
          </a:bodyPr>
          <a:lstStyle/>
          <a:p>
            <a:r>
              <a:rPr lang="en-US" dirty="0"/>
              <a:t>Visualized the last two years of hourly power consumption to identify trends and seasonality patterns</a:t>
            </a:r>
          </a:p>
          <a:p>
            <a:r>
              <a:rPr lang="en-US" b="1" dirty="0"/>
              <a:t>Clear Seasonality</a:t>
            </a:r>
            <a:r>
              <a:rPr lang="en-US" dirty="0"/>
              <a:t> – Power consumption </a:t>
            </a:r>
          </a:p>
          <a:p>
            <a:pPr marL="0" indent="0">
              <a:buNone/>
            </a:pPr>
            <a:r>
              <a:rPr lang="en-US" dirty="0"/>
              <a:t>follows a recurring </a:t>
            </a:r>
            <a:r>
              <a:rPr lang="en-US" b="1" dirty="0"/>
              <a:t>annual cycle</a:t>
            </a:r>
            <a:r>
              <a:rPr lang="en-US" dirty="0"/>
              <a:t>, with peaks in </a:t>
            </a:r>
          </a:p>
          <a:p>
            <a:pPr marL="0" indent="0">
              <a:buNone/>
            </a:pPr>
            <a:r>
              <a:rPr lang="en-US" dirty="0"/>
              <a:t>winter and summer months and dips in spring </a:t>
            </a:r>
          </a:p>
          <a:p>
            <a:pPr marL="0" indent="0">
              <a:buNone/>
            </a:pPr>
            <a:r>
              <a:rPr lang="en-US" dirty="0"/>
              <a:t>and fall.</a:t>
            </a:r>
          </a:p>
          <a:p>
            <a:r>
              <a:rPr lang="en-US" b="1" dirty="0"/>
              <a:t>Winter Peaks</a:t>
            </a:r>
            <a:r>
              <a:rPr lang="en-US" dirty="0"/>
              <a:t> – Highest demand (~9,200 MW) </a:t>
            </a:r>
          </a:p>
          <a:p>
            <a:pPr marL="0" indent="0">
              <a:buNone/>
            </a:pPr>
            <a:r>
              <a:rPr lang="en-US" dirty="0"/>
              <a:t>occurs during </a:t>
            </a:r>
            <a:r>
              <a:rPr lang="en-US" b="1" dirty="0"/>
              <a:t>late December–January</a:t>
            </a:r>
            <a:r>
              <a:rPr lang="en-US" dirty="0"/>
              <a:t>, likely due</a:t>
            </a:r>
          </a:p>
          <a:p>
            <a:pPr marL="0" indent="0">
              <a:buNone/>
            </a:pPr>
            <a:r>
              <a:rPr lang="en-US" dirty="0"/>
              <a:t>to heating needs.</a:t>
            </a:r>
          </a:p>
          <a:p>
            <a:r>
              <a:rPr lang="en-US" b="1" dirty="0"/>
              <a:t>Summer Peaks</a:t>
            </a:r>
            <a:r>
              <a:rPr lang="en-US" dirty="0"/>
              <a:t> – Secondary high demand (~8,500 MW) appears in </a:t>
            </a:r>
            <a:r>
              <a:rPr lang="en-US" b="1" dirty="0"/>
              <a:t>July–August</a:t>
            </a:r>
            <a:r>
              <a:rPr lang="en-US" dirty="0"/>
              <a:t>, likely from cooling systems.</a:t>
            </a:r>
          </a:p>
          <a:p>
            <a:r>
              <a:rPr lang="en-US" b="1" dirty="0"/>
              <a:t>Off-Peak Periods</a:t>
            </a:r>
            <a:r>
              <a:rPr lang="en-US" dirty="0"/>
              <a:t> – Lowest consumption (~3,800–4,500 MW) is seen in </a:t>
            </a:r>
            <a:r>
              <a:rPr lang="en-US" b="1" dirty="0"/>
              <a:t>spring and early autumn</a:t>
            </a:r>
            <a:r>
              <a:rPr lang="en-US" dirty="0"/>
              <a:t>, reflecting mild weather and reduced HVAC use.</a:t>
            </a:r>
          </a:p>
          <a:p>
            <a:r>
              <a:rPr lang="en-US" b="1" dirty="0"/>
              <a:t>High Short-Term Fluctuations</a:t>
            </a:r>
            <a:r>
              <a:rPr lang="en-US" dirty="0"/>
              <a:t> – Significant hourly variability indicates </a:t>
            </a:r>
            <a:r>
              <a:rPr lang="en-US" b="1" dirty="0"/>
              <a:t>rapid demand shifts</a:t>
            </a:r>
            <a:r>
              <a:rPr lang="en-US" dirty="0"/>
              <a:t>, possibly influenced by work hours, weekends, and special events.</a:t>
            </a:r>
          </a:p>
        </p:txBody>
      </p:sp>
      <p:pic>
        <p:nvPicPr>
          <p:cNvPr id="6" name="Picture 5">
            <a:extLst>
              <a:ext uri="{FF2B5EF4-FFF2-40B4-BE49-F238E27FC236}">
                <a16:creationId xmlns:a16="http://schemas.microsoft.com/office/drawing/2014/main" id="{4AC8AA03-C99B-DA8D-58C2-8C227F0FA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8309" y="1228107"/>
            <a:ext cx="4914568" cy="2574519"/>
          </a:xfrm>
          <a:prstGeom prst="rect">
            <a:avLst/>
          </a:prstGeom>
        </p:spPr>
      </p:pic>
      <p:sp>
        <p:nvSpPr>
          <p:cNvPr id="2" name="Slide Number Placeholder 1">
            <a:extLst>
              <a:ext uri="{FF2B5EF4-FFF2-40B4-BE49-F238E27FC236}">
                <a16:creationId xmlns:a16="http://schemas.microsoft.com/office/drawing/2014/main" id="{B82592D7-5303-1957-11F3-16E7D0BB26D8}"/>
              </a:ext>
            </a:extLst>
          </p:cNvPr>
          <p:cNvSpPr>
            <a:spLocks noGrp="1"/>
          </p:cNvSpPr>
          <p:nvPr>
            <p:ph type="sldNum" sz="quarter" idx="12"/>
          </p:nvPr>
        </p:nvSpPr>
        <p:spPr/>
        <p:txBody>
          <a:bodyPr/>
          <a:lstStyle/>
          <a:p>
            <a:fld id="{DC72F1D8-2572-467E-833F-FFF5D30AE895}" type="slidenum">
              <a:rPr lang="en-IN" smtClean="0"/>
              <a:t>8</a:t>
            </a:fld>
            <a:endParaRPr lang="en-IN"/>
          </a:p>
        </p:txBody>
      </p:sp>
    </p:spTree>
    <p:extLst>
      <p:ext uri="{BB962C8B-B14F-4D97-AF65-F5344CB8AC3E}">
        <p14:creationId xmlns:p14="http://schemas.microsoft.com/office/powerpoint/2010/main" val="2149132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C6C5-30C0-C1B1-4B83-E8B511D9C752}"/>
              </a:ext>
            </a:extLst>
          </p:cNvPr>
          <p:cNvSpPr>
            <a:spLocks noGrp="1"/>
          </p:cNvSpPr>
          <p:nvPr>
            <p:ph type="title"/>
          </p:nvPr>
        </p:nvSpPr>
        <p:spPr>
          <a:xfrm>
            <a:off x="646111" y="452718"/>
            <a:ext cx="9404723" cy="595246"/>
          </a:xfrm>
        </p:spPr>
        <p:txBody>
          <a:bodyPr/>
          <a:lstStyle/>
          <a:p>
            <a:r>
              <a:rPr lang="en-US" sz="2000" dirty="0"/>
              <a:t>Compared average power consumption across day/night hours, weekdays, and months to reveal daily, weekly, and seasonal usage patterns</a:t>
            </a:r>
          </a:p>
        </p:txBody>
      </p:sp>
      <p:pic>
        <p:nvPicPr>
          <p:cNvPr id="5" name="Content Placeholder 4">
            <a:extLst>
              <a:ext uri="{FF2B5EF4-FFF2-40B4-BE49-F238E27FC236}">
                <a16:creationId xmlns:a16="http://schemas.microsoft.com/office/drawing/2014/main" id="{BC77312B-FFA6-C7AA-080D-A20EB029B4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2756" y="1571946"/>
            <a:ext cx="9626884" cy="4833336"/>
          </a:xfrm>
        </p:spPr>
      </p:pic>
      <p:sp>
        <p:nvSpPr>
          <p:cNvPr id="3" name="Slide Number Placeholder 2">
            <a:extLst>
              <a:ext uri="{FF2B5EF4-FFF2-40B4-BE49-F238E27FC236}">
                <a16:creationId xmlns:a16="http://schemas.microsoft.com/office/drawing/2014/main" id="{E2D9824E-FDCB-9C7F-D12B-477CFC62323B}"/>
              </a:ext>
            </a:extLst>
          </p:cNvPr>
          <p:cNvSpPr>
            <a:spLocks noGrp="1"/>
          </p:cNvSpPr>
          <p:nvPr>
            <p:ph type="sldNum" sz="quarter" idx="12"/>
          </p:nvPr>
        </p:nvSpPr>
        <p:spPr/>
        <p:txBody>
          <a:bodyPr/>
          <a:lstStyle/>
          <a:p>
            <a:fld id="{DC72F1D8-2572-467E-833F-FFF5D30AE895}" type="slidenum">
              <a:rPr lang="en-IN" smtClean="0"/>
              <a:t>9</a:t>
            </a:fld>
            <a:endParaRPr lang="en-IN"/>
          </a:p>
        </p:txBody>
      </p:sp>
    </p:spTree>
    <p:extLst>
      <p:ext uri="{BB962C8B-B14F-4D97-AF65-F5344CB8AC3E}">
        <p14:creationId xmlns:p14="http://schemas.microsoft.com/office/powerpoint/2010/main" val="330398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2638E-52EE-A9EF-006C-F4CBD99B4356}"/>
              </a:ext>
            </a:extLst>
          </p:cNvPr>
          <p:cNvSpPr>
            <a:spLocks noGrp="1"/>
          </p:cNvSpPr>
          <p:nvPr>
            <p:ph type="title"/>
          </p:nvPr>
        </p:nvSpPr>
        <p:spPr/>
        <p:txBody>
          <a:bodyPr/>
          <a:lstStyle/>
          <a:p>
            <a:r>
              <a:rPr lang="en-IN" dirty="0"/>
              <a:t>Insights</a:t>
            </a:r>
          </a:p>
        </p:txBody>
      </p:sp>
      <p:sp>
        <p:nvSpPr>
          <p:cNvPr id="3" name="Content Placeholder 2">
            <a:extLst>
              <a:ext uri="{FF2B5EF4-FFF2-40B4-BE49-F238E27FC236}">
                <a16:creationId xmlns:a16="http://schemas.microsoft.com/office/drawing/2014/main" id="{099F3B09-62E6-CE6B-1BCE-194AA2409ABB}"/>
              </a:ext>
            </a:extLst>
          </p:cNvPr>
          <p:cNvSpPr>
            <a:spLocks noGrp="1"/>
          </p:cNvSpPr>
          <p:nvPr>
            <p:ph idx="1"/>
          </p:nvPr>
        </p:nvSpPr>
        <p:spPr>
          <a:xfrm>
            <a:off x="1103312" y="1376516"/>
            <a:ext cx="8946541" cy="4871883"/>
          </a:xfrm>
        </p:spPr>
        <p:txBody>
          <a:bodyPr>
            <a:normAutofit fontScale="92500" lnSpcReduction="10000"/>
          </a:bodyPr>
          <a:lstStyle/>
          <a:p>
            <a:r>
              <a:rPr lang="en-US" dirty="0"/>
              <a:t>Daytime Demand Rises Gradually – Consumption increases steadily from morning (6 AM) to a peak around 6 PM (~6,200 MW), suggesting work-hour related usage.</a:t>
            </a:r>
          </a:p>
          <a:p>
            <a:r>
              <a:rPr lang="en-US" dirty="0"/>
              <a:t>Nighttime Peaks in Evenings – After 7 PM, consumption spikes sharply (~6,200 MW), likely due to residential lighting, cooking, and entertainment, before dipping past midnight.</a:t>
            </a:r>
          </a:p>
          <a:p>
            <a:r>
              <a:rPr lang="en-US" dirty="0"/>
              <a:t>Weekday vs Weekend Gap – Early weekdays (Mon–Thu) have higher usage (~5,800–5,900 MW) than weekends (~5,100–5,300 MW), reflecting reduced industrial and office activity.</a:t>
            </a:r>
          </a:p>
          <a:p>
            <a:r>
              <a:rPr lang="en-US" dirty="0"/>
              <a:t>Seasonal Variations – Consumption peaks in January and December (&gt;6,200 MW), dips in April–May (~5,000 MW), and rises again in July–August (~5,900 MW), indicating winter heating and summer cooling demand.</a:t>
            </a:r>
          </a:p>
          <a:p>
            <a:r>
              <a:rPr lang="en-US" dirty="0"/>
              <a:t>Lowest Seasonal Demand – The sharpest trough occurs in October (~5,000 MW), aligning with mild weather and minimal HVAC load.</a:t>
            </a:r>
            <a:endParaRPr lang="en-IN" dirty="0"/>
          </a:p>
        </p:txBody>
      </p:sp>
      <p:sp>
        <p:nvSpPr>
          <p:cNvPr id="4" name="Slide Number Placeholder 3">
            <a:extLst>
              <a:ext uri="{FF2B5EF4-FFF2-40B4-BE49-F238E27FC236}">
                <a16:creationId xmlns:a16="http://schemas.microsoft.com/office/drawing/2014/main" id="{11787667-1345-9BD5-9962-D23AA5F1A21A}"/>
              </a:ext>
            </a:extLst>
          </p:cNvPr>
          <p:cNvSpPr>
            <a:spLocks noGrp="1"/>
          </p:cNvSpPr>
          <p:nvPr>
            <p:ph type="sldNum" sz="quarter" idx="12"/>
          </p:nvPr>
        </p:nvSpPr>
        <p:spPr/>
        <p:txBody>
          <a:bodyPr/>
          <a:lstStyle/>
          <a:p>
            <a:fld id="{DC72F1D8-2572-467E-833F-FFF5D30AE895}" type="slidenum">
              <a:rPr lang="en-IN" smtClean="0"/>
              <a:t>10</a:t>
            </a:fld>
            <a:endParaRPr lang="en-IN"/>
          </a:p>
        </p:txBody>
      </p:sp>
    </p:spTree>
    <p:extLst>
      <p:ext uri="{BB962C8B-B14F-4D97-AF65-F5344CB8AC3E}">
        <p14:creationId xmlns:p14="http://schemas.microsoft.com/office/powerpoint/2010/main" val="3225876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0474-FCE6-27F7-8CB5-99597F7F8B6C}"/>
              </a:ext>
            </a:extLst>
          </p:cNvPr>
          <p:cNvSpPr>
            <a:spLocks noGrp="1"/>
          </p:cNvSpPr>
          <p:nvPr>
            <p:ph type="title"/>
          </p:nvPr>
        </p:nvSpPr>
        <p:spPr>
          <a:xfrm>
            <a:off x="646111" y="452718"/>
            <a:ext cx="9404723" cy="646617"/>
          </a:xfrm>
        </p:spPr>
        <p:txBody>
          <a:bodyPr/>
          <a:lstStyle/>
          <a:p>
            <a:r>
              <a:rPr lang="en-US" sz="2000" dirty="0"/>
              <a:t>Resampled data to monthly averages to visualize long-term energy consumption trends from 2002–2018</a:t>
            </a:r>
          </a:p>
        </p:txBody>
      </p:sp>
      <p:pic>
        <p:nvPicPr>
          <p:cNvPr id="5" name="Content Placeholder 4">
            <a:extLst>
              <a:ext uri="{FF2B5EF4-FFF2-40B4-BE49-F238E27FC236}">
                <a16:creationId xmlns:a16="http://schemas.microsoft.com/office/drawing/2014/main" id="{EB90EC5E-0D07-DFE4-44DA-543C3A4903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85935" y="1244389"/>
            <a:ext cx="5496034" cy="2649186"/>
          </a:xfrm>
        </p:spPr>
      </p:pic>
      <p:sp>
        <p:nvSpPr>
          <p:cNvPr id="3" name="Slide Number Placeholder 2">
            <a:extLst>
              <a:ext uri="{FF2B5EF4-FFF2-40B4-BE49-F238E27FC236}">
                <a16:creationId xmlns:a16="http://schemas.microsoft.com/office/drawing/2014/main" id="{F0D6B381-7896-9793-1FB4-B49C5A6B2BB5}"/>
              </a:ext>
            </a:extLst>
          </p:cNvPr>
          <p:cNvSpPr>
            <a:spLocks noGrp="1"/>
          </p:cNvSpPr>
          <p:nvPr>
            <p:ph type="sldNum" sz="quarter" idx="12"/>
          </p:nvPr>
        </p:nvSpPr>
        <p:spPr/>
        <p:txBody>
          <a:bodyPr/>
          <a:lstStyle/>
          <a:p>
            <a:fld id="{DC72F1D8-2572-467E-833F-FFF5D30AE895}" type="slidenum">
              <a:rPr lang="en-IN" smtClean="0"/>
              <a:t>11</a:t>
            </a:fld>
            <a:endParaRPr lang="en-IN"/>
          </a:p>
        </p:txBody>
      </p:sp>
      <p:sp>
        <p:nvSpPr>
          <p:cNvPr id="6" name="TextBox 5">
            <a:extLst>
              <a:ext uri="{FF2B5EF4-FFF2-40B4-BE49-F238E27FC236}">
                <a16:creationId xmlns:a16="http://schemas.microsoft.com/office/drawing/2014/main" id="{AFA8F9CD-54D1-4300-8318-8D46A3F64C2A}"/>
              </a:ext>
            </a:extLst>
          </p:cNvPr>
          <p:cNvSpPr txBox="1"/>
          <p:nvPr/>
        </p:nvSpPr>
        <p:spPr>
          <a:xfrm>
            <a:off x="452285" y="1499472"/>
            <a:ext cx="6233650"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a:t>Highly Seasonal Pattern</a:t>
            </a:r>
            <a:r>
              <a:rPr lang="en-US" dirty="0"/>
              <a:t> – Peaks and troughs repeat each year, indicating strong seasonal demand cycles (likely winter heating and summer cooling).</a:t>
            </a:r>
          </a:p>
          <a:p>
            <a:pPr marL="285750" indent="-285750">
              <a:buFont typeface="Arial" panose="020B0604020202020204" pitchFamily="34" charset="0"/>
              <a:buChar char="•"/>
            </a:pPr>
            <a:r>
              <a:rPr lang="en-US" b="1" dirty="0"/>
              <a:t>Sharp Short-Term Spikes</a:t>
            </a:r>
            <a:r>
              <a:rPr lang="en-US" dirty="0"/>
              <a:t> – Several years (e.g., 2004, 2011, 2015) have sudden monthly spikes above 7,000 MW, suggesting extreme weather or unusual demand surges.</a:t>
            </a:r>
          </a:p>
          <a:p>
            <a:pPr marL="285750" indent="-285750">
              <a:buFont typeface="Arial" panose="020B0604020202020204" pitchFamily="34" charset="0"/>
              <a:buChar char="•"/>
            </a:pPr>
            <a:r>
              <a:rPr lang="en-US" b="1" dirty="0"/>
              <a:t>Mid-Period Dip</a:t>
            </a:r>
            <a:r>
              <a:rPr lang="en-US" dirty="0"/>
              <a:t> – Between 2007–2013, there’s a noticeable drop in peaks and more frequent troughs near 4,600–4,800 MW, hinting at economic or operational slowdowns.</a:t>
            </a:r>
          </a:p>
          <a:p>
            <a:pPr marL="285750" indent="-285750">
              <a:buFont typeface="Arial" panose="020B0604020202020204" pitchFamily="34" charset="0"/>
              <a:buChar char="•"/>
            </a:pPr>
            <a:r>
              <a:rPr lang="en-US" b="1" dirty="0"/>
              <a:t>Post-2014 Recovery</a:t>
            </a:r>
            <a:r>
              <a:rPr lang="en-US" dirty="0"/>
              <a:t> – After 2014, peaks become more pronounced again, occasionally surpassing earlier highs.</a:t>
            </a:r>
          </a:p>
          <a:p>
            <a:pPr marL="285750" indent="-285750">
              <a:buFont typeface="Arial" panose="020B0604020202020204" pitchFamily="34" charset="0"/>
              <a:buChar char="•"/>
            </a:pPr>
            <a:r>
              <a:rPr lang="en-US" b="1" dirty="0"/>
              <a:t>No Strong Upward Trend</a:t>
            </a:r>
            <a:r>
              <a:rPr lang="en-US" dirty="0"/>
              <a:t> – While fluctuations are large, the baseline average remains around 5,500–6,000 MW, showing stable long-term consumption without sustained growth.</a:t>
            </a:r>
            <a:endParaRPr lang="en-IN" dirty="0"/>
          </a:p>
        </p:txBody>
      </p:sp>
    </p:spTree>
    <p:extLst>
      <p:ext uri="{BB962C8B-B14F-4D97-AF65-F5344CB8AC3E}">
        <p14:creationId xmlns:p14="http://schemas.microsoft.com/office/powerpoint/2010/main" val="3372506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0103D-E792-0856-FB6D-C97EEFE4914C}"/>
              </a:ext>
            </a:extLst>
          </p:cNvPr>
          <p:cNvSpPr>
            <a:spLocks noGrp="1"/>
          </p:cNvSpPr>
          <p:nvPr>
            <p:ph type="title"/>
          </p:nvPr>
        </p:nvSpPr>
        <p:spPr/>
        <p:txBody>
          <a:bodyPr/>
          <a:lstStyle/>
          <a:p>
            <a:r>
              <a:rPr lang="en-US" sz="2000" dirty="0"/>
              <a:t>Compared hourly power consumption patterns on various holidays against average days to highlight demand variations</a:t>
            </a:r>
            <a:br>
              <a:rPr lang="en-US" sz="2000" dirty="0"/>
            </a:br>
            <a:br>
              <a:rPr lang="en-US" sz="2000" dirty="0"/>
            </a:br>
            <a:r>
              <a:rPr lang="en-US" sz="2000" b="1" dirty="0"/>
              <a:t>Major holidays like Christmas and New Year's Day show significantly lower consumption</a:t>
            </a:r>
            <a:r>
              <a:rPr lang="en-US" sz="2000" dirty="0"/>
              <a:t>, especially during morning and evening peaks, reflecting reduced industrial activity and altered residential behavior.</a:t>
            </a:r>
            <a:br>
              <a:rPr lang="en-US" sz="2000" dirty="0"/>
            </a:br>
            <a:br>
              <a:rPr lang="en-US" sz="2000" dirty="0"/>
            </a:br>
            <a:r>
              <a:rPr lang="en-US" sz="2000" b="1" dirty="0"/>
              <a:t>Super Bowl Sunday exhibits a sharp evening spike</a:t>
            </a:r>
            <a:r>
              <a:rPr lang="en-US" sz="2000" dirty="0"/>
              <a:t>, likely</a:t>
            </a:r>
            <a:br>
              <a:rPr lang="en-US" sz="2000" dirty="0"/>
            </a:br>
            <a:r>
              <a:rPr lang="en-US" sz="2000" dirty="0"/>
              <a:t>due to increased residential usage during game time </a:t>
            </a:r>
            <a:br>
              <a:rPr lang="en-US" sz="2000" dirty="0"/>
            </a:br>
            <a:r>
              <a:rPr lang="en-US" sz="2000" dirty="0"/>
              <a:t>(TVs, cooking, lighting).</a:t>
            </a:r>
            <a:br>
              <a:rPr lang="en-US" sz="2000" dirty="0"/>
            </a:br>
            <a:br>
              <a:rPr lang="en-US" sz="2000" dirty="0"/>
            </a:br>
            <a:r>
              <a:rPr lang="en-US" sz="2000" b="1" dirty="0"/>
              <a:t>Weekday holidays such as Labor Day and Columbus </a:t>
            </a:r>
            <a:br>
              <a:rPr lang="en-US" sz="2000" b="1" dirty="0"/>
            </a:br>
            <a:r>
              <a:rPr lang="en-US" sz="2000" b="1" dirty="0"/>
              <a:t>Day closely resemble average day patterns</a:t>
            </a:r>
            <a:r>
              <a:rPr lang="en-US" sz="2000" dirty="0"/>
              <a:t>, suggesting </a:t>
            </a:r>
            <a:br>
              <a:rPr lang="en-US" sz="2000" dirty="0"/>
            </a:br>
            <a:r>
              <a:rPr lang="en-US" sz="2000" dirty="0"/>
              <a:t>minimal disruption to routine energy demand.</a:t>
            </a:r>
            <a:br>
              <a:rPr lang="en-US" sz="2000" dirty="0"/>
            </a:br>
            <a:br>
              <a:rPr lang="en-US" sz="2000" dirty="0"/>
            </a:br>
            <a:r>
              <a:rPr lang="en-US" sz="2000" b="1" dirty="0"/>
              <a:t>Independence Day shows a midday dip followed by a mild evening rise</a:t>
            </a:r>
            <a:r>
              <a:rPr lang="en-US" sz="2000" dirty="0"/>
              <a:t>, possibly due to outdoor celebrations shifting energy use away from homes.</a:t>
            </a:r>
            <a:br>
              <a:rPr lang="en-US" sz="2000" dirty="0"/>
            </a:br>
            <a:br>
              <a:rPr lang="en-US" sz="2000" dirty="0"/>
            </a:br>
            <a:r>
              <a:rPr lang="en-US" sz="2000" b="1" dirty="0"/>
              <a:t>Mother’s Day and Father’s Day align closely with average consumption</a:t>
            </a:r>
            <a:r>
              <a:rPr lang="en-US" sz="2000" dirty="0"/>
              <a:t>, indicating these holidays have minimal impact on overall power usage.</a:t>
            </a:r>
            <a:br>
              <a:rPr lang="en-US" sz="2000" dirty="0"/>
            </a:br>
            <a:endParaRPr lang="en-US" sz="2000" dirty="0"/>
          </a:p>
        </p:txBody>
      </p:sp>
      <p:pic>
        <p:nvPicPr>
          <p:cNvPr id="5" name="Content Placeholder 4">
            <a:extLst>
              <a:ext uri="{FF2B5EF4-FFF2-40B4-BE49-F238E27FC236}">
                <a16:creationId xmlns:a16="http://schemas.microsoft.com/office/drawing/2014/main" id="{60F38841-FF10-129B-A4B5-F88C9BF650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52684" y="2354694"/>
            <a:ext cx="4294098" cy="2544773"/>
          </a:xfrm>
        </p:spPr>
      </p:pic>
      <p:sp>
        <p:nvSpPr>
          <p:cNvPr id="3" name="Slide Number Placeholder 2">
            <a:extLst>
              <a:ext uri="{FF2B5EF4-FFF2-40B4-BE49-F238E27FC236}">
                <a16:creationId xmlns:a16="http://schemas.microsoft.com/office/drawing/2014/main" id="{25534924-A86A-A3D6-1EBE-852BDCC852D8}"/>
              </a:ext>
            </a:extLst>
          </p:cNvPr>
          <p:cNvSpPr>
            <a:spLocks noGrp="1"/>
          </p:cNvSpPr>
          <p:nvPr>
            <p:ph type="sldNum" sz="quarter" idx="12"/>
          </p:nvPr>
        </p:nvSpPr>
        <p:spPr/>
        <p:txBody>
          <a:bodyPr/>
          <a:lstStyle/>
          <a:p>
            <a:fld id="{DC72F1D8-2572-467E-833F-FFF5D30AE895}" type="slidenum">
              <a:rPr lang="en-IN" smtClean="0"/>
              <a:t>12</a:t>
            </a:fld>
            <a:endParaRPr lang="en-IN" dirty="0"/>
          </a:p>
        </p:txBody>
      </p:sp>
    </p:spTree>
    <p:extLst>
      <p:ext uri="{BB962C8B-B14F-4D97-AF65-F5344CB8AC3E}">
        <p14:creationId xmlns:p14="http://schemas.microsoft.com/office/powerpoint/2010/main" val="2617931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473E-8585-A6D3-6282-CCA893A6CB04}"/>
              </a:ext>
            </a:extLst>
          </p:cNvPr>
          <p:cNvSpPr>
            <a:spLocks noGrp="1"/>
          </p:cNvSpPr>
          <p:nvPr>
            <p:ph type="title"/>
          </p:nvPr>
        </p:nvSpPr>
        <p:spPr>
          <a:xfrm>
            <a:off x="646111" y="452718"/>
            <a:ext cx="9404723" cy="677439"/>
          </a:xfrm>
        </p:spPr>
        <p:txBody>
          <a:bodyPr/>
          <a:lstStyle/>
          <a:p>
            <a:r>
              <a:rPr lang="en-US" sz="2000" dirty="0"/>
              <a:t>Plotted seasonal power consumption trends over the years to capture seasonal demand fluctuations</a:t>
            </a:r>
            <a:br>
              <a:rPr lang="en-US" sz="2000" dirty="0"/>
            </a:br>
            <a:endParaRPr lang="en-US" sz="2000" dirty="0"/>
          </a:p>
        </p:txBody>
      </p:sp>
      <p:pic>
        <p:nvPicPr>
          <p:cNvPr id="5" name="Content Placeholder 4">
            <a:extLst>
              <a:ext uri="{FF2B5EF4-FFF2-40B4-BE49-F238E27FC236}">
                <a16:creationId xmlns:a16="http://schemas.microsoft.com/office/drawing/2014/main" id="{C9D5E124-0E09-43D2-F36B-0777C92738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0473" y="1460256"/>
            <a:ext cx="9117842" cy="4603378"/>
          </a:xfrm>
        </p:spPr>
      </p:pic>
      <p:sp>
        <p:nvSpPr>
          <p:cNvPr id="3" name="Slide Number Placeholder 2">
            <a:extLst>
              <a:ext uri="{FF2B5EF4-FFF2-40B4-BE49-F238E27FC236}">
                <a16:creationId xmlns:a16="http://schemas.microsoft.com/office/drawing/2014/main" id="{692F9F73-4CF2-AB75-8250-BA3DE8F6B492}"/>
              </a:ext>
            </a:extLst>
          </p:cNvPr>
          <p:cNvSpPr>
            <a:spLocks noGrp="1"/>
          </p:cNvSpPr>
          <p:nvPr>
            <p:ph type="sldNum" sz="quarter" idx="12"/>
          </p:nvPr>
        </p:nvSpPr>
        <p:spPr/>
        <p:txBody>
          <a:bodyPr/>
          <a:lstStyle/>
          <a:p>
            <a:fld id="{DC72F1D8-2572-467E-833F-FFF5D30AE895}" type="slidenum">
              <a:rPr lang="en-IN" smtClean="0"/>
              <a:t>13</a:t>
            </a:fld>
            <a:endParaRPr lang="en-IN"/>
          </a:p>
        </p:txBody>
      </p:sp>
      <p:sp>
        <p:nvSpPr>
          <p:cNvPr id="7" name="TextBox 6">
            <a:extLst>
              <a:ext uri="{FF2B5EF4-FFF2-40B4-BE49-F238E27FC236}">
                <a16:creationId xmlns:a16="http://schemas.microsoft.com/office/drawing/2014/main" id="{C6269C67-AF51-0E0D-DCCB-E052D353E8BF}"/>
              </a:ext>
            </a:extLst>
          </p:cNvPr>
          <p:cNvSpPr txBox="1"/>
          <p:nvPr/>
        </p:nvSpPr>
        <p:spPr>
          <a:xfrm>
            <a:off x="835742" y="1720645"/>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428235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2CDD-BC01-ED3B-824D-020FB4CF02DE}"/>
              </a:ext>
            </a:extLst>
          </p:cNvPr>
          <p:cNvSpPr>
            <a:spLocks noGrp="1"/>
          </p:cNvSpPr>
          <p:nvPr>
            <p:ph type="title"/>
          </p:nvPr>
        </p:nvSpPr>
        <p:spPr/>
        <p:txBody>
          <a:bodyPr/>
          <a:lstStyle/>
          <a:p>
            <a:r>
              <a:rPr lang="en-IN" dirty="0"/>
              <a:t>Insights</a:t>
            </a:r>
          </a:p>
        </p:txBody>
      </p:sp>
      <p:sp>
        <p:nvSpPr>
          <p:cNvPr id="3" name="Content Placeholder 2">
            <a:extLst>
              <a:ext uri="{FF2B5EF4-FFF2-40B4-BE49-F238E27FC236}">
                <a16:creationId xmlns:a16="http://schemas.microsoft.com/office/drawing/2014/main" id="{3F5CB7AB-F831-A609-C214-B2300B2CCED8}"/>
              </a:ext>
            </a:extLst>
          </p:cNvPr>
          <p:cNvSpPr>
            <a:spLocks noGrp="1"/>
          </p:cNvSpPr>
          <p:nvPr>
            <p:ph idx="1"/>
          </p:nvPr>
        </p:nvSpPr>
        <p:spPr/>
        <p:txBody>
          <a:bodyPr>
            <a:normAutofit lnSpcReduction="10000"/>
          </a:bodyPr>
          <a:lstStyle/>
          <a:p>
            <a:r>
              <a:rPr lang="en-US" b="1" dirty="0"/>
              <a:t>Winter consistently shows the highest power consumption</a:t>
            </a:r>
            <a:r>
              <a:rPr lang="en-US" dirty="0"/>
              <a:t>, likely due to heating demands and longer periods of indoor activity.</a:t>
            </a:r>
          </a:p>
          <a:p>
            <a:r>
              <a:rPr lang="en-US" b="1" dirty="0"/>
              <a:t>Summer ranks second in consumption</a:t>
            </a:r>
            <a:r>
              <a:rPr lang="en-US" dirty="0"/>
              <a:t>, driven by cooling needs such as air conditioning, especially during peak heat periods.</a:t>
            </a:r>
          </a:p>
          <a:p>
            <a:r>
              <a:rPr lang="en-US" b="1" dirty="0"/>
              <a:t>Spring and Fall exhibit lower and more stable consumption</a:t>
            </a:r>
            <a:r>
              <a:rPr lang="en-US" dirty="0"/>
              <a:t>, reflecting milder temperatures and reduced HVAC usage.</a:t>
            </a:r>
          </a:p>
          <a:p>
            <a:r>
              <a:rPr lang="en-US" b="1" dirty="0"/>
              <a:t>Seasonal fluctuations vary year to year</a:t>
            </a:r>
            <a:r>
              <a:rPr lang="en-US" dirty="0"/>
              <a:t>, indicating the influence of external factors like weather anomalies, population growth, or policy changes.</a:t>
            </a:r>
          </a:p>
          <a:p>
            <a:r>
              <a:rPr lang="en-US" b="1" dirty="0"/>
              <a:t>Understanding these trends is crucial for grid planning</a:t>
            </a:r>
            <a:r>
              <a:rPr lang="en-US" dirty="0"/>
              <a:t>, helping utilities anticipate seasonal load shifts and optimize energy distribution strategies.</a:t>
            </a:r>
            <a:endParaRPr lang="en-IN" dirty="0"/>
          </a:p>
        </p:txBody>
      </p:sp>
      <p:sp>
        <p:nvSpPr>
          <p:cNvPr id="4" name="Slide Number Placeholder 3">
            <a:extLst>
              <a:ext uri="{FF2B5EF4-FFF2-40B4-BE49-F238E27FC236}">
                <a16:creationId xmlns:a16="http://schemas.microsoft.com/office/drawing/2014/main" id="{0AECECEC-52F1-DC15-BE4E-932EFFF026E0}"/>
              </a:ext>
            </a:extLst>
          </p:cNvPr>
          <p:cNvSpPr>
            <a:spLocks noGrp="1"/>
          </p:cNvSpPr>
          <p:nvPr>
            <p:ph type="sldNum" sz="quarter" idx="12"/>
          </p:nvPr>
        </p:nvSpPr>
        <p:spPr/>
        <p:txBody>
          <a:bodyPr/>
          <a:lstStyle/>
          <a:p>
            <a:fld id="{DC72F1D8-2572-467E-833F-FFF5D30AE895}" type="slidenum">
              <a:rPr lang="en-IN" smtClean="0"/>
              <a:t>14</a:t>
            </a:fld>
            <a:endParaRPr lang="en-IN"/>
          </a:p>
        </p:txBody>
      </p:sp>
    </p:spTree>
    <p:extLst>
      <p:ext uri="{BB962C8B-B14F-4D97-AF65-F5344CB8AC3E}">
        <p14:creationId xmlns:p14="http://schemas.microsoft.com/office/powerpoint/2010/main" val="28793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10E83-E092-A47F-F21C-E6604E7263C8}"/>
              </a:ext>
            </a:extLst>
          </p:cNvPr>
          <p:cNvSpPr>
            <a:spLocks noGrp="1"/>
          </p:cNvSpPr>
          <p:nvPr>
            <p:ph type="title"/>
          </p:nvPr>
        </p:nvSpPr>
        <p:spPr>
          <a:xfrm>
            <a:off x="646111" y="452718"/>
            <a:ext cx="10474173" cy="859665"/>
          </a:xfrm>
        </p:spPr>
        <p:txBody>
          <a:bodyPr/>
          <a:lstStyle/>
          <a:p>
            <a:r>
              <a:rPr lang="en-IN" dirty="0"/>
              <a:t>Model building- Deep learning models</a:t>
            </a:r>
            <a:br>
              <a:rPr lang="en-IN" dirty="0"/>
            </a:br>
            <a:endParaRPr lang="en-IN" dirty="0"/>
          </a:p>
        </p:txBody>
      </p:sp>
      <p:sp>
        <p:nvSpPr>
          <p:cNvPr id="7" name="Content Placeholder 6">
            <a:extLst>
              <a:ext uri="{FF2B5EF4-FFF2-40B4-BE49-F238E27FC236}">
                <a16:creationId xmlns:a16="http://schemas.microsoft.com/office/drawing/2014/main" id="{07FECE2A-DD7E-F27F-EF30-C56C5976B70E}"/>
              </a:ext>
            </a:extLst>
          </p:cNvPr>
          <p:cNvSpPr>
            <a:spLocks noGrp="1"/>
          </p:cNvSpPr>
          <p:nvPr>
            <p:ph idx="1"/>
          </p:nvPr>
        </p:nvSpPr>
        <p:spPr>
          <a:xfrm>
            <a:off x="2802192" y="1514703"/>
            <a:ext cx="3775587" cy="533657"/>
          </a:xfrm>
        </p:spPr>
        <p:txBody>
          <a:bodyPr>
            <a:normAutofit/>
          </a:bodyPr>
          <a:lstStyle/>
          <a:p>
            <a:r>
              <a:rPr lang="en-IN" dirty="0"/>
              <a:t>1. Prophet model</a:t>
            </a:r>
          </a:p>
        </p:txBody>
      </p:sp>
      <p:pic>
        <p:nvPicPr>
          <p:cNvPr id="9" name="Picture 8">
            <a:extLst>
              <a:ext uri="{FF2B5EF4-FFF2-40B4-BE49-F238E27FC236}">
                <a16:creationId xmlns:a16="http://schemas.microsoft.com/office/drawing/2014/main" id="{D430E497-6A59-443B-3128-E9FCBD96C930}"/>
              </a:ext>
            </a:extLst>
          </p:cNvPr>
          <p:cNvPicPr>
            <a:picLocks noChangeAspect="1"/>
          </p:cNvPicPr>
          <p:nvPr/>
        </p:nvPicPr>
        <p:blipFill>
          <a:blip r:embed="rId2"/>
          <a:stretch>
            <a:fillRect/>
          </a:stretch>
        </p:blipFill>
        <p:spPr>
          <a:xfrm>
            <a:off x="1398639" y="2359282"/>
            <a:ext cx="7036162" cy="4330923"/>
          </a:xfrm>
          <a:prstGeom prst="rect">
            <a:avLst/>
          </a:prstGeom>
        </p:spPr>
      </p:pic>
      <p:sp>
        <p:nvSpPr>
          <p:cNvPr id="3" name="Slide Number Placeholder 2">
            <a:extLst>
              <a:ext uri="{FF2B5EF4-FFF2-40B4-BE49-F238E27FC236}">
                <a16:creationId xmlns:a16="http://schemas.microsoft.com/office/drawing/2014/main" id="{00BB1084-05B7-D5D3-82DF-9C27D96646F2}"/>
              </a:ext>
            </a:extLst>
          </p:cNvPr>
          <p:cNvSpPr>
            <a:spLocks noGrp="1"/>
          </p:cNvSpPr>
          <p:nvPr>
            <p:ph type="sldNum" sz="quarter" idx="12"/>
          </p:nvPr>
        </p:nvSpPr>
        <p:spPr/>
        <p:txBody>
          <a:bodyPr/>
          <a:lstStyle/>
          <a:p>
            <a:fld id="{DC72F1D8-2572-467E-833F-FFF5D30AE895}" type="slidenum">
              <a:rPr lang="en-IN" smtClean="0"/>
              <a:t>15</a:t>
            </a:fld>
            <a:endParaRPr lang="en-IN"/>
          </a:p>
        </p:txBody>
      </p:sp>
    </p:spTree>
    <p:extLst>
      <p:ext uri="{BB962C8B-B14F-4D97-AF65-F5344CB8AC3E}">
        <p14:creationId xmlns:p14="http://schemas.microsoft.com/office/powerpoint/2010/main" val="3987725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5CCE38-C283-0198-6F76-FFCC2CB60DF2}"/>
              </a:ext>
            </a:extLst>
          </p:cNvPr>
          <p:cNvSpPr>
            <a:spLocks noGrp="1"/>
          </p:cNvSpPr>
          <p:nvPr>
            <p:ph idx="1"/>
          </p:nvPr>
        </p:nvSpPr>
        <p:spPr>
          <a:xfrm>
            <a:off x="838200" y="776748"/>
            <a:ext cx="10515600" cy="5400215"/>
          </a:xfrm>
        </p:spPr>
        <p:txBody>
          <a:bodyPr>
            <a:normAutofit/>
          </a:bodyPr>
          <a:lstStyle/>
          <a:p>
            <a:r>
              <a:rPr lang="en-US" b="1" dirty="0"/>
              <a:t>Strong seasonal patterns:</a:t>
            </a:r>
            <a:endParaRPr lang="en-US" dirty="0"/>
          </a:p>
          <a:p>
            <a:pPr marL="0" indent="0">
              <a:buNone/>
            </a:pPr>
            <a:r>
              <a:rPr lang="en-US" dirty="0"/>
              <a:t>- The model captures a </a:t>
            </a:r>
            <a:r>
              <a:rPr lang="en-US" b="1" dirty="0"/>
              <a:t>repeating annual cycle</a:t>
            </a:r>
            <a:r>
              <a:rPr lang="en-US" dirty="0"/>
              <a:t> (like summer and winter peaks, spring and autumn troughs)</a:t>
            </a:r>
          </a:p>
          <a:p>
            <a:pPr marL="0" indent="0">
              <a:buNone/>
            </a:pPr>
            <a:r>
              <a:rPr lang="en-US" dirty="0"/>
              <a:t>- This is visible in the sharp periodic spikes every year — typical for electricity demand driven by heating/cooling needs</a:t>
            </a:r>
          </a:p>
          <a:p>
            <a:r>
              <a:rPr lang="en-US" b="1" dirty="0"/>
              <a:t>Reasonable fit to historical data:</a:t>
            </a:r>
            <a:endParaRPr lang="en-US" dirty="0"/>
          </a:p>
          <a:p>
            <a:pPr marL="0" indent="0">
              <a:buNone/>
            </a:pPr>
            <a:r>
              <a:rPr lang="en-US" dirty="0"/>
              <a:t>- The blue line (Prophet's fitted trend + seasonality) closely follows the black dots (actual data)</a:t>
            </a:r>
          </a:p>
          <a:p>
            <a:r>
              <a:rPr lang="en-US" b="1" dirty="0"/>
              <a:t>Long-term stability in the trend:</a:t>
            </a:r>
            <a:endParaRPr lang="en-US" dirty="0"/>
          </a:p>
          <a:p>
            <a:pPr marL="0" indent="0">
              <a:buNone/>
            </a:pPr>
            <a:r>
              <a:rPr lang="en-US" dirty="0"/>
              <a:t>- No major upward or downward drift over 2002–2019 — the long-term demand appears relatively stable, oscillating around 5000–7000 MW.</a:t>
            </a:r>
          </a:p>
          <a:p>
            <a:endParaRPr lang="en-IN" dirty="0"/>
          </a:p>
        </p:txBody>
      </p:sp>
      <p:sp>
        <p:nvSpPr>
          <p:cNvPr id="2" name="Slide Number Placeholder 1">
            <a:extLst>
              <a:ext uri="{FF2B5EF4-FFF2-40B4-BE49-F238E27FC236}">
                <a16:creationId xmlns:a16="http://schemas.microsoft.com/office/drawing/2014/main" id="{192C422D-9D1D-3F71-DE45-18F7B1E9E77D}"/>
              </a:ext>
            </a:extLst>
          </p:cNvPr>
          <p:cNvSpPr>
            <a:spLocks noGrp="1"/>
          </p:cNvSpPr>
          <p:nvPr>
            <p:ph type="sldNum" sz="quarter" idx="12"/>
          </p:nvPr>
        </p:nvSpPr>
        <p:spPr/>
        <p:txBody>
          <a:bodyPr/>
          <a:lstStyle/>
          <a:p>
            <a:fld id="{DC72F1D8-2572-467E-833F-FFF5D30AE895}" type="slidenum">
              <a:rPr lang="en-IN" smtClean="0"/>
              <a:t>16</a:t>
            </a:fld>
            <a:endParaRPr lang="en-IN"/>
          </a:p>
        </p:txBody>
      </p:sp>
    </p:spTree>
    <p:extLst>
      <p:ext uri="{BB962C8B-B14F-4D97-AF65-F5344CB8AC3E}">
        <p14:creationId xmlns:p14="http://schemas.microsoft.com/office/powerpoint/2010/main" val="297309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9C7FB1-9579-AD67-3D45-C41836E2B06C}"/>
              </a:ext>
            </a:extLst>
          </p:cNvPr>
          <p:cNvPicPr>
            <a:picLocks noChangeAspect="1"/>
          </p:cNvPicPr>
          <p:nvPr/>
        </p:nvPicPr>
        <p:blipFill>
          <a:blip r:embed="rId3"/>
          <a:stretch>
            <a:fillRect/>
          </a:stretch>
        </p:blipFill>
        <p:spPr>
          <a:xfrm>
            <a:off x="4187637" y="172546"/>
            <a:ext cx="7270410" cy="3003274"/>
          </a:xfrm>
          <a:prstGeom prst="rect">
            <a:avLst/>
          </a:prstGeom>
        </p:spPr>
      </p:pic>
      <p:sp>
        <p:nvSpPr>
          <p:cNvPr id="11" name="Content Placeholder 10">
            <a:extLst>
              <a:ext uri="{FF2B5EF4-FFF2-40B4-BE49-F238E27FC236}">
                <a16:creationId xmlns:a16="http://schemas.microsoft.com/office/drawing/2014/main" id="{0A294568-FCC5-AEF1-445B-F99248EAEECC}"/>
              </a:ext>
            </a:extLst>
          </p:cNvPr>
          <p:cNvSpPr>
            <a:spLocks noGrp="1"/>
          </p:cNvSpPr>
          <p:nvPr>
            <p:ph idx="1"/>
          </p:nvPr>
        </p:nvSpPr>
        <p:spPr>
          <a:xfrm>
            <a:off x="1101211" y="521111"/>
            <a:ext cx="2544097" cy="1506640"/>
          </a:xfrm>
        </p:spPr>
        <p:txBody>
          <a:bodyPr/>
          <a:lstStyle/>
          <a:p>
            <a:pPr marL="0" indent="0">
              <a:buNone/>
            </a:pPr>
            <a:r>
              <a:rPr lang="en-IN" dirty="0"/>
              <a:t>2. LSTM model</a:t>
            </a:r>
          </a:p>
        </p:txBody>
      </p:sp>
      <p:pic>
        <p:nvPicPr>
          <p:cNvPr id="14" name="Content Placeholder 4">
            <a:extLst>
              <a:ext uri="{FF2B5EF4-FFF2-40B4-BE49-F238E27FC236}">
                <a16:creationId xmlns:a16="http://schemas.microsoft.com/office/drawing/2014/main" id="{0A3FDEFC-9BEA-61F7-91C3-113756E13D4C}"/>
              </a:ext>
            </a:extLst>
          </p:cNvPr>
          <p:cNvPicPr>
            <a:picLocks noChangeAspect="1"/>
          </p:cNvPicPr>
          <p:nvPr/>
        </p:nvPicPr>
        <p:blipFill>
          <a:blip r:embed="rId4"/>
          <a:stretch>
            <a:fillRect/>
          </a:stretch>
        </p:blipFill>
        <p:spPr>
          <a:xfrm>
            <a:off x="170699" y="3332482"/>
            <a:ext cx="7652143" cy="3352972"/>
          </a:xfrm>
          <a:prstGeom prst="rect">
            <a:avLst/>
          </a:prstGeom>
        </p:spPr>
      </p:pic>
      <p:sp>
        <p:nvSpPr>
          <p:cNvPr id="15" name="TextBox 14">
            <a:extLst>
              <a:ext uri="{FF2B5EF4-FFF2-40B4-BE49-F238E27FC236}">
                <a16:creationId xmlns:a16="http://schemas.microsoft.com/office/drawing/2014/main" id="{7F8659C1-BF49-B86D-E3C9-1519A4A4B911}"/>
              </a:ext>
            </a:extLst>
          </p:cNvPr>
          <p:cNvSpPr txBox="1"/>
          <p:nvPr/>
        </p:nvSpPr>
        <p:spPr>
          <a:xfrm>
            <a:off x="8052619" y="4336027"/>
            <a:ext cx="3567643" cy="369332"/>
          </a:xfrm>
          <a:prstGeom prst="rect">
            <a:avLst/>
          </a:prstGeom>
          <a:noFill/>
        </p:spPr>
        <p:txBody>
          <a:bodyPr wrap="none" rtlCol="0">
            <a:spAutoFit/>
          </a:bodyPr>
          <a:lstStyle/>
          <a:p>
            <a:r>
              <a:rPr lang="en-IN" dirty="0"/>
              <a:t>LSTM Vs Prophet model comparison</a:t>
            </a:r>
          </a:p>
        </p:txBody>
      </p:sp>
      <p:sp>
        <p:nvSpPr>
          <p:cNvPr id="2" name="Slide Number Placeholder 1">
            <a:extLst>
              <a:ext uri="{FF2B5EF4-FFF2-40B4-BE49-F238E27FC236}">
                <a16:creationId xmlns:a16="http://schemas.microsoft.com/office/drawing/2014/main" id="{75CCD61B-B0B8-A005-18DB-255782D7A22D}"/>
              </a:ext>
            </a:extLst>
          </p:cNvPr>
          <p:cNvSpPr>
            <a:spLocks noGrp="1"/>
          </p:cNvSpPr>
          <p:nvPr>
            <p:ph type="sldNum" sz="quarter" idx="12"/>
          </p:nvPr>
        </p:nvSpPr>
        <p:spPr/>
        <p:txBody>
          <a:bodyPr/>
          <a:lstStyle/>
          <a:p>
            <a:fld id="{DC72F1D8-2572-467E-833F-FFF5D30AE895}" type="slidenum">
              <a:rPr lang="en-IN" smtClean="0"/>
              <a:t>17</a:t>
            </a:fld>
            <a:endParaRPr lang="en-IN"/>
          </a:p>
        </p:txBody>
      </p:sp>
    </p:spTree>
    <p:extLst>
      <p:ext uri="{BB962C8B-B14F-4D97-AF65-F5344CB8AC3E}">
        <p14:creationId xmlns:p14="http://schemas.microsoft.com/office/powerpoint/2010/main" val="1495980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FC894-1ABC-34D4-A625-1EFAD408C892}"/>
              </a:ext>
            </a:extLst>
          </p:cNvPr>
          <p:cNvSpPr>
            <a:spLocks noGrp="1"/>
          </p:cNvSpPr>
          <p:nvPr>
            <p:ph type="title"/>
          </p:nvPr>
        </p:nvSpPr>
        <p:spPr>
          <a:xfrm>
            <a:off x="8052619" y="1299189"/>
            <a:ext cx="3546987" cy="1325563"/>
          </a:xfrm>
        </p:spPr>
        <p:txBody>
          <a:bodyPr>
            <a:normAutofit/>
          </a:bodyPr>
          <a:lstStyle/>
          <a:p>
            <a:r>
              <a:rPr lang="en-IN" sz="2000" dirty="0"/>
              <a:t>3. ARIMA model</a:t>
            </a:r>
          </a:p>
        </p:txBody>
      </p:sp>
      <p:pic>
        <p:nvPicPr>
          <p:cNvPr id="8" name="Content Placeholder 7">
            <a:extLst>
              <a:ext uri="{FF2B5EF4-FFF2-40B4-BE49-F238E27FC236}">
                <a16:creationId xmlns:a16="http://schemas.microsoft.com/office/drawing/2014/main" id="{F9EC59AC-923F-1C78-098C-6D0DB18AE6F6}"/>
              </a:ext>
            </a:extLst>
          </p:cNvPr>
          <p:cNvPicPr>
            <a:picLocks noGrp="1" noChangeAspect="1"/>
          </p:cNvPicPr>
          <p:nvPr>
            <p:ph idx="1"/>
          </p:nvPr>
        </p:nvPicPr>
        <p:blipFill>
          <a:blip r:embed="rId2"/>
          <a:stretch>
            <a:fillRect/>
          </a:stretch>
        </p:blipFill>
        <p:spPr>
          <a:xfrm>
            <a:off x="176471" y="189551"/>
            <a:ext cx="6243994" cy="3042971"/>
          </a:xfrm>
          <a:prstGeom prst="rect">
            <a:avLst/>
          </a:prstGeom>
        </p:spPr>
      </p:pic>
      <p:pic>
        <p:nvPicPr>
          <p:cNvPr id="10" name="Picture 9">
            <a:extLst>
              <a:ext uri="{FF2B5EF4-FFF2-40B4-BE49-F238E27FC236}">
                <a16:creationId xmlns:a16="http://schemas.microsoft.com/office/drawing/2014/main" id="{922ABAEA-E796-D4F4-4162-13CF4A919182}"/>
              </a:ext>
            </a:extLst>
          </p:cNvPr>
          <p:cNvPicPr>
            <a:picLocks noChangeAspect="1"/>
          </p:cNvPicPr>
          <p:nvPr/>
        </p:nvPicPr>
        <p:blipFill>
          <a:blip r:embed="rId3"/>
          <a:stretch>
            <a:fillRect/>
          </a:stretch>
        </p:blipFill>
        <p:spPr>
          <a:xfrm>
            <a:off x="176472" y="3511083"/>
            <a:ext cx="6243994" cy="3076531"/>
          </a:xfrm>
          <a:prstGeom prst="rect">
            <a:avLst/>
          </a:prstGeom>
        </p:spPr>
      </p:pic>
      <p:sp>
        <p:nvSpPr>
          <p:cNvPr id="12" name="TextBox 11">
            <a:extLst>
              <a:ext uri="{FF2B5EF4-FFF2-40B4-BE49-F238E27FC236}">
                <a16:creationId xmlns:a16="http://schemas.microsoft.com/office/drawing/2014/main" id="{825CB59E-D236-4BA6-D57B-A4011E8C701F}"/>
              </a:ext>
            </a:extLst>
          </p:cNvPr>
          <p:cNvSpPr txBox="1"/>
          <p:nvPr/>
        </p:nvSpPr>
        <p:spPr>
          <a:xfrm>
            <a:off x="8175522" y="4033194"/>
            <a:ext cx="3301180" cy="400110"/>
          </a:xfrm>
          <a:prstGeom prst="rect">
            <a:avLst/>
          </a:prstGeom>
          <a:noFill/>
        </p:spPr>
        <p:txBody>
          <a:bodyPr wrap="square">
            <a:spAutoFit/>
          </a:bodyPr>
          <a:lstStyle/>
          <a:p>
            <a:r>
              <a:rPr lang="en-IN" sz="2000" dirty="0"/>
              <a:t>4. SARIMA model</a:t>
            </a:r>
          </a:p>
        </p:txBody>
      </p:sp>
      <p:sp>
        <p:nvSpPr>
          <p:cNvPr id="3" name="TextBox 2">
            <a:extLst>
              <a:ext uri="{FF2B5EF4-FFF2-40B4-BE49-F238E27FC236}">
                <a16:creationId xmlns:a16="http://schemas.microsoft.com/office/drawing/2014/main" id="{3958E629-45F8-A253-F7DF-69481EC67005}"/>
              </a:ext>
            </a:extLst>
          </p:cNvPr>
          <p:cNvSpPr txBox="1"/>
          <p:nvPr/>
        </p:nvSpPr>
        <p:spPr>
          <a:xfrm>
            <a:off x="6558116" y="189551"/>
            <a:ext cx="3979606" cy="584775"/>
          </a:xfrm>
          <a:prstGeom prst="rect">
            <a:avLst/>
          </a:prstGeom>
          <a:noFill/>
        </p:spPr>
        <p:txBody>
          <a:bodyPr wrap="square" rtlCol="0">
            <a:spAutoFit/>
          </a:bodyPr>
          <a:lstStyle/>
          <a:p>
            <a:r>
              <a:rPr lang="en-IN" sz="3200" dirty="0"/>
              <a:t>Time series models</a:t>
            </a:r>
          </a:p>
        </p:txBody>
      </p:sp>
      <p:sp>
        <p:nvSpPr>
          <p:cNvPr id="4" name="Slide Number Placeholder 3">
            <a:extLst>
              <a:ext uri="{FF2B5EF4-FFF2-40B4-BE49-F238E27FC236}">
                <a16:creationId xmlns:a16="http://schemas.microsoft.com/office/drawing/2014/main" id="{F8E89B54-1523-76B9-6D09-B0F4B20085FF}"/>
              </a:ext>
            </a:extLst>
          </p:cNvPr>
          <p:cNvSpPr>
            <a:spLocks noGrp="1"/>
          </p:cNvSpPr>
          <p:nvPr>
            <p:ph type="sldNum" sz="quarter" idx="12"/>
          </p:nvPr>
        </p:nvSpPr>
        <p:spPr/>
        <p:txBody>
          <a:bodyPr/>
          <a:lstStyle/>
          <a:p>
            <a:fld id="{DC72F1D8-2572-467E-833F-FFF5D30AE895}" type="slidenum">
              <a:rPr lang="en-IN" smtClean="0"/>
              <a:t>18</a:t>
            </a:fld>
            <a:endParaRPr lang="en-IN"/>
          </a:p>
        </p:txBody>
      </p:sp>
    </p:spTree>
    <p:extLst>
      <p:ext uri="{BB962C8B-B14F-4D97-AF65-F5344CB8AC3E}">
        <p14:creationId xmlns:p14="http://schemas.microsoft.com/office/powerpoint/2010/main" val="29894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3BE0-AE59-9638-BD70-C36112618C91}"/>
              </a:ext>
            </a:extLst>
          </p:cNvPr>
          <p:cNvSpPr>
            <a:spLocks noGrp="1"/>
          </p:cNvSpPr>
          <p:nvPr>
            <p:ph type="title"/>
          </p:nvPr>
        </p:nvSpPr>
        <p:spPr>
          <a:xfrm>
            <a:off x="7393858" y="1258529"/>
            <a:ext cx="3891117" cy="1041759"/>
          </a:xfrm>
        </p:spPr>
        <p:txBody>
          <a:bodyPr>
            <a:normAutofit/>
          </a:bodyPr>
          <a:lstStyle/>
          <a:p>
            <a:r>
              <a:rPr lang="en-IN" sz="2000" dirty="0"/>
              <a:t>5. Moving average method</a:t>
            </a:r>
          </a:p>
        </p:txBody>
      </p:sp>
      <p:pic>
        <p:nvPicPr>
          <p:cNvPr id="5" name="Content Placeholder 4">
            <a:extLst>
              <a:ext uri="{FF2B5EF4-FFF2-40B4-BE49-F238E27FC236}">
                <a16:creationId xmlns:a16="http://schemas.microsoft.com/office/drawing/2014/main" id="{E23182AC-047E-D633-2803-9F64E345895C}"/>
              </a:ext>
            </a:extLst>
          </p:cNvPr>
          <p:cNvPicPr>
            <a:picLocks noGrp="1" noChangeAspect="1"/>
          </p:cNvPicPr>
          <p:nvPr>
            <p:ph idx="1"/>
          </p:nvPr>
        </p:nvPicPr>
        <p:blipFill>
          <a:blip r:embed="rId2"/>
          <a:stretch>
            <a:fillRect/>
          </a:stretch>
        </p:blipFill>
        <p:spPr>
          <a:xfrm>
            <a:off x="243042" y="177870"/>
            <a:ext cx="6502237" cy="3064006"/>
          </a:xfrm>
          <a:prstGeom prst="rect">
            <a:avLst/>
          </a:prstGeom>
        </p:spPr>
      </p:pic>
      <p:pic>
        <p:nvPicPr>
          <p:cNvPr id="9" name="Picture 8">
            <a:extLst>
              <a:ext uri="{FF2B5EF4-FFF2-40B4-BE49-F238E27FC236}">
                <a16:creationId xmlns:a16="http://schemas.microsoft.com/office/drawing/2014/main" id="{E28BD8D8-A707-5F0B-CEEE-EDB330156954}"/>
              </a:ext>
            </a:extLst>
          </p:cNvPr>
          <p:cNvPicPr>
            <a:picLocks noChangeAspect="1"/>
          </p:cNvPicPr>
          <p:nvPr/>
        </p:nvPicPr>
        <p:blipFill>
          <a:blip r:embed="rId3"/>
          <a:stretch>
            <a:fillRect/>
          </a:stretch>
        </p:blipFill>
        <p:spPr>
          <a:xfrm>
            <a:off x="243042" y="3511123"/>
            <a:ext cx="6502237" cy="3064006"/>
          </a:xfrm>
          <a:prstGeom prst="rect">
            <a:avLst/>
          </a:prstGeom>
        </p:spPr>
      </p:pic>
      <p:sp>
        <p:nvSpPr>
          <p:cNvPr id="11" name="TextBox 10">
            <a:extLst>
              <a:ext uri="{FF2B5EF4-FFF2-40B4-BE49-F238E27FC236}">
                <a16:creationId xmlns:a16="http://schemas.microsoft.com/office/drawing/2014/main" id="{02A7088D-1CF6-0568-8D1A-62DD83D34C7B}"/>
              </a:ext>
            </a:extLst>
          </p:cNvPr>
          <p:cNvSpPr txBox="1"/>
          <p:nvPr/>
        </p:nvSpPr>
        <p:spPr>
          <a:xfrm>
            <a:off x="7659329" y="3723656"/>
            <a:ext cx="3625646" cy="707886"/>
          </a:xfrm>
          <a:prstGeom prst="rect">
            <a:avLst/>
          </a:prstGeom>
          <a:noFill/>
        </p:spPr>
        <p:txBody>
          <a:bodyPr wrap="square">
            <a:spAutoFit/>
          </a:bodyPr>
          <a:lstStyle/>
          <a:p>
            <a:r>
              <a:rPr lang="en-IN" sz="2000" dirty="0"/>
              <a:t>6. Holt-Winters additive method</a:t>
            </a:r>
          </a:p>
        </p:txBody>
      </p:sp>
      <p:sp>
        <p:nvSpPr>
          <p:cNvPr id="3" name="Slide Number Placeholder 2">
            <a:extLst>
              <a:ext uri="{FF2B5EF4-FFF2-40B4-BE49-F238E27FC236}">
                <a16:creationId xmlns:a16="http://schemas.microsoft.com/office/drawing/2014/main" id="{BEE1E2CD-6648-6067-B4A1-E8E31CE33A9E}"/>
              </a:ext>
            </a:extLst>
          </p:cNvPr>
          <p:cNvSpPr>
            <a:spLocks noGrp="1"/>
          </p:cNvSpPr>
          <p:nvPr>
            <p:ph type="sldNum" sz="quarter" idx="12"/>
          </p:nvPr>
        </p:nvSpPr>
        <p:spPr/>
        <p:txBody>
          <a:bodyPr/>
          <a:lstStyle/>
          <a:p>
            <a:fld id="{DC72F1D8-2572-467E-833F-FFF5D30AE895}" type="slidenum">
              <a:rPr lang="en-IN" smtClean="0"/>
              <a:t>19</a:t>
            </a:fld>
            <a:endParaRPr lang="en-IN"/>
          </a:p>
        </p:txBody>
      </p:sp>
    </p:spTree>
    <p:extLst>
      <p:ext uri="{BB962C8B-B14F-4D97-AF65-F5344CB8AC3E}">
        <p14:creationId xmlns:p14="http://schemas.microsoft.com/office/powerpoint/2010/main" val="2877826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C8E7-F3C3-5029-E559-445B220DB847}"/>
              </a:ext>
            </a:extLst>
          </p:cNvPr>
          <p:cNvSpPr>
            <a:spLocks noGrp="1"/>
          </p:cNvSpPr>
          <p:nvPr>
            <p:ph type="title"/>
          </p:nvPr>
        </p:nvSpPr>
        <p:spPr/>
        <p:txBody>
          <a:bodyPr/>
          <a:lstStyle/>
          <a:p>
            <a:r>
              <a:rPr lang="en-IN" dirty="0"/>
              <a:t>Model evaluation</a:t>
            </a:r>
          </a:p>
        </p:txBody>
      </p:sp>
      <p:sp>
        <p:nvSpPr>
          <p:cNvPr id="3" name="Content Placeholder 2">
            <a:extLst>
              <a:ext uri="{FF2B5EF4-FFF2-40B4-BE49-F238E27FC236}">
                <a16:creationId xmlns:a16="http://schemas.microsoft.com/office/drawing/2014/main" id="{C05477F4-5C93-E34F-A0EE-8B82900EDD33}"/>
              </a:ext>
            </a:extLst>
          </p:cNvPr>
          <p:cNvSpPr>
            <a:spLocks noGrp="1"/>
          </p:cNvSpPr>
          <p:nvPr>
            <p:ph idx="1"/>
          </p:nvPr>
        </p:nvSpPr>
        <p:spPr/>
        <p:txBody>
          <a:bodyPr/>
          <a:lstStyle/>
          <a:p>
            <a:r>
              <a:rPr lang="en-US" dirty="0"/>
              <a:t>Moving Average RMSE: 461.71, MAE: 363.57</a:t>
            </a:r>
          </a:p>
          <a:p>
            <a:r>
              <a:rPr lang="en-IN" dirty="0"/>
              <a:t>Prophet RMSE: 549.09, MAE: 476.38</a:t>
            </a:r>
          </a:p>
          <a:p>
            <a:r>
              <a:rPr lang="en-US" dirty="0"/>
              <a:t>ARIMA RMSE: 758.45, MAE: 644.18</a:t>
            </a:r>
          </a:p>
          <a:p>
            <a:r>
              <a:rPr lang="en-IN" dirty="0"/>
              <a:t>LSTM RMSE: 755.43, MAE: 669.87</a:t>
            </a:r>
          </a:p>
          <a:p>
            <a:r>
              <a:rPr lang="en-US" dirty="0"/>
              <a:t>SARIMA RMSE: 750.84, MAE: 675.63</a:t>
            </a:r>
            <a:endParaRPr lang="en-IN" dirty="0"/>
          </a:p>
          <a:p>
            <a:r>
              <a:rPr lang="en-US" dirty="0"/>
              <a:t>Holt-Winters Additive RMSE: 866.59, MAE: 776.25</a:t>
            </a:r>
          </a:p>
          <a:p>
            <a:endParaRPr lang="en-IN" dirty="0"/>
          </a:p>
        </p:txBody>
      </p:sp>
      <p:sp>
        <p:nvSpPr>
          <p:cNvPr id="4" name="Slide Number Placeholder 3">
            <a:extLst>
              <a:ext uri="{FF2B5EF4-FFF2-40B4-BE49-F238E27FC236}">
                <a16:creationId xmlns:a16="http://schemas.microsoft.com/office/drawing/2014/main" id="{EB1D36F6-C0A1-5C8A-30B5-D877E6874472}"/>
              </a:ext>
            </a:extLst>
          </p:cNvPr>
          <p:cNvSpPr>
            <a:spLocks noGrp="1"/>
          </p:cNvSpPr>
          <p:nvPr>
            <p:ph type="sldNum" sz="quarter" idx="12"/>
          </p:nvPr>
        </p:nvSpPr>
        <p:spPr/>
        <p:txBody>
          <a:bodyPr/>
          <a:lstStyle/>
          <a:p>
            <a:fld id="{DC72F1D8-2572-467E-833F-FFF5D30AE895}" type="slidenum">
              <a:rPr lang="en-IN" smtClean="0"/>
              <a:t>20</a:t>
            </a:fld>
            <a:endParaRPr lang="en-IN"/>
          </a:p>
        </p:txBody>
      </p:sp>
    </p:spTree>
    <p:extLst>
      <p:ext uri="{BB962C8B-B14F-4D97-AF65-F5344CB8AC3E}">
        <p14:creationId xmlns:p14="http://schemas.microsoft.com/office/powerpoint/2010/main" val="3984349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14D5-E2A2-102E-94DB-CB17AE7230B7}"/>
              </a:ext>
            </a:extLst>
          </p:cNvPr>
          <p:cNvSpPr>
            <a:spLocks noGrp="1"/>
          </p:cNvSpPr>
          <p:nvPr>
            <p:ph type="title"/>
          </p:nvPr>
        </p:nvSpPr>
        <p:spPr>
          <a:xfrm>
            <a:off x="646111" y="452718"/>
            <a:ext cx="9404723" cy="1051617"/>
          </a:xfrm>
        </p:spPr>
        <p:txBody>
          <a:bodyPr/>
          <a:lstStyle/>
          <a:p>
            <a:r>
              <a:rPr lang="en-US" dirty="0"/>
              <a:t>Model selection for </a:t>
            </a:r>
            <a:br>
              <a:rPr lang="en-US" dirty="0"/>
            </a:br>
            <a:r>
              <a:rPr lang="en-US" dirty="0"/>
              <a:t>deployment - LSTM</a:t>
            </a:r>
            <a:br>
              <a:rPr lang="en-US" dirty="0"/>
            </a:br>
            <a:br>
              <a:rPr lang="en-US" dirty="0"/>
            </a:br>
            <a:br>
              <a:rPr lang="en-US" dirty="0"/>
            </a:br>
            <a:endParaRPr lang="en-IN" dirty="0"/>
          </a:p>
        </p:txBody>
      </p:sp>
      <p:sp>
        <p:nvSpPr>
          <p:cNvPr id="3" name="Content Placeholder 2">
            <a:extLst>
              <a:ext uri="{FF2B5EF4-FFF2-40B4-BE49-F238E27FC236}">
                <a16:creationId xmlns:a16="http://schemas.microsoft.com/office/drawing/2014/main" id="{83BEA08D-606A-ABAF-80C8-9470A5C8664C}"/>
              </a:ext>
            </a:extLst>
          </p:cNvPr>
          <p:cNvSpPr>
            <a:spLocks noGrp="1"/>
          </p:cNvSpPr>
          <p:nvPr>
            <p:ph idx="1"/>
          </p:nvPr>
        </p:nvSpPr>
        <p:spPr>
          <a:xfrm>
            <a:off x="646111" y="2408903"/>
            <a:ext cx="8946541" cy="5092943"/>
          </a:xfrm>
        </p:spPr>
        <p:txBody>
          <a:bodyPr/>
          <a:lstStyle/>
          <a:p>
            <a:r>
              <a:rPr lang="en-US" dirty="0"/>
              <a:t>Even if RMSE/MAE is slightly worse in historical testing, the LSTM can perform better when new unseen patterns appear in the future, especially if the time series could become more complex</a:t>
            </a:r>
          </a:p>
          <a:p>
            <a:r>
              <a:rPr lang="en-US" dirty="0"/>
              <a:t>Generalization capability- LSTM models are better at learning temporal dependencies and adapting to changes in patterns over time</a:t>
            </a:r>
          </a:p>
          <a:p>
            <a:r>
              <a:rPr lang="en-US" dirty="0"/>
              <a:t>Traditional models like MA or ARIMA can degrade in accuracy when forecasting far ahead, whereas LSTM can maintain reasonable performance over longer forecast horizons</a:t>
            </a:r>
            <a:endParaRPr lang="en-IN" dirty="0"/>
          </a:p>
        </p:txBody>
      </p:sp>
      <p:sp>
        <p:nvSpPr>
          <p:cNvPr id="4" name="Slide Number Placeholder 3">
            <a:extLst>
              <a:ext uri="{FF2B5EF4-FFF2-40B4-BE49-F238E27FC236}">
                <a16:creationId xmlns:a16="http://schemas.microsoft.com/office/drawing/2014/main" id="{070E7BA8-A970-9C66-28AD-409D58B02F33}"/>
              </a:ext>
            </a:extLst>
          </p:cNvPr>
          <p:cNvSpPr>
            <a:spLocks noGrp="1"/>
          </p:cNvSpPr>
          <p:nvPr>
            <p:ph type="sldNum" sz="quarter" idx="12"/>
          </p:nvPr>
        </p:nvSpPr>
        <p:spPr/>
        <p:txBody>
          <a:bodyPr/>
          <a:lstStyle/>
          <a:p>
            <a:fld id="{DC72F1D8-2572-467E-833F-FFF5D30AE895}" type="slidenum">
              <a:rPr lang="en-IN" smtClean="0"/>
              <a:t>21</a:t>
            </a:fld>
            <a:endParaRPr lang="en-IN"/>
          </a:p>
        </p:txBody>
      </p:sp>
    </p:spTree>
    <p:extLst>
      <p:ext uri="{BB962C8B-B14F-4D97-AF65-F5344CB8AC3E}">
        <p14:creationId xmlns:p14="http://schemas.microsoft.com/office/powerpoint/2010/main" val="3784893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F541-3C92-3059-0AA4-9055FBE3F899}"/>
              </a:ext>
            </a:extLst>
          </p:cNvPr>
          <p:cNvSpPr>
            <a:spLocks noGrp="1"/>
          </p:cNvSpPr>
          <p:nvPr>
            <p:ph type="title"/>
          </p:nvPr>
        </p:nvSpPr>
        <p:spPr/>
        <p:txBody>
          <a:bodyPr/>
          <a:lstStyle/>
          <a:p>
            <a:r>
              <a:rPr lang="en-US" dirty="0"/>
              <a:t>Deployment using </a:t>
            </a:r>
            <a:r>
              <a:rPr lang="en-US" dirty="0" err="1"/>
              <a:t>Streamlit</a:t>
            </a:r>
            <a:endParaRPr lang="en-IN" dirty="0"/>
          </a:p>
        </p:txBody>
      </p:sp>
      <p:pic>
        <p:nvPicPr>
          <p:cNvPr id="9" name="Content Placeholder 8">
            <a:extLst>
              <a:ext uri="{FF2B5EF4-FFF2-40B4-BE49-F238E27FC236}">
                <a16:creationId xmlns:a16="http://schemas.microsoft.com/office/drawing/2014/main" id="{E43C0175-82B5-74C7-9754-8091A84EA3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266" y="1417834"/>
            <a:ext cx="11047209" cy="4987448"/>
          </a:xfrm>
        </p:spPr>
      </p:pic>
      <p:sp>
        <p:nvSpPr>
          <p:cNvPr id="3" name="Slide Number Placeholder 2">
            <a:extLst>
              <a:ext uri="{FF2B5EF4-FFF2-40B4-BE49-F238E27FC236}">
                <a16:creationId xmlns:a16="http://schemas.microsoft.com/office/drawing/2014/main" id="{3F9D260A-BE60-D870-A774-0B98AE45A5A2}"/>
              </a:ext>
            </a:extLst>
          </p:cNvPr>
          <p:cNvSpPr>
            <a:spLocks noGrp="1"/>
          </p:cNvSpPr>
          <p:nvPr>
            <p:ph type="sldNum" sz="quarter" idx="12"/>
          </p:nvPr>
        </p:nvSpPr>
        <p:spPr/>
        <p:txBody>
          <a:bodyPr/>
          <a:lstStyle/>
          <a:p>
            <a:fld id="{DC72F1D8-2572-467E-833F-FFF5D30AE895}" type="slidenum">
              <a:rPr lang="en-IN" smtClean="0"/>
              <a:t>22</a:t>
            </a:fld>
            <a:endParaRPr lang="en-IN"/>
          </a:p>
        </p:txBody>
      </p:sp>
    </p:spTree>
    <p:extLst>
      <p:ext uri="{BB962C8B-B14F-4D97-AF65-F5344CB8AC3E}">
        <p14:creationId xmlns:p14="http://schemas.microsoft.com/office/powerpoint/2010/main" val="1880414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397E-11B9-20DF-6C3E-EDE85A931C2B}"/>
              </a:ext>
            </a:extLst>
          </p:cNvPr>
          <p:cNvSpPr>
            <a:spLocks noGrp="1"/>
          </p:cNvSpPr>
          <p:nvPr>
            <p:ph type="title"/>
          </p:nvPr>
        </p:nvSpPr>
        <p:spPr/>
        <p:txBody>
          <a:bodyPr/>
          <a:lstStyle/>
          <a:p>
            <a:endParaRPr lang="en-IN"/>
          </a:p>
        </p:txBody>
      </p:sp>
      <p:pic>
        <p:nvPicPr>
          <p:cNvPr id="13" name="Content Placeholder 12">
            <a:extLst>
              <a:ext uri="{FF2B5EF4-FFF2-40B4-BE49-F238E27FC236}">
                <a16:creationId xmlns:a16="http://schemas.microsoft.com/office/drawing/2014/main" id="{DA1C277D-D29F-239C-B4EA-0E94A731C0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027" y="554804"/>
            <a:ext cx="11689254" cy="5850478"/>
          </a:xfrm>
        </p:spPr>
      </p:pic>
      <p:sp>
        <p:nvSpPr>
          <p:cNvPr id="3" name="Slide Number Placeholder 2">
            <a:extLst>
              <a:ext uri="{FF2B5EF4-FFF2-40B4-BE49-F238E27FC236}">
                <a16:creationId xmlns:a16="http://schemas.microsoft.com/office/drawing/2014/main" id="{6A887D32-8EC2-ABA1-322B-119AC1A2075B}"/>
              </a:ext>
            </a:extLst>
          </p:cNvPr>
          <p:cNvSpPr>
            <a:spLocks noGrp="1"/>
          </p:cNvSpPr>
          <p:nvPr>
            <p:ph type="sldNum" sz="quarter" idx="12"/>
          </p:nvPr>
        </p:nvSpPr>
        <p:spPr/>
        <p:txBody>
          <a:bodyPr/>
          <a:lstStyle/>
          <a:p>
            <a:fld id="{DC72F1D8-2572-467E-833F-FFF5D30AE895}" type="slidenum">
              <a:rPr lang="en-IN" smtClean="0"/>
              <a:t>23</a:t>
            </a:fld>
            <a:endParaRPr lang="en-IN"/>
          </a:p>
        </p:txBody>
      </p:sp>
    </p:spTree>
    <p:extLst>
      <p:ext uri="{BB962C8B-B14F-4D97-AF65-F5344CB8AC3E}">
        <p14:creationId xmlns:p14="http://schemas.microsoft.com/office/powerpoint/2010/main" val="3725995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298C-1C37-3033-A243-F07F0822E5B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C5D784C-77D8-B0BC-FD3D-4681457AFC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2098" y="452719"/>
            <a:ext cx="9882948" cy="6035440"/>
          </a:xfrm>
        </p:spPr>
      </p:pic>
      <p:sp>
        <p:nvSpPr>
          <p:cNvPr id="6" name="Slide Number Placeholder 5">
            <a:extLst>
              <a:ext uri="{FF2B5EF4-FFF2-40B4-BE49-F238E27FC236}">
                <a16:creationId xmlns:a16="http://schemas.microsoft.com/office/drawing/2014/main" id="{963B3B6B-547E-AE87-6E31-D76EFC7B7A7D}"/>
              </a:ext>
            </a:extLst>
          </p:cNvPr>
          <p:cNvSpPr>
            <a:spLocks noGrp="1"/>
          </p:cNvSpPr>
          <p:nvPr>
            <p:ph type="sldNum" sz="quarter" idx="12"/>
          </p:nvPr>
        </p:nvSpPr>
        <p:spPr/>
        <p:txBody>
          <a:bodyPr/>
          <a:lstStyle/>
          <a:p>
            <a:fld id="{DC72F1D8-2572-467E-833F-FFF5D30AE895}" type="slidenum">
              <a:rPr lang="en-IN" smtClean="0"/>
              <a:t>24</a:t>
            </a:fld>
            <a:endParaRPr lang="en-IN"/>
          </a:p>
        </p:txBody>
      </p:sp>
    </p:spTree>
    <p:extLst>
      <p:ext uri="{BB962C8B-B14F-4D97-AF65-F5344CB8AC3E}">
        <p14:creationId xmlns:p14="http://schemas.microsoft.com/office/powerpoint/2010/main" val="3597508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6A154-7232-9A1A-BAC2-43741BE95217}"/>
              </a:ext>
            </a:extLst>
          </p:cNvPr>
          <p:cNvSpPr>
            <a:spLocks noGrp="1"/>
          </p:cNvSpPr>
          <p:nvPr>
            <p:ph type="title"/>
          </p:nvPr>
        </p:nvSpPr>
        <p:spPr/>
        <p:txBody>
          <a:bodyPr/>
          <a:lstStyle/>
          <a:p>
            <a:r>
              <a:rPr lang="en-IN" dirty="0"/>
              <a:t>Challenges faced</a:t>
            </a:r>
          </a:p>
        </p:txBody>
      </p:sp>
      <p:sp>
        <p:nvSpPr>
          <p:cNvPr id="3" name="Content Placeholder 2">
            <a:extLst>
              <a:ext uri="{FF2B5EF4-FFF2-40B4-BE49-F238E27FC236}">
                <a16:creationId xmlns:a16="http://schemas.microsoft.com/office/drawing/2014/main" id="{7845D1DB-19CF-8759-6BF5-03562C35267E}"/>
              </a:ext>
            </a:extLst>
          </p:cNvPr>
          <p:cNvSpPr>
            <a:spLocks noGrp="1"/>
          </p:cNvSpPr>
          <p:nvPr>
            <p:ph idx="1"/>
          </p:nvPr>
        </p:nvSpPr>
        <p:spPr>
          <a:xfrm>
            <a:off x="1103311" y="1700982"/>
            <a:ext cx="9404723" cy="4547418"/>
          </a:xfrm>
        </p:spPr>
        <p:txBody>
          <a:bodyPr>
            <a:normAutofit fontScale="92500" lnSpcReduction="10000"/>
          </a:bodyPr>
          <a:lstStyle/>
          <a:p>
            <a:r>
              <a:rPr lang="en-US" dirty="0"/>
              <a:t>Challenge: Handling strong seasonality and trends in the data.</a:t>
            </a:r>
          </a:p>
          <a:p>
            <a:pPr marL="0" indent="0">
              <a:buNone/>
            </a:pPr>
            <a:r>
              <a:rPr lang="en-US" dirty="0"/>
              <a:t>Solution: Applied seasonal decomposition and used models that explicitly account for seasonality (Holt-Winters, SARIMA, Prophet).</a:t>
            </a:r>
          </a:p>
          <a:p>
            <a:pPr marL="0" indent="0">
              <a:buNone/>
            </a:pPr>
            <a:endParaRPr lang="en-US" dirty="0"/>
          </a:p>
          <a:p>
            <a:r>
              <a:rPr lang="en-US" dirty="0"/>
              <a:t>Challenge: Selecting optimal parameters for each model.</a:t>
            </a:r>
          </a:p>
          <a:p>
            <a:pPr marL="0" indent="0">
              <a:buNone/>
            </a:pPr>
            <a:r>
              <a:rPr lang="en-US" dirty="0"/>
              <a:t>Solution: Used auto-ARIMA for ARIMA and SARIMA models and experimented with hyperparameters to improve accuracy.</a:t>
            </a:r>
          </a:p>
          <a:p>
            <a:pPr marL="0" indent="0">
              <a:buNone/>
            </a:pPr>
            <a:endParaRPr lang="en-US" dirty="0"/>
          </a:p>
          <a:p>
            <a:r>
              <a:rPr lang="en-US" b="1" dirty="0"/>
              <a:t>Model Convergence Issues</a:t>
            </a:r>
            <a:endParaRPr lang="en-US" dirty="0"/>
          </a:p>
          <a:p>
            <a:pPr marL="0" indent="0">
              <a:buNone/>
            </a:pPr>
            <a:r>
              <a:rPr lang="en-US" dirty="0"/>
              <a:t>Challenge: Holt-Winters and SARIMA sometimes failed to converge due to poor initial parameter estimates.</a:t>
            </a:r>
          </a:p>
          <a:p>
            <a:pPr marL="0" indent="0">
              <a:buNone/>
            </a:pPr>
            <a:r>
              <a:rPr lang="en-US" dirty="0"/>
              <a:t>Solution: Tried multiple initialization strategies and manually adjusted starting parameters.</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252D3A15-3BF8-3C4F-00D4-457BD3E231D5}"/>
              </a:ext>
            </a:extLst>
          </p:cNvPr>
          <p:cNvSpPr>
            <a:spLocks noGrp="1"/>
          </p:cNvSpPr>
          <p:nvPr>
            <p:ph type="sldNum" sz="quarter" idx="12"/>
          </p:nvPr>
        </p:nvSpPr>
        <p:spPr/>
        <p:txBody>
          <a:bodyPr/>
          <a:lstStyle/>
          <a:p>
            <a:fld id="{DC72F1D8-2572-467E-833F-FFF5D30AE895}" type="slidenum">
              <a:rPr lang="en-IN" smtClean="0"/>
              <a:t>25</a:t>
            </a:fld>
            <a:endParaRPr lang="en-IN"/>
          </a:p>
        </p:txBody>
      </p:sp>
    </p:spTree>
    <p:extLst>
      <p:ext uri="{BB962C8B-B14F-4D97-AF65-F5344CB8AC3E}">
        <p14:creationId xmlns:p14="http://schemas.microsoft.com/office/powerpoint/2010/main" val="3237806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584CF-D39E-0C3B-4D10-6D395ADF126F}"/>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F06D412-D9E6-F6EB-4228-9C045B5FCD4A}"/>
              </a:ext>
            </a:extLst>
          </p:cNvPr>
          <p:cNvSpPr>
            <a:spLocks noGrp="1"/>
          </p:cNvSpPr>
          <p:nvPr>
            <p:ph idx="1"/>
          </p:nvPr>
        </p:nvSpPr>
        <p:spPr/>
        <p:txBody>
          <a:bodyPr/>
          <a:lstStyle/>
          <a:p>
            <a:r>
              <a:rPr lang="en-US" dirty="0"/>
              <a:t>Moving Average surprisingly performed the best in both RMSE and MAE, meaning its simplicity worked well for this dataset</a:t>
            </a:r>
          </a:p>
          <a:p>
            <a:r>
              <a:rPr lang="en-US" dirty="0"/>
              <a:t>Prophet was the second-best, showing good seasonal capture and low errors</a:t>
            </a:r>
          </a:p>
          <a:p>
            <a:r>
              <a:rPr lang="en-US" dirty="0"/>
              <a:t>Holt-Winters performed the worst in this case, possibly due to its additive seasonality not matching the real data’s behavior</a:t>
            </a:r>
            <a:endParaRPr lang="en-IN" dirty="0"/>
          </a:p>
        </p:txBody>
      </p:sp>
      <p:sp>
        <p:nvSpPr>
          <p:cNvPr id="4" name="Slide Number Placeholder 3">
            <a:extLst>
              <a:ext uri="{FF2B5EF4-FFF2-40B4-BE49-F238E27FC236}">
                <a16:creationId xmlns:a16="http://schemas.microsoft.com/office/drawing/2014/main" id="{16A69AEC-0B69-96EC-D2E1-10350BF2D9A9}"/>
              </a:ext>
            </a:extLst>
          </p:cNvPr>
          <p:cNvSpPr>
            <a:spLocks noGrp="1"/>
          </p:cNvSpPr>
          <p:nvPr>
            <p:ph type="sldNum" sz="quarter" idx="12"/>
          </p:nvPr>
        </p:nvSpPr>
        <p:spPr/>
        <p:txBody>
          <a:bodyPr/>
          <a:lstStyle/>
          <a:p>
            <a:fld id="{DC72F1D8-2572-467E-833F-FFF5D30AE895}" type="slidenum">
              <a:rPr lang="en-IN" smtClean="0"/>
              <a:t>26</a:t>
            </a:fld>
            <a:endParaRPr lang="en-IN"/>
          </a:p>
        </p:txBody>
      </p:sp>
    </p:spTree>
    <p:extLst>
      <p:ext uri="{BB962C8B-B14F-4D97-AF65-F5344CB8AC3E}">
        <p14:creationId xmlns:p14="http://schemas.microsoft.com/office/powerpoint/2010/main" val="461660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F701E-53CA-0F5B-4F62-9270F0C7AE4E}"/>
              </a:ext>
            </a:extLst>
          </p:cNvPr>
          <p:cNvSpPr>
            <a:spLocks noGrp="1"/>
          </p:cNvSpPr>
          <p:nvPr>
            <p:ph type="title"/>
          </p:nvPr>
        </p:nvSpPr>
        <p:spPr/>
        <p:txBody>
          <a:bodyPr/>
          <a:lstStyle/>
          <a:p>
            <a:r>
              <a:rPr lang="en-US" dirty="0"/>
              <a:t>Thank you</a:t>
            </a:r>
            <a:endParaRPr lang="en-IN" dirty="0"/>
          </a:p>
        </p:txBody>
      </p:sp>
      <p:sp>
        <p:nvSpPr>
          <p:cNvPr id="3" name="Content Placeholder 2">
            <a:extLst>
              <a:ext uri="{FF2B5EF4-FFF2-40B4-BE49-F238E27FC236}">
                <a16:creationId xmlns:a16="http://schemas.microsoft.com/office/drawing/2014/main" id="{3645A3C8-D64B-1988-E5CF-8E1A7A2239B5}"/>
              </a:ext>
            </a:extLst>
          </p:cNvPr>
          <p:cNvSpPr>
            <a:spLocks noGrp="1"/>
          </p:cNvSpPr>
          <p:nvPr>
            <p:ph idx="1"/>
          </p:nvPr>
        </p:nvSpPr>
        <p:spPr>
          <a:xfrm>
            <a:off x="875201" y="2094015"/>
            <a:ext cx="8946541" cy="4195481"/>
          </a:xfrm>
        </p:spPr>
        <p:txBody>
          <a:bodyPr/>
          <a:lstStyle/>
          <a:p>
            <a:r>
              <a:rPr lang="en-US" b="1" dirty="0"/>
              <a:t>Thank you for your time and attention!</a:t>
            </a:r>
            <a:br>
              <a:rPr lang="en-US" dirty="0"/>
            </a:br>
            <a:r>
              <a:rPr lang="en-US" dirty="0"/>
              <a:t>We look forward to your feedback and suggestions.</a:t>
            </a:r>
            <a:endParaRPr lang="en-IN" dirty="0"/>
          </a:p>
        </p:txBody>
      </p:sp>
      <p:sp>
        <p:nvSpPr>
          <p:cNvPr id="4" name="Slide Number Placeholder 3">
            <a:extLst>
              <a:ext uri="{FF2B5EF4-FFF2-40B4-BE49-F238E27FC236}">
                <a16:creationId xmlns:a16="http://schemas.microsoft.com/office/drawing/2014/main" id="{14F6F264-3EA7-417A-18F6-1CA8959B51B9}"/>
              </a:ext>
            </a:extLst>
          </p:cNvPr>
          <p:cNvSpPr>
            <a:spLocks noGrp="1"/>
          </p:cNvSpPr>
          <p:nvPr>
            <p:ph type="sldNum" sz="quarter" idx="12"/>
          </p:nvPr>
        </p:nvSpPr>
        <p:spPr/>
        <p:txBody>
          <a:bodyPr/>
          <a:lstStyle/>
          <a:p>
            <a:fld id="{DC72F1D8-2572-467E-833F-FFF5D30AE895}" type="slidenum">
              <a:rPr lang="en-IN" smtClean="0"/>
              <a:t>27</a:t>
            </a:fld>
            <a:endParaRPr lang="en-IN"/>
          </a:p>
        </p:txBody>
      </p:sp>
    </p:spTree>
    <p:extLst>
      <p:ext uri="{BB962C8B-B14F-4D97-AF65-F5344CB8AC3E}">
        <p14:creationId xmlns:p14="http://schemas.microsoft.com/office/powerpoint/2010/main" val="3588409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222</TotalTime>
  <Words>1622</Words>
  <Application>Microsoft Office PowerPoint</Application>
  <PresentationFormat>Widescreen</PresentationFormat>
  <Paragraphs>163</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Century Gothic</vt:lpstr>
      <vt:lpstr>Times New Roman</vt:lpstr>
      <vt:lpstr>Wingdings 3</vt:lpstr>
      <vt:lpstr>Ion</vt:lpstr>
      <vt:lpstr>Hourly Energy Consumption Forecast  (P-562)</vt:lpstr>
      <vt:lpstr>PowerPoint Presentation</vt:lpstr>
      <vt:lpstr>Objective</vt:lpstr>
      <vt:lpstr>Dataset details</vt:lpstr>
      <vt:lpstr>Exploratory Data Analysis</vt:lpstr>
      <vt:lpstr>Data Visualization</vt:lpstr>
      <vt:lpstr>PowerPoint Presentation</vt:lpstr>
      <vt:lpstr>PowerPoint Presentation</vt:lpstr>
      <vt:lpstr>Compared average power consumption across day/night hours, weekdays, and months to reveal daily, weekly, and seasonal usage patterns</vt:lpstr>
      <vt:lpstr>Insights</vt:lpstr>
      <vt:lpstr>Resampled data to monthly averages to visualize long-term energy consumption trends from 2002–2018</vt:lpstr>
      <vt:lpstr>Compared hourly power consumption patterns on various holidays against average days to highlight demand variations  Major holidays like Christmas and New Year's Day show significantly lower consumption, especially during morning and evening peaks, reflecting reduced industrial activity and altered residential behavior.  Super Bowl Sunday exhibits a sharp evening spike, likely due to increased residential usage during game time  (TVs, cooking, lighting).  Weekday holidays such as Labor Day and Columbus  Day closely resemble average day patterns, suggesting  minimal disruption to routine energy demand.  Independence Day shows a midday dip followed by a mild evening rise, possibly due to outdoor celebrations shifting energy use away from homes.  Mother’s Day and Father’s Day align closely with average consumption, indicating these holidays have minimal impact on overall power usage. </vt:lpstr>
      <vt:lpstr>Plotted seasonal power consumption trends over the years to capture seasonal demand fluctuations </vt:lpstr>
      <vt:lpstr>Insights</vt:lpstr>
      <vt:lpstr>Model building- Deep learning models </vt:lpstr>
      <vt:lpstr>PowerPoint Presentation</vt:lpstr>
      <vt:lpstr>PowerPoint Presentation</vt:lpstr>
      <vt:lpstr>3. ARIMA model</vt:lpstr>
      <vt:lpstr>5. Moving average method</vt:lpstr>
      <vt:lpstr>Model evaluation</vt:lpstr>
      <vt:lpstr>Model selection for  deployment - LSTM   </vt:lpstr>
      <vt:lpstr>Deployment using Streamlit</vt:lpstr>
      <vt:lpstr>PowerPoint Presentation</vt:lpstr>
      <vt:lpstr>PowerPoint Presentation</vt:lpstr>
      <vt:lpstr>Challenges faced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Smrithi Radhakrishnan</dc:creator>
  <cp:lastModifiedBy>Smrithi Radhakrishnan</cp:lastModifiedBy>
  <cp:revision>7</cp:revision>
  <dcterms:created xsi:type="dcterms:W3CDTF">2025-08-13T12:39:02Z</dcterms:created>
  <dcterms:modified xsi:type="dcterms:W3CDTF">2025-08-15T07:05:44Z</dcterms:modified>
</cp:coreProperties>
</file>