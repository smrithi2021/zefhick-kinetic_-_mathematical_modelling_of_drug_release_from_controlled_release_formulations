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sldIdLst>
    <p:sldId id="256" r:id="rId2"/>
    <p:sldId id="260" r:id="rId3"/>
    <p:sldId id="261" r:id="rId4"/>
    <p:sldId id="259" r:id="rId5"/>
    <p:sldId id="264" r:id="rId6"/>
    <p:sldId id="301" r:id="rId7"/>
    <p:sldId id="266" r:id="rId8"/>
    <p:sldId id="302" r:id="rId9"/>
    <p:sldId id="303" r:id="rId10"/>
    <p:sldId id="294" r:id="rId11"/>
    <p:sldId id="275" r:id="rId12"/>
    <p:sldId id="267" r:id="rId13"/>
    <p:sldId id="268" r:id="rId14"/>
    <p:sldId id="296" r:id="rId15"/>
    <p:sldId id="269" r:id="rId16"/>
    <p:sldId id="277" r:id="rId17"/>
    <p:sldId id="279" r:id="rId18"/>
    <p:sldId id="282" r:id="rId19"/>
    <p:sldId id="270" r:id="rId20"/>
    <p:sldId id="291" r:id="rId21"/>
    <p:sldId id="285" r:id="rId22"/>
    <p:sldId id="286" r:id="rId23"/>
    <p:sldId id="271" r:id="rId24"/>
    <p:sldId id="287" r:id="rId25"/>
    <p:sldId id="288" r:id="rId26"/>
    <p:sldId id="289" r:id="rId27"/>
    <p:sldId id="272" r:id="rId28"/>
    <p:sldId id="283" r:id="rId29"/>
    <p:sldId id="284" r:id="rId30"/>
    <p:sldId id="30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32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A5ACE1-D3CC-4F56-A4FA-72A934E03F8A}"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IN"/>
        </a:p>
      </dgm:t>
    </dgm:pt>
    <dgm:pt modelId="{7CDF8A99-FD25-496F-9180-21B76F4CD46F}">
      <dgm:prSet phldrT="[Text]"/>
      <dgm:spPr/>
      <dgm:t>
        <a:bodyPr/>
        <a:lstStyle/>
        <a:p>
          <a:r>
            <a:rPr lang="en-IN" dirty="0"/>
            <a:t>TCGA-BRCA RNA-</a:t>
          </a:r>
          <a:r>
            <a:rPr lang="en-IN" dirty="0" err="1"/>
            <a:t>seq</a:t>
          </a:r>
          <a:r>
            <a:rPr lang="en-IN" dirty="0"/>
            <a:t> Data</a:t>
          </a:r>
        </a:p>
      </dgm:t>
    </dgm:pt>
    <dgm:pt modelId="{76574046-8ABF-4FB7-9633-D96E157F2E52}" type="parTrans" cxnId="{D56F625E-3B19-4F52-8AB3-14E221C9B743}">
      <dgm:prSet/>
      <dgm:spPr/>
      <dgm:t>
        <a:bodyPr/>
        <a:lstStyle/>
        <a:p>
          <a:endParaRPr lang="en-IN"/>
        </a:p>
      </dgm:t>
    </dgm:pt>
    <dgm:pt modelId="{28DC0868-F5E3-4678-812B-F6D659EBC96D}" type="sibTrans" cxnId="{D56F625E-3B19-4F52-8AB3-14E221C9B743}">
      <dgm:prSet/>
      <dgm:spPr/>
      <dgm:t>
        <a:bodyPr/>
        <a:lstStyle/>
        <a:p>
          <a:endParaRPr lang="en-IN"/>
        </a:p>
      </dgm:t>
    </dgm:pt>
    <dgm:pt modelId="{98378ECD-BA32-4769-AE11-5D20F25421A0}">
      <dgm:prSet phldrT="[Text]"/>
      <dgm:spPr/>
      <dgm:t>
        <a:bodyPr/>
        <a:lstStyle/>
        <a:p>
          <a:r>
            <a:rPr lang="en-IN" dirty="0"/>
            <a:t>Preprocessing &amp; Feature Alignment</a:t>
          </a:r>
        </a:p>
      </dgm:t>
    </dgm:pt>
    <dgm:pt modelId="{32B5D4A9-4126-4B66-A128-7366DADD8EFD}" type="parTrans" cxnId="{F4AD2EE8-9100-4CBB-8F52-5366AF440B4A}">
      <dgm:prSet/>
      <dgm:spPr/>
      <dgm:t>
        <a:bodyPr/>
        <a:lstStyle/>
        <a:p>
          <a:endParaRPr lang="en-IN"/>
        </a:p>
      </dgm:t>
    </dgm:pt>
    <dgm:pt modelId="{4C4DB8C3-8F01-4A6C-B904-984F2BF034AA}" type="sibTrans" cxnId="{F4AD2EE8-9100-4CBB-8F52-5366AF440B4A}">
      <dgm:prSet/>
      <dgm:spPr/>
      <dgm:t>
        <a:bodyPr/>
        <a:lstStyle/>
        <a:p>
          <a:endParaRPr lang="en-IN"/>
        </a:p>
      </dgm:t>
    </dgm:pt>
    <dgm:pt modelId="{9E02AE53-F5B1-4799-9E9A-87B51FBB736B}">
      <dgm:prSet phldrT="[Text]"/>
      <dgm:spPr/>
      <dgm:t>
        <a:bodyPr/>
        <a:lstStyle/>
        <a:p>
          <a:r>
            <a:rPr lang="en-IN" dirty="0" err="1"/>
            <a:t>XGBoost</a:t>
          </a:r>
          <a:r>
            <a:rPr lang="en-IN" dirty="0"/>
            <a:t> PAM50 Subtype Classifier</a:t>
          </a:r>
        </a:p>
      </dgm:t>
    </dgm:pt>
    <dgm:pt modelId="{25C08BAF-27DC-455D-9957-875F5C27499D}" type="parTrans" cxnId="{509A2247-F5EF-475B-98E7-1F528233D272}">
      <dgm:prSet/>
      <dgm:spPr/>
      <dgm:t>
        <a:bodyPr/>
        <a:lstStyle/>
        <a:p>
          <a:endParaRPr lang="en-IN"/>
        </a:p>
      </dgm:t>
    </dgm:pt>
    <dgm:pt modelId="{99A11818-1BFB-4539-AAAE-060A54F19783}" type="sibTrans" cxnId="{509A2247-F5EF-475B-98E7-1F528233D272}">
      <dgm:prSet/>
      <dgm:spPr/>
      <dgm:t>
        <a:bodyPr/>
        <a:lstStyle/>
        <a:p>
          <a:endParaRPr lang="en-IN"/>
        </a:p>
      </dgm:t>
    </dgm:pt>
    <dgm:pt modelId="{6DA6453A-E821-49AF-ACA3-B8B75D9989A2}">
      <dgm:prSet phldrT="[Text]"/>
      <dgm:spPr/>
      <dgm:t>
        <a:bodyPr/>
        <a:lstStyle/>
        <a:p>
          <a:r>
            <a:rPr lang="en-IN" dirty="0"/>
            <a:t>Subtype Prediction + Probabilities</a:t>
          </a:r>
        </a:p>
      </dgm:t>
    </dgm:pt>
    <dgm:pt modelId="{8292FC31-CB23-44A0-AC6D-F965D142C1F0}" type="parTrans" cxnId="{FF78EF39-2603-462B-8A53-E3B6ABD6CB45}">
      <dgm:prSet/>
      <dgm:spPr/>
      <dgm:t>
        <a:bodyPr/>
        <a:lstStyle/>
        <a:p>
          <a:endParaRPr lang="en-IN"/>
        </a:p>
      </dgm:t>
    </dgm:pt>
    <dgm:pt modelId="{5B6D079F-03F1-4BAA-A023-3E609D02CB32}" type="sibTrans" cxnId="{FF78EF39-2603-462B-8A53-E3B6ABD6CB45}">
      <dgm:prSet/>
      <dgm:spPr/>
      <dgm:t>
        <a:bodyPr/>
        <a:lstStyle/>
        <a:p>
          <a:endParaRPr lang="en-IN"/>
        </a:p>
      </dgm:t>
    </dgm:pt>
    <dgm:pt modelId="{EA6B24D9-2EA9-4A15-A1B9-9165E19ADC74}">
      <dgm:prSet phldrT="[Text]"/>
      <dgm:spPr/>
      <dgm:t>
        <a:bodyPr/>
        <a:lstStyle/>
        <a:p>
          <a:r>
            <a:rPr lang="en-IN" dirty="0"/>
            <a:t>Interpretability-Oriented Explanation Layer </a:t>
          </a:r>
        </a:p>
        <a:p>
          <a:r>
            <a:rPr lang="en-IN" dirty="0"/>
            <a:t>(Feature-aware reasoning)</a:t>
          </a:r>
        </a:p>
      </dgm:t>
    </dgm:pt>
    <dgm:pt modelId="{CDA9DFAB-116B-4B57-BAAF-A5CA9DEDE900}" type="parTrans" cxnId="{A7940F51-3C05-4EC1-A15E-75A4017DA0BE}">
      <dgm:prSet/>
      <dgm:spPr/>
      <dgm:t>
        <a:bodyPr/>
        <a:lstStyle/>
        <a:p>
          <a:endParaRPr lang="en-IN"/>
        </a:p>
      </dgm:t>
    </dgm:pt>
    <dgm:pt modelId="{557B27C7-D2D5-4026-98ED-A7F14BE900BA}" type="sibTrans" cxnId="{A7940F51-3C05-4EC1-A15E-75A4017DA0BE}">
      <dgm:prSet/>
      <dgm:spPr/>
      <dgm:t>
        <a:bodyPr/>
        <a:lstStyle/>
        <a:p>
          <a:endParaRPr lang="en-IN"/>
        </a:p>
      </dgm:t>
    </dgm:pt>
    <dgm:pt modelId="{8EE85D80-FFEE-4BBC-AF97-297183577E1D}">
      <dgm:prSet phldrT="[Text]"/>
      <dgm:spPr/>
      <dgm:t>
        <a:bodyPr/>
        <a:lstStyle/>
        <a:p>
          <a:r>
            <a:rPr lang="en-IN" dirty="0"/>
            <a:t>RAG Knowledge Retrieval</a:t>
          </a:r>
        </a:p>
        <a:p>
          <a:r>
            <a:rPr lang="en-IN" dirty="0"/>
            <a:t>(Oncology literature + subtype biology)</a:t>
          </a:r>
        </a:p>
      </dgm:t>
    </dgm:pt>
    <dgm:pt modelId="{471BEA1C-9144-4242-BCD7-7980DD64248B}" type="parTrans" cxnId="{E7C82DD9-C599-4B82-B9EF-508F84529CB0}">
      <dgm:prSet/>
      <dgm:spPr/>
      <dgm:t>
        <a:bodyPr/>
        <a:lstStyle/>
        <a:p>
          <a:endParaRPr lang="en-IN"/>
        </a:p>
      </dgm:t>
    </dgm:pt>
    <dgm:pt modelId="{949BE124-FDF4-4695-BBA2-3ED83018245C}" type="sibTrans" cxnId="{E7C82DD9-C599-4B82-B9EF-508F84529CB0}">
      <dgm:prSet/>
      <dgm:spPr/>
      <dgm:t>
        <a:bodyPr/>
        <a:lstStyle/>
        <a:p>
          <a:endParaRPr lang="en-IN"/>
        </a:p>
      </dgm:t>
    </dgm:pt>
    <dgm:pt modelId="{C0DA7B05-ECB3-4057-8DF4-DC5938C79134}">
      <dgm:prSet phldrT="[Text]"/>
      <dgm:spPr/>
      <dgm:t>
        <a:bodyPr/>
        <a:lstStyle/>
        <a:p>
          <a:r>
            <a:rPr lang="en-IN" dirty="0"/>
            <a:t>LLM Reasoning for Biological Interpretation (Gemma via Ollama)</a:t>
          </a:r>
        </a:p>
      </dgm:t>
    </dgm:pt>
    <dgm:pt modelId="{F41F80ED-A314-4393-BBE8-DE62AF13588C}" type="parTrans" cxnId="{FDAEF2C9-9839-4E3E-B26D-3AD9C38DE1FA}">
      <dgm:prSet/>
      <dgm:spPr/>
      <dgm:t>
        <a:bodyPr/>
        <a:lstStyle/>
        <a:p>
          <a:endParaRPr lang="en-IN"/>
        </a:p>
      </dgm:t>
    </dgm:pt>
    <dgm:pt modelId="{65B0CB26-F2FF-47F9-B6B6-E0F640C3E574}" type="sibTrans" cxnId="{FDAEF2C9-9839-4E3E-B26D-3AD9C38DE1FA}">
      <dgm:prSet/>
      <dgm:spPr/>
      <dgm:t>
        <a:bodyPr/>
        <a:lstStyle/>
        <a:p>
          <a:endParaRPr lang="en-IN"/>
        </a:p>
      </dgm:t>
    </dgm:pt>
    <dgm:pt modelId="{31F77653-E3FF-4BE3-A9BC-CBC1AA73AF34}">
      <dgm:prSet phldrT="[Text]"/>
      <dgm:spPr/>
      <dgm:t>
        <a:bodyPr/>
        <a:lstStyle/>
        <a:p>
          <a:r>
            <a:rPr lang="en-IN" dirty="0"/>
            <a:t>Agent-Based Explanation Interface (Query Routing &amp; Explanation Logic)</a:t>
          </a:r>
        </a:p>
      </dgm:t>
    </dgm:pt>
    <dgm:pt modelId="{36531E2D-9AD0-4E6F-A488-D15FAFF38EFB}" type="parTrans" cxnId="{65075A9B-247F-4E62-8F74-55B5EDC0C077}">
      <dgm:prSet/>
      <dgm:spPr/>
      <dgm:t>
        <a:bodyPr/>
        <a:lstStyle/>
        <a:p>
          <a:endParaRPr lang="en-IN"/>
        </a:p>
      </dgm:t>
    </dgm:pt>
    <dgm:pt modelId="{4F74F65D-40CD-42BA-B761-C9CA42271DAD}" type="sibTrans" cxnId="{65075A9B-247F-4E62-8F74-55B5EDC0C077}">
      <dgm:prSet/>
      <dgm:spPr/>
      <dgm:t>
        <a:bodyPr/>
        <a:lstStyle/>
        <a:p>
          <a:endParaRPr lang="en-IN"/>
        </a:p>
      </dgm:t>
    </dgm:pt>
    <dgm:pt modelId="{4A106CF0-F819-4B67-858D-885EF37226DC}">
      <dgm:prSet phldrT="[Text]"/>
      <dgm:spPr/>
      <dgm:t>
        <a:bodyPr/>
        <a:lstStyle/>
        <a:p>
          <a:r>
            <a:rPr lang="en-IN" dirty="0"/>
            <a:t>Conversational Explanation Interface (</a:t>
          </a:r>
          <a:r>
            <a:rPr lang="en-IN" dirty="0" err="1"/>
            <a:t>Streamlit</a:t>
          </a:r>
          <a:r>
            <a:rPr lang="en-IN" dirty="0"/>
            <a:t> Web Interface)</a:t>
          </a:r>
        </a:p>
      </dgm:t>
    </dgm:pt>
    <dgm:pt modelId="{358F83A5-75C3-4DF8-AA16-ED0A412DC6FD}" type="parTrans" cxnId="{79F96179-2ED1-41E3-8FC9-BB7E920EB602}">
      <dgm:prSet/>
      <dgm:spPr/>
      <dgm:t>
        <a:bodyPr/>
        <a:lstStyle/>
        <a:p>
          <a:endParaRPr lang="en-IN"/>
        </a:p>
      </dgm:t>
    </dgm:pt>
    <dgm:pt modelId="{E4D96D9E-A58E-4B6D-8FC5-27AA33726B42}" type="sibTrans" cxnId="{79F96179-2ED1-41E3-8FC9-BB7E920EB602}">
      <dgm:prSet/>
      <dgm:spPr/>
      <dgm:t>
        <a:bodyPr/>
        <a:lstStyle/>
        <a:p>
          <a:endParaRPr lang="en-IN"/>
        </a:p>
      </dgm:t>
    </dgm:pt>
    <dgm:pt modelId="{799ED320-E683-46CB-BA90-641C27E741CA}" type="pres">
      <dgm:prSet presAssocID="{3CA5ACE1-D3CC-4F56-A4FA-72A934E03F8A}" presName="Name0" presStyleCnt="0">
        <dgm:presLayoutVars>
          <dgm:dir/>
          <dgm:resizeHandles/>
        </dgm:presLayoutVars>
      </dgm:prSet>
      <dgm:spPr/>
    </dgm:pt>
    <dgm:pt modelId="{8699D182-A424-44B7-AFCA-BFF72D58D240}" type="pres">
      <dgm:prSet presAssocID="{7CDF8A99-FD25-496F-9180-21B76F4CD46F}" presName="compNode" presStyleCnt="0"/>
      <dgm:spPr/>
    </dgm:pt>
    <dgm:pt modelId="{E5E1C86A-35DC-40E3-ADCC-47C87926A78A}" type="pres">
      <dgm:prSet presAssocID="{7CDF8A99-FD25-496F-9180-21B76F4CD46F}" presName="dummyConnPt" presStyleCnt="0"/>
      <dgm:spPr/>
    </dgm:pt>
    <dgm:pt modelId="{CDFC0AB1-C127-40BA-A6BC-72D24338E15F}" type="pres">
      <dgm:prSet presAssocID="{7CDF8A99-FD25-496F-9180-21B76F4CD46F}" presName="node" presStyleLbl="node1" presStyleIdx="0" presStyleCnt="9">
        <dgm:presLayoutVars>
          <dgm:bulletEnabled val="1"/>
        </dgm:presLayoutVars>
      </dgm:prSet>
      <dgm:spPr/>
    </dgm:pt>
    <dgm:pt modelId="{F00D2143-9E75-446D-836A-D3006B3354DF}" type="pres">
      <dgm:prSet presAssocID="{28DC0868-F5E3-4678-812B-F6D659EBC96D}" presName="sibTrans" presStyleLbl="bgSibTrans2D1" presStyleIdx="0" presStyleCnt="8"/>
      <dgm:spPr/>
    </dgm:pt>
    <dgm:pt modelId="{B788A0F7-3C90-4D6C-94F5-47BEAB233503}" type="pres">
      <dgm:prSet presAssocID="{98378ECD-BA32-4769-AE11-5D20F25421A0}" presName="compNode" presStyleCnt="0"/>
      <dgm:spPr/>
    </dgm:pt>
    <dgm:pt modelId="{D99EC65D-F452-45F5-A713-796AF7B8282D}" type="pres">
      <dgm:prSet presAssocID="{98378ECD-BA32-4769-AE11-5D20F25421A0}" presName="dummyConnPt" presStyleCnt="0"/>
      <dgm:spPr/>
    </dgm:pt>
    <dgm:pt modelId="{DE98D852-E177-4EB0-A0FD-F9C64068925F}" type="pres">
      <dgm:prSet presAssocID="{98378ECD-BA32-4769-AE11-5D20F25421A0}" presName="node" presStyleLbl="node1" presStyleIdx="1" presStyleCnt="9">
        <dgm:presLayoutVars>
          <dgm:bulletEnabled val="1"/>
        </dgm:presLayoutVars>
      </dgm:prSet>
      <dgm:spPr/>
    </dgm:pt>
    <dgm:pt modelId="{01648214-BF7B-4D6F-B0C1-E0EE019D42E7}" type="pres">
      <dgm:prSet presAssocID="{4C4DB8C3-8F01-4A6C-B904-984F2BF034AA}" presName="sibTrans" presStyleLbl="bgSibTrans2D1" presStyleIdx="1" presStyleCnt="8"/>
      <dgm:spPr/>
    </dgm:pt>
    <dgm:pt modelId="{9C0703CF-F57B-4540-BE7B-B82A4BFDD7F6}" type="pres">
      <dgm:prSet presAssocID="{9E02AE53-F5B1-4799-9E9A-87B51FBB736B}" presName="compNode" presStyleCnt="0"/>
      <dgm:spPr/>
    </dgm:pt>
    <dgm:pt modelId="{0FAB9935-38AC-4695-B8EB-33BFC8200272}" type="pres">
      <dgm:prSet presAssocID="{9E02AE53-F5B1-4799-9E9A-87B51FBB736B}" presName="dummyConnPt" presStyleCnt="0"/>
      <dgm:spPr/>
    </dgm:pt>
    <dgm:pt modelId="{C055604A-6F93-497F-BE3E-F2355AD775C6}" type="pres">
      <dgm:prSet presAssocID="{9E02AE53-F5B1-4799-9E9A-87B51FBB736B}" presName="node" presStyleLbl="node1" presStyleIdx="2" presStyleCnt="9">
        <dgm:presLayoutVars>
          <dgm:bulletEnabled val="1"/>
        </dgm:presLayoutVars>
      </dgm:prSet>
      <dgm:spPr/>
    </dgm:pt>
    <dgm:pt modelId="{61673C86-0F09-4F58-B106-994814E153BD}" type="pres">
      <dgm:prSet presAssocID="{99A11818-1BFB-4539-AAAE-060A54F19783}" presName="sibTrans" presStyleLbl="bgSibTrans2D1" presStyleIdx="2" presStyleCnt="8"/>
      <dgm:spPr/>
    </dgm:pt>
    <dgm:pt modelId="{A506D970-F49A-486B-8911-27FEFBD6E2FC}" type="pres">
      <dgm:prSet presAssocID="{6DA6453A-E821-49AF-ACA3-B8B75D9989A2}" presName="compNode" presStyleCnt="0"/>
      <dgm:spPr/>
    </dgm:pt>
    <dgm:pt modelId="{BC50A2D7-2227-4879-ACD2-97DA5A82689A}" type="pres">
      <dgm:prSet presAssocID="{6DA6453A-E821-49AF-ACA3-B8B75D9989A2}" presName="dummyConnPt" presStyleCnt="0"/>
      <dgm:spPr/>
    </dgm:pt>
    <dgm:pt modelId="{D00AD4E0-59C2-4934-BEC3-A7C3F7DB9E2E}" type="pres">
      <dgm:prSet presAssocID="{6DA6453A-E821-49AF-ACA3-B8B75D9989A2}" presName="node" presStyleLbl="node1" presStyleIdx="3" presStyleCnt="9">
        <dgm:presLayoutVars>
          <dgm:bulletEnabled val="1"/>
        </dgm:presLayoutVars>
      </dgm:prSet>
      <dgm:spPr/>
    </dgm:pt>
    <dgm:pt modelId="{95C0F8E3-EDF2-4113-8F34-C92EFB36ECDA}" type="pres">
      <dgm:prSet presAssocID="{5B6D079F-03F1-4BAA-A023-3E609D02CB32}" presName="sibTrans" presStyleLbl="bgSibTrans2D1" presStyleIdx="3" presStyleCnt="8"/>
      <dgm:spPr/>
    </dgm:pt>
    <dgm:pt modelId="{F7036DAE-AA63-4F88-B209-CEC4EAF2D4B3}" type="pres">
      <dgm:prSet presAssocID="{EA6B24D9-2EA9-4A15-A1B9-9165E19ADC74}" presName="compNode" presStyleCnt="0"/>
      <dgm:spPr/>
    </dgm:pt>
    <dgm:pt modelId="{D7475132-7145-41A8-9DB4-81DEFB726C20}" type="pres">
      <dgm:prSet presAssocID="{EA6B24D9-2EA9-4A15-A1B9-9165E19ADC74}" presName="dummyConnPt" presStyleCnt="0"/>
      <dgm:spPr/>
    </dgm:pt>
    <dgm:pt modelId="{93865EEE-5444-4BAE-948C-771CD2C2DCE9}" type="pres">
      <dgm:prSet presAssocID="{EA6B24D9-2EA9-4A15-A1B9-9165E19ADC74}" presName="node" presStyleLbl="node1" presStyleIdx="4" presStyleCnt="9">
        <dgm:presLayoutVars>
          <dgm:bulletEnabled val="1"/>
        </dgm:presLayoutVars>
      </dgm:prSet>
      <dgm:spPr/>
    </dgm:pt>
    <dgm:pt modelId="{3EA6576E-6FA1-4B1F-8941-D0278C7C1AF9}" type="pres">
      <dgm:prSet presAssocID="{557B27C7-D2D5-4026-98ED-A7F14BE900BA}" presName="sibTrans" presStyleLbl="bgSibTrans2D1" presStyleIdx="4" presStyleCnt="8"/>
      <dgm:spPr/>
    </dgm:pt>
    <dgm:pt modelId="{D03F6A6F-9C8C-4F28-9D95-5E5DC1470EA2}" type="pres">
      <dgm:prSet presAssocID="{8EE85D80-FFEE-4BBC-AF97-297183577E1D}" presName="compNode" presStyleCnt="0"/>
      <dgm:spPr/>
    </dgm:pt>
    <dgm:pt modelId="{4063FFF4-2511-4DCF-A3BC-42C3E027443E}" type="pres">
      <dgm:prSet presAssocID="{8EE85D80-FFEE-4BBC-AF97-297183577E1D}" presName="dummyConnPt" presStyleCnt="0"/>
      <dgm:spPr/>
    </dgm:pt>
    <dgm:pt modelId="{CD57C4FA-D052-4245-A6AC-027C85E89D5C}" type="pres">
      <dgm:prSet presAssocID="{8EE85D80-FFEE-4BBC-AF97-297183577E1D}" presName="node" presStyleLbl="node1" presStyleIdx="5" presStyleCnt="9">
        <dgm:presLayoutVars>
          <dgm:bulletEnabled val="1"/>
        </dgm:presLayoutVars>
      </dgm:prSet>
      <dgm:spPr/>
    </dgm:pt>
    <dgm:pt modelId="{7BF85AC2-27DB-4B2D-92D8-FAB47A060185}" type="pres">
      <dgm:prSet presAssocID="{949BE124-FDF4-4695-BBA2-3ED83018245C}" presName="sibTrans" presStyleLbl="bgSibTrans2D1" presStyleIdx="5" presStyleCnt="8"/>
      <dgm:spPr/>
    </dgm:pt>
    <dgm:pt modelId="{5AC4AAF7-6BB4-4024-920D-57F9835D4664}" type="pres">
      <dgm:prSet presAssocID="{C0DA7B05-ECB3-4057-8DF4-DC5938C79134}" presName="compNode" presStyleCnt="0"/>
      <dgm:spPr/>
    </dgm:pt>
    <dgm:pt modelId="{7FBE55CE-DE3B-4C7B-9AAF-E633EA0019E0}" type="pres">
      <dgm:prSet presAssocID="{C0DA7B05-ECB3-4057-8DF4-DC5938C79134}" presName="dummyConnPt" presStyleCnt="0"/>
      <dgm:spPr/>
    </dgm:pt>
    <dgm:pt modelId="{FB459C26-35F4-40E1-BFB4-7C3F0E529D05}" type="pres">
      <dgm:prSet presAssocID="{C0DA7B05-ECB3-4057-8DF4-DC5938C79134}" presName="node" presStyleLbl="node1" presStyleIdx="6" presStyleCnt="9">
        <dgm:presLayoutVars>
          <dgm:bulletEnabled val="1"/>
        </dgm:presLayoutVars>
      </dgm:prSet>
      <dgm:spPr/>
    </dgm:pt>
    <dgm:pt modelId="{856042DA-F680-4B7F-BA3F-B18771019101}" type="pres">
      <dgm:prSet presAssocID="{65B0CB26-F2FF-47F9-B6B6-E0F640C3E574}" presName="sibTrans" presStyleLbl="bgSibTrans2D1" presStyleIdx="6" presStyleCnt="8"/>
      <dgm:spPr/>
    </dgm:pt>
    <dgm:pt modelId="{FE5D64BF-C786-4832-BC78-77D5C54EA8E6}" type="pres">
      <dgm:prSet presAssocID="{31F77653-E3FF-4BE3-A9BC-CBC1AA73AF34}" presName="compNode" presStyleCnt="0"/>
      <dgm:spPr/>
    </dgm:pt>
    <dgm:pt modelId="{9EA3DB50-F33A-470A-8ECF-F1689B414CF7}" type="pres">
      <dgm:prSet presAssocID="{31F77653-E3FF-4BE3-A9BC-CBC1AA73AF34}" presName="dummyConnPt" presStyleCnt="0"/>
      <dgm:spPr/>
    </dgm:pt>
    <dgm:pt modelId="{D297DA30-65CC-4EC9-A043-301120142C19}" type="pres">
      <dgm:prSet presAssocID="{31F77653-E3FF-4BE3-A9BC-CBC1AA73AF34}" presName="node" presStyleLbl="node1" presStyleIdx="7" presStyleCnt="9">
        <dgm:presLayoutVars>
          <dgm:bulletEnabled val="1"/>
        </dgm:presLayoutVars>
      </dgm:prSet>
      <dgm:spPr/>
    </dgm:pt>
    <dgm:pt modelId="{901E7979-0610-4B2E-81C0-2072A46E8318}" type="pres">
      <dgm:prSet presAssocID="{4F74F65D-40CD-42BA-B761-C9CA42271DAD}" presName="sibTrans" presStyleLbl="bgSibTrans2D1" presStyleIdx="7" presStyleCnt="8"/>
      <dgm:spPr/>
    </dgm:pt>
    <dgm:pt modelId="{6F5FAE7C-BEC5-49F7-87AB-2065D293E217}" type="pres">
      <dgm:prSet presAssocID="{4A106CF0-F819-4B67-858D-885EF37226DC}" presName="compNode" presStyleCnt="0"/>
      <dgm:spPr/>
    </dgm:pt>
    <dgm:pt modelId="{C40E82EA-304B-4995-A282-24BAE852AB0A}" type="pres">
      <dgm:prSet presAssocID="{4A106CF0-F819-4B67-858D-885EF37226DC}" presName="dummyConnPt" presStyleCnt="0"/>
      <dgm:spPr/>
    </dgm:pt>
    <dgm:pt modelId="{8925A3BA-D441-4DB3-8D96-5895FE5CA6B5}" type="pres">
      <dgm:prSet presAssocID="{4A106CF0-F819-4B67-858D-885EF37226DC}" presName="node" presStyleLbl="node1" presStyleIdx="8" presStyleCnt="9">
        <dgm:presLayoutVars>
          <dgm:bulletEnabled val="1"/>
        </dgm:presLayoutVars>
      </dgm:prSet>
      <dgm:spPr/>
    </dgm:pt>
  </dgm:ptLst>
  <dgm:cxnLst>
    <dgm:cxn modelId="{B3DB2F35-C706-472D-A62C-F5593FD45745}" type="presOf" srcId="{3CA5ACE1-D3CC-4F56-A4FA-72A934E03F8A}" destId="{799ED320-E683-46CB-BA90-641C27E741CA}" srcOrd="0" destOrd="0" presId="urn:microsoft.com/office/officeart/2005/8/layout/bProcess4"/>
    <dgm:cxn modelId="{F6C1D938-7924-40F0-8EFD-60F6C551EE1B}" type="presOf" srcId="{65B0CB26-F2FF-47F9-B6B6-E0F640C3E574}" destId="{856042DA-F680-4B7F-BA3F-B18771019101}" srcOrd="0" destOrd="0" presId="urn:microsoft.com/office/officeart/2005/8/layout/bProcess4"/>
    <dgm:cxn modelId="{8679CF39-C599-4BFA-B123-99D4653F8B99}" type="presOf" srcId="{5B6D079F-03F1-4BAA-A023-3E609D02CB32}" destId="{95C0F8E3-EDF2-4113-8F34-C92EFB36ECDA}" srcOrd="0" destOrd="0" presId="urn:microsoft.com/office/officeart/2005/8/layout/bProcess4"/>
    <dgm:cxn modelId="{FF78EF39-2603-462B-8A53-E3B6ABD6CB45}" srcId="{3CA5ACE1-D3CC-4F56-A4FA-72A934E03F8A}" destId="{6DA6453A-E821-49AF-ACA3-B8B75D9989A2}" srcOrd="3" destOrd="0" parTransId="{8292FC31-CB23-44A0-AC6D-F965D142C1F0}" sibTransId="{5B6D079F-03F1-4BAA-A023-3E609D02CB32}"/>
    <dgm:cxn modelId="{9E31A23F-E856-49B1-ACDC-E6B85C636CFA}" type="presOf" srcId="{4A106CF0-F819-4B67-858D-885EF37226DC}" destId="{8925A3BA-D441-4DB3-8D96-5895FE5CA6B5}" srcOrd="0" destOrd="0" presId="urn:microsoft.com/office/officeart/2005/8/layout/bProcess4"/>
    <dgm:cxn modelId="{D56F625E-3B19-4F52-8AB3-14E221C9B743}" srcId="{3CA5ACE1-D3CC-4F56-A4FA-72A934E03F8A}" destId="{7CDF8A99-FD25-496F-9180-21B76F4CD46F}" srcOrd="0" destOrd="0" parTransId="{76574046-8ABF-4FB7-9633-D96E157F2E52}" sibTransId="{28DC0868-F5E3-4678-812B-F6D659EBC96D}"/>
    <dgm:cxn modelId="{509A2247-F5EF-475B-98E7-1F528233D272}" srcId="{3CA5ACE1-D3CC-4F56-A4FA-72A934E03F8A}" destId="{9E02AE53-F5B1-4799-9E9A-87B51FBB736B}" srcOrd="2" destOrd="0" parTransId="{25C08BAF-27DC-455D-9957-875F5C27499D}" sibTransId="{99A11818-1BFB-4539-AAAE-060A54F19783}"/>
    <dgm:cxn modelId="{A2AB8D69-84E0-4FBE-9217-5C46E3F3B305}" type="presOf" srcId="{7CDF8A99-FD25-496F-9180-21B76F4CD46F}" destId="{CDFC0AB1-C127-40BA-A6BC-72D24338E15F}" srcOrd="0" destOrd="0" presId="urn:microsoft.com/office/officeart/2005/8/layout/bProcess4"/>
    <dgm:cxn modelId="{31B37D4B-9730-4ABE-82A6-25FCFD485413}" type="presOf" srcId="{949BE124-FDF4-4695-BBA2-3ED83018245C}" destId="{7BF85AC2-27DB-4B2D-92D8-FAB47A060185}" srcOrd="0" destOrd="0" presId="urn:microsoft.com/office/officeart/2005/8/layout/bProcess4"/>
    <dgm:cxn modelId="{A7940F51-3C05-4EC1-A15E-75A4017DA0BE}" srcId="{3CA5ACE1-D3CC-4F56-A4FA-72A934E03F8A}" destId="{EA6B24D9-2EA9-4A15-A1B9-9165E19ADC74}" srcOrd="4" destOrd="0" parTransId="{CDA9DFAB-116B-4B57-BAAF-A5CA9DEDE900}" sibTransId="{557B27C7-D2D5-4026-98ED-A7F14BE900BA}"/>
    <dgm:cxn modelId="{F11EC373-7F36-43B2-987F-09FBF2A8AFFB}" type="presOf" srcId="{EA6B24D9-2EA9-4A15-A1B9-9165E19ADC74}" destId="{93865EEE-5444-4BAE-948C-771CD2C2DCE9}" srcOrd="0" destOrd="0" presId="urn:microsoft.com/office/officeart/2005/8/layout/bProcess4"/>
    <dgm:cxn modelId="{08A3CA57-6F33-4FCF-80B2-8EA9709B174A}" type="presOf" srcId="{31F77653-E3FF-4BE3-A9BC-CBC1AA73AF34}" destId="{D297DA30-65CC-4EC9-A043-301120142C19}" srcOrd="0" destOrd="0" presId="urn:microsoft.com/office/officeart/2005/8/layout/bProcess4"/>
    <dgm:cxn modelId="{79F96179-2ED1-41E3-8FC9-BB7E920EB602}" srcId="{3CA5ACE1-D3CC-4F56-A4FA-72A934E03F8A}" destId="{4A106CF0-F819-4B67-858D-885EF37226DC}" srcOrd="8" destOrd="0" parTransId="{358F83A5-75C3-4DF8-AA16-ED0A412DC6FD}" sibTransId="{E4D96D9E-A58E-4B6D-8FC5-27AA33726B42}"/>
    <dgm:cxn modelId="{BB05EA59-558C-4389-BF3E-1C959A5F5293}" type="presOf" srcId="{28DC0868-F5E3-4678-812B-F6D659EBC96D}" destId="{F00D2143-9E75-446D-836A-D3006B3354DF}" srcOrd="0" destOrd="0" presId="urn:microsoft.com/office/officeart/2005/8/layout/bProcess4"/>
    <dgm:cxn modelId="{C0B5847D-D7E3-4B64-AA48-050C0D10953C}" type="presOf" srcId="{6DA6453A-E821-49AF-ACA3-B8B75D9989A2}" destId="{D00AD4E0-59C2-4934-BEC3-A7C3F7DB9E2E}" srcOrd="0" destOrd="0" presId="urn:microsoft.com/office/officeart/2005/8/layout/bProcess4"/>
    <dgm:cxn modelId="{325E2E88-CCE4-467E-8BBD-811CF5F836BE}" type="presOf" srcId="{557B27C7-D2D5-4026-98ED-A7F14BE900BA}" destId="{3EA6576E-6FA1-4B1F-8941-D0278C7C1AF9}" srcOrd="0" destOrd="0" presId="urn:microsoft.com/office/officeart/2005/8/layout/bProcess4"/>
    <dgm:cxn modelId="{E1237789-79E3-4394-86CC-74E8AE3AA562}" type="presOf" srcId="{8EE85D80-FFEE-4BBC-AF97-297183577E1D}" destId="{CD57C4FA-D052-4245-A6AC-027C85E89D5C}" srcOrd="0" destOrd="0" presId="urn:microsoft.com/office/officeart/2005/8/layout/bProcess4"/>
    <dgm:cxn modelId="{65075A9B-247F-4E62-8F74-55B5EDC0C077}" srcId="{3CA5ACE1-D3CC-4F56-A4FA-72A934E03F8A}" destId="{31F77653-E3FF-4BE3-A9BC-CBC1AA73AF34}" srcOrd="7" destOrd="0" parTransId="{36531E2D-9AD0-4E6F-A488-D15FAFF38EFB}" sibTransId="{4F74F65D-40CD-42BA-B761-C9CA42271DAD}"/>
    <dgm:cxn modelId="{26FC26B8-765E-46BC-9D62-056EAC9C048F}" type="presOf" srcId="{99A11818-1BFB-4539-AAAE-060A54F19783}" destId="{61673C86-0F09-4F58-B106-994814E153BD}" srcOrd="0" destOrd="0" presId="urn:microsoft.com/office/officeart/2005/8/layout/bProcess4"/>
    <dgm:cxn modelId="{C737E4B8-10BA-4DB2-B059-D4F5945336AE}" type="presOf" srcId="{4F74F65D-40CD-42BA-B761-C9CA42271DAD}" destId="{901E7979-0610-4B2E-81C0-2072A46E8318}" srcOrd="0" destOrd="0" presId="urn:microsoft.com/office/officeart/2005/8/layout/bProcess4"/>
    <dgm:cxn modelId="{633FCDC8-375E-47C8-890D-49BD2EB8E223}" type="presOf" srcId="{9E02AE53-F5B1-4799-9E9A-87B51FBB736B}" destId="{C055604A-6F93-497F-BE3E-F2355AD775C6}" srcOrd="0" destOrd="0" presId="urn:microsoft.com/office/officeart/2005/8/layout/bProcess4"/>
    <dgm:cxn modelId="{FDAEF2C9-9839-4E3E-B26D-3AD9C38DE1FA}" srcId="{3CA5ACE1-D3CC-4F56-A4FA-72A934E03F8A}" destId="{C0DA7B05-ECB3-4057-8DF4-DC5938C79134}" srcOrd="6" destOrd="0" parTransId="{F41F80ED-A314-4393-BBE8-DE62AF13588C}" sibTransId="{65B0CB26-F2FF-47F9-B6B6-E0F640C3E574}"/>
    <dgm:cxn modelId="{41F943D6-6D44-4260-8993-0DE7DCACEB52}" type="presOf" srcId="{C0DA7B05-ECB3-4057-8DF4-DC5938C79134}" destId="{FB459C26-35F4-40E1-BFB4-7C3F0E529D05}" srcOrd="0" destOrd="0" presId="urn:microsoft.com/office/officeart/2005/8/layout/bProcess4"/>
    <dgm:cxn modelId="{E7C82DD9-C599-4B82-B9EF-508F84529CB0}" srcId="{3CA5ACE1-D3CC-4F56-A4FA-72A934E03F8A}" destId="{8EE85D80-FFEE-4BBC-AF97-297183577E1D}" srcOrd="5" destOrd="0" parTransId="{471BEA1C-9144-4242-BCD7-7980DD64248B}" sibTransId="{949BE124-FDF4-4695-BBA2-3ED83018245C}"/>
    <dgm:cxn modelId="{4FC0EBDA-5585-4656-AB9E-BDC9FA4BA1F0}" type="presOf" srcId="{98378ECD-BA32-4769-AE11-5D20F25421A0}" destId="{DE98D852-E177-4EB0-A0FD-F9C64068925F}" srcOrd="0" destOrd="0" presId="urn:microsoft.com/office/officeart/2005/8/layout/bProcess4"/>
    <dgm:cxn modelId="{F4AD2EE8-9100-4CBB-8F52-5366AF440B4A}" srcId="{3CA5ACE1-D3CC-4F56-A4FA-72A934E03F8A}" destId="{98378ECD-BA32-4769-AE11-5D20F25421A0}" srcOrd="1" destOrd="0" parTransId="{32B5D4A9-4126-4B66-A128-7366DADD8EFD}" sibTransId="{4C4DB8C3-8F01-4A6C-B904-984F2BF034AA}"/>
    <dgm:cxn modelId="{7AC606F2-ECEA-459C-AF36-EF477F1F11DF}" type="presOf" srcId="{4C4DB8C3-8F01-4A6C-B904-984F2BF034AA}" destId="{01648214-BF7B-4D6F-B0C1-E0EE019D42E7}" srcOrd="0" destOrd="0" presId="urn:microsoft.com/office/officeart/2005/8/layout/bProcess4"/>
    <dgm:cxn modelId="{0F7EF3FA-846D-4CCC-B438-F0F98ADB383D}" type="presParOf" srcId="{799ED320-E683-46CB-BA90-641C27E741CA}" destId="{8699D182-A424-44B7-AFCA-BFF72D58D240}" srcOrd="0" destOrd="0" presId="urn:microsoft.com/office/officeart/2005/8/layout/bProcess4"/>
    <dgm:cxn modelId="{449D3518-33E3-4FAD-8427-C345FC448B0C}" type="presParOf" srcId="{8699D182-A424-44B7-AFCA-BFF72D58D240}" destId="{E5E1C86A-35DC-40E3-ADCC-47C87926A78A}" srcOrd="0" destOrd="0" presId="urn:microsoft.com/office/officeart/2005/8/layout/bProcess4"/>
    <dgm:cxn modelId="{49400FFB-B182-4A4B-BA01-851CF575D3D4}" type="presParOf" srcId="{8699D182-A424-44B7-AFCA-BFF72D58D240}" destId="{CDFC0AB1-C127-40BA-A6BC-72D24338E15F}" srcOrd="1" destOrd="0" presId="urn:microsoft.com/office/officeart/2005/8/layout/bProcess4"/>
    <dgm:cxn modelId="{470F5731-2472-48A9-824D-FF1548FFDAFA}" type="presParOf" srcId="{799ED320-E683-46CB-BA90-641C27E741CA}" destId="{F00D2143-9E75-446D-836A-D3006B3354DF}" srcOrd="1" destOrd="0" presId="urn:microsoft.com/office/officeart/2005/8/layout/bProcess4"/>
    <dgm:cxn modelId="{0098852A-81A5-4E6F-A615-74FEF1D5D74F}" type="presParOf" srcId="{799ED320-E683-46CB-BA90-641C27E741CA}" destId="{B788A0F7-3C90-4D6C-94F5-47BEAB233503}" srcOrd="2" destOrd="0" presId="urn:microsoft.com/office/officeart/2005/8/layout/bProcess4"/>
    <dgm:cxn modelId="{B6192E17-8543-440E-8599-1259820C60D4}" type="presParOf" srcId="{B788A0F7-3C90-4D6C-94F5-47BEAB233503}" destId="{D99EC65D-F452-45F5-A713-796AF7B8282D}" srcOrd="0" destOrd="0" presId="urn:microsoft.com/office/officeart/2005/8/layout/bProcess4"/>
    <dgm:cxn modelId="{9E65B323-42C1-4586-80AE-1E91D807F0BB}" type="presParOf" srcId="{B788A0F7-3C90-4D6C-94F5-47BEAB233503}" destId="{DE98D852-E177-4EB0-A0FD-F9C64068925F}" srcOrd="1" destOrd="0" presId="urn:microsoft.com/office/officeart/2005/8/layout/bProcess4"/>
    <dgm:cxn modelId="{E9BB36DE-F87D-4F69-9702-DFD5214FB2E9}" type="presParOf" srcId="{799ED320-E683-46CB-BA90-641C27E741CA}" destId="{01648214-BF7B-4D6F-B0C1-E0EE019D42E7}" srcOrd="3" destOrd="0" presId="urn:microsoft.com/office/officeart/2005/8/layout/bProcess4"/>
    <dgm:cxn modelId="{0FD845C4-8188-4148-87A8-6D608DFC20A1}" type="presParOf" srcId="{799ED320-E683-46CB-BA90-641C27E741CA}" destId="{9C0703CF-F57B-4540-BE7B-B82A4BFDD7F6}" srcOrd="4" destOrd="0" presId="urn:microsoft.com/office/officeart/2005/8/layout/bProcess4"/>
    <dgm:cxn modelId="{34FBA33F-6293-40FD-B71E-C66C30351379}" type="presParOf" srcId="{9C0703CF-F57B-4540-BE7B-B82A4BFDD7F6}" destId="{0FAB9935-38AC-4695-B8EB-33BFC8200272}" srcOrd="0" destOrd="0" presId="urn:microsoft.com/office/officeart/2005/8/layout/bProcess4"/>
    <dgm:cxn modelId="{81F56332-EDB0-4A72-BA82-936F9D291AFD}" type="presParOf" srcId="{9C0703CF-F57B-4540-BE7B-B82A4BFDD7F6}" destId="{C055604A-6F93-497F-BE3E-F2355AD775C6}" srcOrd="1" destOrd="0" presId="urn:microsoft.com/office/officeart/2005/8/layout/bProcess4"/>
    <dgm:cxn modelId="{24128731-9602-4EEF-9EC5-287948A21711}" type="presParOf" srcId="{799ED320-E683-46CB-BA90-641C27E741CA}" destId="{61673C86-0F09-4F58-B106-994814E153BD}" srcOrd="5" destOrd="0" presId="urn:microsoft.com/office/officeart/2005/8/layout/bProcess4"/>
    <dgm:cxn modelId="{556D9B4D-5E97-4E4E-BBF2-2041E227817D}" type="presParOf" srcId="{799ED320-E683-46CB-BA90-641C27E741CA}" destId="{A506D970-F49A-486B-8911-27FEFBD6E2FC}" srcOrd="6" destOrd="0" presId="urn:microsoft.com/office/officeart/2005/8/layout/bProcess4"/>
    <dgm:cxn modelId="{72B52EBB-AAB2-4C7E-8098-A68E79492727}" type="presParOf" srcId="{A506D970-F49A-486B-8911-27FEFBD6E2FC}" destId="{BC50A2D7-2227-4879-ACD2-97DA5A82689A}" srcOrd="0" destOrd="0" presId="urn:microsoft.com/office/officeart/2005/8/layout/bProcess4"/>
    <dgm:cxn modelId="{8A2A7454-CA34-4E83-87A1-9024BF6ABBBA}" type="presParOf" srcId="{A506D970-F49A-486B-8911-27FEFBD6E2FC}" destId="{D00AD4E0-59C2-4934-BEC3-A7C3F7DB9E2E}" srcOrd="1" destOrd="0" presId="urn:microsoft.com/office/officeart/2005/8/layout/bProcess4"/>
    <dgm:cxn modelId="{7AEB50C5-842C-4152-AFCE-0A06B2A36624}" type="presParOf" srcId="{799ED320-E683-46CB-BA90-641C27E741CA}" destId="{95C0F8E3-EDF2-4113-8F34-C92EFB36ECDA}" srcOrd="7" destOrd="0" presId="urn:microsoft.com/office/officeart/2005/8/layout/bProcess4"/>
    <dgm:cxn modelId="{5E39A8B1-746F-4FE8-A2C9-F68CAC358F2E}" type="presParOf" srcId="{799ED320-E683-46CB-BA90-641C27E741CA}" destId="{F7036DAE-AA63-4F88-B209-CEC4EAF2D4B3}" srcOrd="8" destOrd="0" presId="urn:microsoft.com/office/officeart/2005/8/layout/bProcess4"/>
    <dgm:cxn modelId="{ED4DB909-926F-490D-9629-09AA84FFAAC6}" type="presParOf" srcId="{F7036DAE-AA63-4F88-B209-CEC4EAF2D4B3}" destId="{D7475132-7145-41A8-9DB4-81DEFB726C20}" srcOrd="0" destOrd="0" presId="urn:microsoft.com/office/officeart/2005/8/layout/bProcess4"/>
    <dgm:cxn modelId="{4AB9308C-CCF1-40D5-9088-3469B95CEC7C}" type="presParOf" srcId="{F7036DAE-AA63-4F88-B209-CEC4EAF2D4B3}" destId="{93865EEE-5444-4BAE-948C-771CD2C2DCE9}" srcOrd="1" destOrd="0" presId="urn:microsoft.com/office/officeart/2005/8/layout/bProcess4"/>
    <dgm:cxn modelId="{2CFE801D-F44B-4896-A2FD-64E1B8A7A95F}" type="presParOf" srcId="{799ED320-E683-46CB-BA90-641C27E741CA}" destId="{3EA6576E-6FA1-4B1F-8941-D0278C7C1AF9}" srcOrd="9" destOrd="0" presId="urn:microsoft.com/office/officeart/2005/8/layout/bProcess4"/>
    <dgm:cxn modelId="{8C23FEA0-346B-49C7-B635-091950717CC2}" type="presParOf" srcId="{799ED320-E683-46CB-BA90-641C27E741CA}" destId="{D03F6A6F-9C8C-4F28-9D95-5E5DC1470EA2}" srcOrd="10" destOrd="0" presId="urn:microsoft.com/office/officeart/2005/8/layout/bProcess4"/>
    <dgm:cxn modelId="{1F58B194-2EB7-4639-BC47-A9805B7FE15B}" type="presParOf" srcId="{D03F6A6F-9C8C-4F28-9D95-5E5DC1470EA2}" destId="{4063FFF4-2511-4DCF-A3BC-42C3E027443E}" srcOrd="0" destOrd="0" presId="urn:microsoft.com/office/officeart/2005/8/layout/bProcess4"/>
    <dgm:cxn modelId="{72B9E9FD-07B7-4825-830E-96B23532415A}" type="presParOf" srcId="{D03F6A6F-9C8C-4F28-9D95-5E5DC1470EA2}" destId="{CD57C4FA-D052-4245-A6AC-027C85E89D5C}" srcOrd="1" destOrd="0" presId="urn:microsoft.com/office/officeart/2005/8/layout/bProcess4"/>
    <dgm:cxn modelId="{6DE0A768-4F54-4AF2-858D-5A96AAC38E4A}" type="presParOf" srcId="{799ED320-E683-46CB-BA90-641C27E741CA}" destId="{7BF85AC2-27DB-4B2D-92D8-FAB47A060185}" srcOrd="11" destOrd="0" presId="urn:microsoft.com/office/officeart/2005/8/layout/bProcess4"/>
    <dgm:cxn modelId="{CF88DF2E-34C4-4DC8-85ED-5729181706F1}" type="presParOf" srcId="{799ED320-E683-46CB-BA90-641C27E741CA}" destId="{5AC4AAF7-6BB4-4024-920D-57F9835D4664}" srcOrd="12" destOrd="0" presId="urn:microsoft.com/office/officeart/2005/8/layout/bProcess4"/>
    <dgm:cxn modelId="{BB9D0255-0659-49DE-A767-879B1309C00E}" type="presParOf" srcId="{5AC4AAF7-6BB4-4024-920D-57F9835D4664}" destId="{7FBE55CE-DE3B-4C7B-9AAF-E633EA0019E0}" srcOrd="0" destOrd="0" presId="urn:microsoft.com/office/officeart/2005/8/layout/bProcess4"/>
    <dgm:cxn modelId="{4FC4D2F9-45AC-4C40-BBF1-7FB002A73564}" type="presParOf" srcId="{5AC4AAF7-6BB4-4024-920D-57F9835D4664}" destId="{FB459C26-35F4-40E1-BFB4-7C3F0E529D05}" srcOrd="1" destOrd="0" presId="urn:microsoft.com/office/officeart/2005/8/layout/bProcess4"/>
    <dgm:cxn modelId="{2601B815-C248-4E1C-BEE6-ADAA6F9B7294}" type="presParOf" srcId="{799ED320-E683-46CB-BA90-641C27E741CA}" destId="{856042DA-F680-4B7F-BA3F-B18771019101}" srcOrd="13" destOrd="0" presId="urn:microsoft.com/office/officeart/2005/8/layout/bProcess4"/>
    <dgm:cxn modelId="{A53EA85B-604F-46F5-BF55-5989CB00BAE5}" type="presParOf" srcId="{799ED320-E683-46CB-BA90-641C27E741CA}" destId="{FE5D64BF-C786-4832-BC78-77D5C54EA8E6}" srcOrd="14" destOrd="0" presId="urn:microsoft.com/office/officeart/2005/8/layout/bProcess4"/>
    <dgm:cxn modelId="{A2352FDE-6A95-4D53-9C9A-C0B79E85E748}" type="presParOf" srcId="{FE5D64BF-C786-4832-BC78-77D5C54EA8E6}" destId="{9EA3DB50-F33A-470A-8ECF-F1689B414CF7}" srcOrd="0" destOrd="0" presId="urn:microsoft.com/office/officeart/2005/8/layout/bProcess4"/>
    <dgm:cxn modelId="{341FE5A2-11AF-47E2-A22C-1B929A02DDE4}" type="presParOf" srcId="{FE5D64BF-C786-4832-BC78-77D5C54EA8E6}" destId="{D297DA30-65CC-4EC9-A043-301120142C19}" srcOrd="1" destOrd="0" presId="urn:microsoft.com/office/officeart/2005/8/layout/bProcess4"/>
    <dgm:cxn modelId="{AC51BA42-8A15-4B64-AE6D-2527DF473BD9}" type="presParOf" srcId="{799ED320-E683-46CB-BA90-641C27E741CA}" destId="{901E7979-0610-4B2E-81C0-2072A46E8318}" srcOrd="15" destOrd="0" presId="urn:microsoft.com/office/officeart/2005/8/layout/bProcess4"/>
    <dgm:cxn modelId="{7D7D9340-E2B5-44DD-944E-6037C49FA2A7}" type="presParOf" srcId="{799ED320-E683-46CB-BA90-641C27E741CA}" destId="{6F5FAE7C-BEC5-49F7-87AB-2065D293E217}" srcOrd="16" destOrd="0" presId="urn:microsoft.com/office/officeart/2005/8/layout/bProcess4"/>
    <dgm:cxn modelId="{FA1E927B-BCCB-4E13-8005-03597B0BE936}" type="presParOf" srcId="{6F5FAE7C-BEC5-49F7-87AB-2065D293E217}" destId="{C40E82EA-304B-4995-A282-24BAE852AB0A}" srcOrd="0" destOrd="0" presId="urn:microsoft.com/office/officeart/2005/8/layout/bProcess4"/>
    <dgm:cxn modelId="{3F22F9BC-4273-406D-AB44-26FF616EC60B}" type="presParOf" srcId="{6F5FAE7C-BEC5-49F7-87AB-2065D293E217}" destId="{8925A3BA-D441-4DB3-8D96-5895FE5CA6B5}"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B0534E-ADA1-49CD-8FC6-6B98F799DF4F}"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IN"/>
        </a:p>
      </dgm:t>
    </dgm:pt>
    <dgm:pt modelId="{8F6A8C81-C3AD-48F3-BBB4-4B3C049DFEED}">
      <dgm:prSet phldrT="[Text]"/>
      <dgm:spPr/>
      <dgm:t>
        <a:bodyPr/>
        <a:lstStyle/>
        <a:p>
          <a:r>
            <a:rPr lang="en-IN" dirty="0"/>
            <a:t>Predicted PAM50 Subtype</a:t>
          </a:r>
        </a:p>
      </dgm:t>
    </dgm:pt>
    <dgm:pt modelId="{AFB77959-519A-40F3-BBDC-BE5464E6A74B}" type="parTrans" cxnId="{7BD76E44-9CEA-4057-AD2D-A613C9C3974D}">
      <dgm:prSet/>
      <dgm:spPr/>
      <dgm:t>
        <a:bodyPr/>
        <a:lstStyle/>
        <a:p>
          <a:endParaRPr lang="en-IN"/>
        </a:p>
      </dgm:t>
    </dgm:pt>
    <dgm:pt modelId="{60DD24A6-0E06-480C-8886-7529F22E3763}" type="sibTrans" cxnId="{7BD76E44-9CEA-4057-AD2D-A613C9C3974D}">
      <dgm:prSet/>
      <dgm:spPr/>
      <dgm:t>
        <a:bodyPr/>
        <a:lstStyle/>
        <a:p>
          <a:endParaRPr lang="en-IN"/>
        </a:p>
      </dgm:t>
    </dgm:pt>
    <dgm:pt modelId="{5B1816AB-54AC-4E74-91FB-50953B421A4B}">
      <dgm:prSet phldrT="[Text]"/>
      <dgm:spPr/>
      <dgm:t>
        <a:bodyPr/>
        <a:lstStyle/>
        <a:p>
          <a:r>
            <a:rPr lang="en-IN" dirty="0"/>
            <a:t>Subtype-Specific Knowledge Base</a:t>
          </a:r>
        </a:p>
        <a:p>
          <a:r>
            <a:rPr lang="en-IN" dirty="0"/>
            <a:t>(PAM50 biology, TCGA context, subtype literature)</a:t>
          </a:r>
        </a:p>
      </dgm:t>
    </dgm:pt>
    <dgm:pt modelId="{4567C274-E1BC-41B1-B8C6-9114C52024BF}" type="parTrans" cxnId="{3015B377-A123-4409-97A1-2229749A2A10}">
      <dgm:prSet/>
      <dgm:spPr/>
      <dgm:t>
        <a:bodyPr/>
        <a:lstStyle/>
        <a:p>
          <a:endParaRPr lang="en-IN"/>
        </a:p>
      </dgm:t>
    </dgm:pt>
    <dgm:pt modelId="{70D1304B-B33B-4976-BE7B-8C77D72ED580}" type="sibTrans" cxnId="{3015B377-A123-4409-97A1-2229749A2A10}">
      <dgm:prSet/>
      <dgm:spPr/>
      <dgm:t>
        <a:bodyPr/>
        <a:lstStyle/>
        <a:p>
          <a:endParaRPr lang="en-IN"/>
        </a:p>
      </dgm:t>
    </dgm:pt>
    <dgm:pt modelId="{61354CBD-656C-4C0A-AC2D-D04B9E170103}">
      <dgm:prSet phldrT="[Text]"/>
      <dgm:spPr/>
      <dgm:t>
        <a:bodyPr/>
        <a:lstStyle/>
        <a:p>
          <a:r>
            <a:rPr lang="en-IN" dirty="0"/>
            <a:t>Vector Embeddings (Sentence Transformers)</a:t>
          </a:r>
        </a:p>
      </dgm:t>
    </dgm:pt>
    <dgm:pt modelId="{8939CB66-FCF6-4316-8782-1AB23D8DA4A5}" type="parTrans" cxnId="{863F3988-92EC-4142-A571-0698E50634AE}">
      <dgm:prSet/>
      <dgm:spPr/>
      <dgm:t>
        <a:bodyPr/>
        <a:lstStyle/>
        <a:p>
          <a:endParaRPr lang="en-IN"/>
        </a:p>
      </dgm:t>
    </dgm:pt>
    <dgm:pt modelId="{679FBAF5-94B2-4757-82A4-19F21CC4A873}" type="sibTrans" cxnId="{863F3988-92EC-4142-A571-0698E50634AE}">
      <dgm:prSet/>
      <dgm:spPr/>
      <dgm:t>
        <a:bodyPr/>
        <a:lstStyle/>
        <a:p>
          <a:endParaRPr lang="en-IN"/>
        </a:p>
      </dgm:t>
    </dgm:pt>
    <dgm:pt modelId="{FBE79CDA-5CD6-4352-B85C-8598CE2AF47E}">
      <dgm:prSet phldrT="[Text]"/>
      <dgm:spPr/>
      <dgm:t>
        <a:bodyPr/>
        <a:lstStyle/>
        <a:p>
          <a:r>
            <a:rPr lang="en-IN" dirty="0"/>
            <a:t>Semantic Retrieval (</a:t>
          </a:r>
          <a:r>
            <a:rPr lang="en-IN" dirty="0" err="1"/>
            <a:t>ChromaDB</a:t>
          </a:r>
          <a:r>
            <a:rPr lang="en-IN" dirty="0"/>
            <a:t>)</a:t>
          </a:r>
        </a:p>
      </dgm:t>
    </dgm:pt>
    <dgm:pt modelId="{D7892D5A-EB5F-4E57-956F-9B5746BABEAA}" type="parTrans" cxnId="{765A016B-EA73-4741-98B7-C138910CAFB1}">
      <dgm:prSet/>
      <dgm:spPr/>
      <dgm:t>
        <a:bodyPr/>
        <a:lstStyle/>
        <a:p>
          <a:endParaRPr lang="en-IN"/>
        </a:p>
      </dgm:t>
    </dgm:pt>
    <dgm:pt modelId="{1C3D110B-33E5-4CE0-832B-79035AA00E58}" type="sibTrans" cxnId="{765A016B-EA73-4741-98B7-C138910CAFB1}">
      <dgm:prSet/>
      <dgm:spPr/>
      <dgm:t>
        <a:bodyPr/>
        <a:lstStyle/>
        <a:p>
          <a:endParaRPr lang="en-IN"/>
        </a:p>
      </dgm:t>
    </dgm:pt>
    <dgm:pt modelId="{243F9F8E-F728-4097-8D83-1603BA73AAF7}">
      <dgm:prSet phldrT="[Text]"/>
      <dgm:spPr/>
      <dgm:t>
        <a:bodyPr/>
        <a:lstStyle/>
        <a:p>
          <a:r>
            <a:rPr lang="en-IN" dirty="0"/>
            <a:t>Biologically Grounded Explanation</a:t>
          </a:r>
        </a:p>
      </dgm:t>
    </dgm:pt>
    <dgm:pt modelId="{15612D8F-4D1C-4243-9EC8-8D108E216900}" type="parTrans" cxnId="{A1C9F2FB-1DEA-4002-9E3C-F93BCFB2A6F7}">
      <dgm:prSet/>
      <dgm:spPr/>
      <dgm:t>
        <a:bodyPr/>
        <a:lstStyle/>
        <a:p>
          <a:endParaRPr lang="en-IN"/>
        </a:p>
      </dgm:t>
    </dgm:pt>
    <dgm:pt modelId="{5B1B16D4-CB16-4A0E-9D3C-E1F02339CD3A}" type="sibTrans" cxnId="{A1C9F2FB-1DEA-4002-9E3C-F93BCFB2A6F7}">
      <dgm:prSet/>
      <dgm:spPr/>
      <dgm:t>
        <a:bodyPr/>
        <a:lstStyle/>
        <a:p>
          <a:endParaRPr lang="en-IN"/>
        </a:p>
      </dgm:t>
    </dgm:pt>
    <dgm:pt modelId="{1FCD0424-8B0B-4675-8D80-1D18E577952B}">
      <dgm:prSet/>
      <dgm:spPr/>
      <dgm:t>
        <a:bodyPr/>
        <a:lstStyle/>
        <a:p>
          <a:r>
            <a:rPr lang="en-IN" dirty="0"/>
            <a:t>LLM (Gemma via Ollama)</a:t>
          </a:r>
        </a:p>
      </dgm:t>
    </dgm:pt>
    <dgm:pt modelId="{A8618F28-0838-4037-9A6D-CA1E34B02F7B}" type="parTrans" cxnId="{C8A459F9-3CAC-4EA1-A000-97F7186A13A5}">
      <dgm:prSet/>
      <dgm:spPr/>
      <dgm:t>
        <a:bodyPr/>
        <a:lstStyle/>
        <a:p>
          <a:endParaRPr lang="en-IN"/>
        </a:p>
      </dgm:t>
    </dgm:pt>
    <dgm:pt modelId="{A54D8B6D-5510-405C-ADC4-B7E61233AD2C}" type="sibTrans" cxnId="{C8A459F9-3CAC-4EA1-A000-97F7186A13A5}">
      <dgm:prSet/>
      <dgm:spPr/>
      <dgm:t>
        <a:bodyPr/>
        <a:lstStyle/>
        <a:p>
          <a:endParaRPr lang="en-IN"/>
        </a:p>
      </dgm:t>
    </dgm:pt>
    <dgm:pt modelId="{B2A7DED3-A810-47D4-8E78-23F79D7DB20F}" type="pres">
      <dgm:prSet presAssocID="{F2B0534E-ADA1-49CD-8FC6-6B98F799DF4F}" presName="Name0" presStyleCnt="0">
        <dgm:presLayoutVars>
          <dgm:dir/>
          <dgm:resizeHandles val="exact"/>
        </dgm:presLayoutVars>
      </dgm:prSet>
      <dgm:spPr/>
    </dgm:pt>
    <dgm:pt modelId="{D5A0B7BC-7014-489D-92F8-8CFCE5DD0E8D}" type="pres">
      <dgm:prSet presAssocID="{8F6A8C81-C3AD-48F3-BBB4-4B3C049DFEED}" presName="node" presStyleLbl="node1" presStyleIdx="0" presStyleCnt="6">
        <dgm:presLayoutVars>
          <dgm:bulletEnabled val="1"/>
        </dgm:presLayoutVars>
      </dgm:prSet>
      <dgm:spPr/>
    </dgm:pt>
    <dgm:pt modelId="{F2F46059-9B8D-4263-810A-3BB0C8898378}" type="pres">
      <dgm:prSet presAssocID="{60DD24A6-0E06-480C-8886-7529F22E3763}" presName="sibTrans" presStyleLbl="sibTrans1D1" presStyleIdx="0" presStyleCnt="5"/>
      <dgm:spPr/>
    </dgm:pt>
    <dgm:pt modelId="{02CD33A4-94A7-4172-B4D4-CE4FB094D1CE}" type="pres">
      <dgm:prSet presAssocID="{60DD24A6-0E06-480C-8886-7529F22E3763}" presName="connectorText" presStyleLbl="sibTrans1D1" presStyleIdx="0" presStyleCnt="5"/>
      <dgm:spPr/>
    </dgm:pt>
    <dgm:pt modelId="{1DD557F0-76B2-4E62-9FD2-02F05B0375A5}" type="pres">
      <dgm:prSet presAssocID="{5B1816AB-54AC-4E74-91FB-50953B421A4B}" presName="node" presStyleLbl="node1" presStyleIdx="1" presStyleCnt="6">
        <dgm:presLayoutVars>
          <dgm:bulletEnabled val="1"/>
        </dgm:presLayoutVars>
      </dgm:prSet>
      <dgm:spPr/>
    </dgm:pt>
    <dgm:pt modelId="{03CAFFA9-003D-4932-89D7-225BB87B78BA}" type="pres">
      <dgm:prSet presAssocID="{70D1304B-B33B-4976-BE7B-8C77D72ED580}" presName="sibTrans" presStyleLbl="sibTrans1D1" presStyleIdx="1" presStyleCnt="5"/>
      <dgm:spPr/>
    </dgm:pt>
    <dgm:pt modelId="{D2DFCFAB-8D8E-466C-80A6-D14C9FCE5CA4}" type="pres">
      <dgm:prSet presAssocID="{70D1304B-B33B-4976-BE7B-8C77D72ED580}" presName="connectorText" presStyleLbl="sibTrans1D1" presStyleIdx="1" presStyleCnt="5"/>
      <dgm:spPr/>
    </dgm:pt>
    <dgm:pt modelId="{8AB2ACFC-081C-4242-9268-57D03A3C332D}" type="pres">
      <dgm:prSet presAssocID="{61354CBD-656C-4C0A-AC2D-D04B9E170103}" presName="node" presStyleLbl="node1" presStyleIdx="2" presStyleCnt="6">
        <dgm:presLayoutVars>
          <dgm:bulletEnabled val="1"/>
        </dgm:presLayoutVars>
      </dgm:prSet>
      <dgm:spPr/>
    </dgm:pt>
    <dgm:pt modelId="{16C46CF2-49B6-4FA7-B6AD-680736DC46D2}" type="pres">
      <dgm:prSet presAssocID="{679FBAF5-94B2-4757-82A4-19F21CC4A873}" presName="sibTrans" presStyleLbl="sibTrans1D1" presStyleIdx="2" presStyleCnt="5"/>
      <dgm:spPr/>
    </dgm:pt>
    <dgm:pt modelId="{FB008362-8657-4949-845C-5C49190B8DFF}" type="pres">
      <dgm:prSet presAssocID="{679FBAF5-94B2-4757-82A4-19F21CC4A873}" presName="connectorText" presStyleLbl="sibTrans1D1" presStyleIdx="2" presStyleCnt="5"/>
      <dgm:spPr/>
    </dgm:pt>
    <dgm:pt modelId="{FA685047-83EB-41BD-A607-6A0E0B13E4FC}" type="pres">
      <dgm:prSet presAssocID="{FBE79CDA-5CD6-4352-B85C-8598CE2AF47E}" presName="node" presStyleLbl="node1" presStyleIdx="3" presStyleCnt="6">
        <dgm:presLayoutVars>
          <dgm:bulletEnabled val="1"/>
        </dgm:presLayoutVars>
      </dgm:prSet>
      <dgm:spPr/>
    </dgm:pt>
    <dgm:pt modelId="{1D5A0168-7E23-4568-88BB-758E138D7602}" type="pres">
      <dgm:prSet presAssocID="{1C3D110B-33E5-4CE0-832B-79035AA00E58}" presName="sibTrans" presStyleLbl="sibTrans1D1" presStyleIdx="3" presStyleCnt="5"/>
      <dgm:spPr/>
    </dgm:pt>
    <dgm:pt modelId="{B7FFBD15-095F-4980-B299-185352C87E80}" type="pres">
      <dgm:prSet presAssocID="{1C3D110B-33E5-4CE0-832B-79035AA00E58}" presName="connectorText" presStyleLbl="sibTrans1D1" presStyleIdx="3" presStyleCnt="5"/>
      <dgm:spPr/>
    </dgm:pt>
    <dgm:pt modelId="{4ECABC07-E6EF-438E-B253-A005143009B6}" type="pres">
      <dgm:prSet presAssocID="{1FCD0424-8B0B-4675-8D80-1D18E577952B}" presName="node" presStyleLbl="node1" presStyleIdx="4" presStyleCnt="6">
        <dgm:presLayoutVars>
          <dgm:bulletEnabled val="1"/>
        </dgm:presLayoutVars>
      </dgm:prSet>
      <dgm:spPr/>
    </dgm:pt>
    <dgm:pt modelId="{A3AFF0CE-D7FD-4CE4-B457-7B2498E4C9DF}" type="pres">
      <dgm:prSet presAssocID="{A54D8B6D-5510-405C-ADC4-B7E61233AD2C}" presName="sibTrans" presStyleLbl="sibTrans1D1" presStyleIdx="4" presStyleCnt="5"/>
      <dgm:spPr/>
    </dgm:pt>
    <dgm:pt modelId="{90E98AF1-8627-4F67-AF0E-9490BF41D7C4}" type="pres">
      <dgm:prSet presAssocID="{A54D8B6D-5510-405C-ADC4-B7E61233AD2C}" presName="connectorText" presStyleLbl="sibTrans1D1" presStyleIdx="4" presStyleCnt="5"/>
      <dgm:spPr/>
    </dgm:pt>
    <dgm:pt modelId="{553D9B72-D974-45D5-B04F-D64BB20CD795}" type="pres">
      <dgm:prSet presAssocID="{243F9F8E-F728-4097-8D83-1603BA73AAF7}" presName="node" presStyleLbl="node1" presStyleIdx="5" presStyleCnt="6">
        <dgm:presLayoutVars>
          <dgm:bulletEnabled val="1"/>
        </dgm:presLayoutVars>
      </dgm:prSet>
      <dgm:spPr/>
    </dgm:pt>
  </dgm:ptLst>
  <dgm:cxnLst>
    <dgm:cxn modelId="{6905F809-52ED-4EA3-BCF9-C23F847BC409}" type="presOf" srcId="{60DD24A6-0E06-480C-8886-7529F22E3763}" destId="{F2F46059-9B8D-4263-810A-3BB0C8898378}" srcOrd="0" destOrd="0" presId="urn:microsoft.com/office/officeart/2005/8/layout/bProcess3"/>
    <dgm:cxn modelId="{071AD75F-395F-4689-8FE6-02A0D0690A33}" type="presOf" srcId="{1C3D110B-33E5-4CE0-832B-79035AA00E58}" destId="{B7FFBD15-095F-4980-B299-185352C87E80}" srcOrd="1" destOrd="0" presId="urn:microsoft.com/office/officeart/2005/8/layout/bProcess3"/>
    <dgm:cxn modelId="{87B64141-DE08-473E-9031-27EB9FCC3A4C}" type="presOf" srcId="{5B1816AB-54AC-4E74-91FB-50953B421A4B}" destId="{1DD557F0-76B2-4E62-9FD2-02F05B0375A5}" srcOrd="0" destOrd="0" presId="urn:microsoft.com/office/officeart/2005/8/layout/bProcess3"/>
    <dgm:cxn modelId="{7BD76E44-9CEA-4057-AD2D-A613C9C3974D}" srcId="{F2B0534E-ADA1-49CD-8FC6-6B98F799DF4F}" destId="{8F6A8C81-C3AD-48F3-BBB4-4B3C049DFEED}" srcOrd="0" destOrd="0" parTransId="{AFB77959-519A-40F3-BBDC-BE5464E6A74B}" sibTransId="{60DD24A6-0E06-480C-8886-7529F22E3763}"/>
    <dgm:cxn modelId="{5EB63966-2107-4F51-905D-097115FF5A94}" type="presOf" srcId="{A54D8B6D-5510-405C-ADC4-B7E61233AD2C}" destId="{90E98AF1-8627-4F67-AF0E-9490BF41D7C4}" srcOrd="1" destOrd="0" presId="urn:microsoft.com/office/officeart/2005/8/layout/bProcess3"/>
    <dgm:cxn modelId="{765A016B-EA73-4741-98B7-C138910CAFB1}" srcId="{F2B0534E-ADA1-49CD-8FC6-6B98F799DF4F}" destId="{FBE79CDA-5CD6-4352-B85C-8598CE2AF47E}" srcOrd="3" destOrd="0" parTransId="{D7892D5A-EB5F-4E57-956F-9B5746BABEAA}" sibTransId="{1C3D110B-33E5-4CE0-832B-79035AA00E58}"/>
    <dgm:cxn modelId="{18C7924C-5C2F-465F-B773-D06890AAA99C}" type="presOf" srcId="{70D1304B-B33B-4976-BE7B-8C77D72ED580}" destId="{03CAFFA9-003D-4932-89D7-225BB87B78BA}" srcOrd="0" destOrd="0" presId="urn:microsoft.com/office/officeart/2005/8/layout/bProcess3"/>
    <dgm:cxn modelId="{EE28A852-4BD9-40A2-87DE-9B743CCD17A9}" type="presOf" srcId="{61354CBD-656C-4C0A-AC2D-D04B9E170103}" destId="{8AB2ACFC-081C-4242-9268-57D03A3C332D}" srcOrd="0" destOrd="0" presId="urn:microsoft.com/office/officeart/2005/8/layout/bProcess3"/>
    <dgm:cxn modelId="{3015B377-A123-4409-97A1-2229749A2A10}" srcId="{F2B0534E-ADA1-49CD-8FC6-6B98F799DF4F}" destId="{5B1816AB-54AC-4E74-91FB-50953B421A4B}" srcOrd="1" destOrd="0" parTransId="{4567C274-E1BC-41B1-B8C6-9114C52024BF}" sibTransId="{70D1304B-B33B-4976-BE7B-8C77D72ED580}"/>
    <dgm:cxn modelId="{963F417A-4ACC-4322-9D2A-F98D1FA1BE1A}" type="presOf" srcId="{A54D8B6D-5510-405C-ADC4-B7E61233AD2C}" destId="{A3AFF0CE-D7FD-4CE4-B457-7B2498E4C9DF}" srcOrd="0" destOrd="0" presId="urn:microsoft.com/office/officeart/2005/8/layout/bProcess3"/>
    <dgm:cxn modelId="{678D707F-8FE4-4A02-B152-A0E3E8ADC006}" type="presOf" srcId="{243F9F8E-F728-4097-8D83-1603BA73AAF7}" destId="{553D9B72-D974-45D5-B04F-D64BB20CD795}" srcOrd="0" destOrd="0" presId="urn:microsoft.com/office/officeart/2005/8/layout/bProcess3"/>
    <dgm:cxn modelId="{863F3988-92EC-4142-A571-0698E50634AE}" srcId="{F2B0534E-ADA1-49CD-8FC6-6B98F799DF4F}" destId="{61354CBD-656C-4C0A-AC2D-D04B9E170103}" srcOrd="2" destOrd="0" parTransId="{8939CB66-FCF6-4316-8782-1AB23D8DA4A5}" sibTransId="{679FBAF5-94B2-4757-82A4-19F21CC4A873}"/>
    <dgm:cxn modelId="{42D9D5A3-8A12-4A73-8602-1F42D4B7C23C}" type="presOf" srcId="{F2B0534E-ADA1-49CD-8FC6-6B98F799DF4F}" destId="{B2A7DED3-A810-47D4-8E78-23F79D7DB20F}" srcOrd="0" destOrd="0" presId="urn:microsoft.com/office/officeart/2005/8/layout/bProcess3"/>
    <dgm:cxn modelId="{CD2293A4-5C90-4A00-8D90-1874D6EE9C34}" type="presOf" srcId="{679FBAF5-94B2-4757-82A4-19F21CC4A873}" destId="{FB008362-8657-4949-845C-5C49190B8DFF}" srcOrd="1" destOrd="0" presId="urn:microsoft.com/office/officeart/2005/8/layout/bProcess3"/>
    <dgm:cxn modelId="{541911A6-CA07-4016-A604-D20A67604525}" type="presOf" srcId="{70D1304B-B33B-4976-BE7B-8C77D72ED580}" destId="{D2DFCFAB-8D8E-466C-80A6-D14C9FCE5CA4}" srcOrd="1" destOrd="0" presId="urn:microsoft.com/office/officeart/2005/8/layout/bProcess3"/>
    <dgm:cxn modelId="{657AE4D4-9713-442D-BD61-A1948093B938}" type="presOf" srcId="{FBE79CDA-5CD6-4352-B85C-8598CE2AF47E}" destId="{FA685047-83EB-41BD-A607-6A0E0B13E4FC}" srcOrd="0" destOrd="0" presId="urn:microsoft.com/office/officeart/2005/8/layout/bProcess3"/>
    <dgm:cxn modelId="{90A005D6-4382-4DD0-BC34-4C61279B6A60}" type="presOf" srcId="{1FCD0424-8B0B-4675-8D80-1D18E577952B}" destId="{4ECABC07-E6EF-438E-B253-A005143009B6}" srcOrd="0" destOrd="0" presId="urn:microsoft.com/office/officeart/2005/8/layout/bProcess3"/>
    <dgm:cxn modelId="{5D2F95D9-B5CE-4B75-8AF3-3BDD8EC377A7}" type="presOf" srcId="{679FBAF5-94B2-4757-82A4-19F21CC4A873}" destId="{16C46CF2-49B6-4FA7-B6AD-680736DC46D2}" srcOrd="0" destOrd="0" presId="urn:microsoft.com/office/officeart/2005/8/layout/bProcess3"/>
    <dgm:cxn modelId="{4DFCDDDF-56E1-4C41-B840-C4FFB9DB79C1}" type="presOf" srcId="{60DD24A6-0E06-480C-8886-7529F22E3763}" destId="{02CD33A4-94A7-4172-B4D4-CE4FB094D1CE}" srcOrd="1" destOrd="0" presId="urn:microsoft.com/office/officeart/2005/8/layout/bProcess3"/>
    <dgm:cxn modelId="{AA750CF1-7B4A-4CB8-A8EA-4BA41253C996}" type="presOf" srcId="{8F6A8C81-C3AD-48F3-BBB4-4B3C049DFEED}" destId="{D5A0B7BC-7014-489D-92F8-8CFCE5DD0E8D}" srcOrd="0" destOrd="0" presId="urn:microsoft.com/office/officeart/2005/8/layout/bProcess3"/>
    <dgm:cxn modelId="{C62813F2-706B-4D71-BFFC-4835CA802D5D}" type="presOf" srcId="{1C3D110B-33E5-4CE0-832B-79035AA00E58}" destId="{1D5A0168-7E23-4568-88BB-758E138D7602}" srcOrd="0" destOrd="0" presId="urn:microsoft.com/office/officeart/2005/8/layout/bProcess3"/>
    <dgm:cxn modelId="{C8A459F9-3CAC-4EA1-A000-97F7186A13A5}" srcId="{F2B0534E-ADA1-49CD-8FC6-6B98F799DF4F}" destId="{1FCD0424-8B0B-4675-8D80-1D18E577952B}" srcOrd="4" destOrd="0" parTransId="{A8618F28-0838-4037-9A6D-CA1E34B02F7B}" sibTransId="{A54D8B6D-5510-405C-ADC4-B7E61233AD2C}"/>
    <dgm:cxn modelId="{A1C9F2FB-1DEA-4002-9E3C-F93BCFB2A6F7}" srcId="{F2B0534E-ADA1-49CD-8FC6-6B98F799DF4F}" destId="{243F9F8E-F728-4097-8D83-1603BA73AAF7}" srcOrd="5" destOrd="0" parTransId="{15612D8F-4D1C-4243-9EC8-8D108E216900}" sibTransId="{5B1B16D4-CB16-4A0E-9D3C-E1F02339CD3A}"/>
    <dgm:cxn modelId="{70B62AD4-1B24-481B-8608-CCB997AA2798}" type="presParOf" srcId="{B2A7DED3-A810-47D4-8E78-23F79D7DB20F}" destId="{D5A0B7BC-7014-489D-92F8-8CFCE5DD0E8D}" srcOrd="0" destOrd="0" presId="urn:microsoft.com/office/officeart/2005/8/layout/bProcess3"/>
    <dgm:cxn modelId="{AC0CC472-C34E-41AE-9B42-FFE28D2B50CB}" type="presParOf" srcId="{B2A7DED3-A810-47D4-8E78-23F79D7DB20F}" destId="{F2F46059-9B8D-4263-810A-3BB0C8898378}" srcOrd="1" destOrd="0" presId="urn:microsoft.com/office/officeart/2005/8/layout/bProcess3"/>
    <dgm:cxn modelId="{34A5F603-97F7-441F-B648-B47E44A1BEB4}" type="presParOf" srcId="{F2F46059-9B8D-4263-810A-3BB0C8898378}" destId="{02CD33A4-94A7-4172-B4D4-CE4FB094D1CE}" srcOrd="0" destOrd="0" presId="urn:microsoft.com/office/officeart/2005/8/layout/bProcess3"/>
    <dgm:cxn modelId="{7083819D-34AD-4AF9-8EB3-ADF00AD5B804}" type="presParOf" srcId="{B2A7DED3-A810-47D4-8E78-23F79D7DB20F}" destId="{1DD557F0-76B2-4E62-9FD2-02F05B0375A5}" srcOrd="2" destOrd="0" presId="urn:microsoft.com/office/officeart/2005/8/layout/bProcess3"/>
    <dgm:cxn modelId="{5DA9A492-BA98-4380-AF16-4A0B08935077}" type="presParOf" srcId="{B2A7DED3-A810-47D4-8E78-23F79D7DB20F}" destId="{03CAFFA9-003D-4932-89D7-225BB87B78BA}" srcOrd="3" destOrd="0" presId="urn:microsoft.com/office/officeart/2005/8/layout/bProcess3"/>
    <dgm:cxn modelId="{0D31189C-3237-407E-BD12-F34486AE8307}" type="presParOf" srcId="{03CAFFA9-003D-4932-89D7-225BB87B78BA}" destId="{D2DFCFAB-8D8E-466C-80A6-D14C9FCE5CA4}" srcOrd="0" destOrd="0" presId="urn:microsoft.com/office/officeart/2005/8/layout/bProcess3"/>
    <dgm:cxn modelId="{7F3B9B22-6D3D-430E-88EB-D3BCA8786912}" type="presParOf" srcId="{B2A7DED3-A810-47D4-8E78-23F79D7DB20F}" destId="{8AB2ACFC-081C-4242-9268-57D03A3C332D}" srcOrd="4" destOrd="0" presId="urn:microsoft.com/office/officeart/2005/8/layout/bProcess3"/>
    <dgm:cxn modelId="{6F8FFFBD-0F51-46FC-84E7-4AF9F13AB342}" type="presParOf" srcId="{B2A7DED3-A810-47D4-8E78-23F79D7DB20F}" destId="{16C46CF2-49B6-4FA7-B6AD-680736DC46D2}" srcOrd="5" destOrd="0" presId="urn:microsoft.com/office/officeart/2005/8/layout/bProcess3"/>
    <dgm:cxn modelId="{EBFA526D-0DFA-4C95-B835-A36A3DABA3F3}" type="presParOf" srcId="{16C46CF2-49B6-4FA7-B6AD-680736DC46D2}" destId="{FB008362-8657-4949-845C-5C49190B8DFF}" srcOrd="0" destOrd="0" presId="urn:microsoft.com/office/officeart/2005/8/layout/bProcess3"/>
    <dgm:cxn modelId="{3807D38E-C564-4E2B-8992-21CA5450A638}" type="presParOf" srcId="{B2A7DED3-A810-47D4-8E78-23F79D7DB20F}" destId="{FA685047-83EB-41BD-A607-6A0E0B13E4FC}" srcOrd="6" destOrd="0" presId="urn:microsoft.com/office/officeart/2005/8/layout/bProcess3"/>
    <dgm:cxn modelId="{92FE3601-CE18-492E-A2A6-8EC2303DFFA9}" type="presParOf" srcId="{B2A7DED3-A810-47D4-8E78-23F79D7DB20F}" destId="{1D5A0168-7E23-4568-88BB-758E138D7602}" srcOrd="7" destOrd="0" presId="urn:microsoft.com/office/officeart/2005/8/layout/bProcess3"/>
    <dgm:cxn modelId="{DDE54EBF-44B1-4F09-BA14-4A4F64F6F0C5}" type="presParOf" srcId="{1D5A0168-7E23-4568-88BB-758E138D7602}" destId="{B7FFBD15-095F-4980-B299-185352C87E80}" srcOrd="0" destOrd="0" presId="urn:microsoft.com/office/officeart/2005/8/layout/bProcess3"/>
    <dgm:cxn modelId="{1067C105-4AB7-412E-802C-F26AC4F6ECFF}" type="presParOf" srcId="{B2A7DED3-A810-47D4-8E78-23F79D7DB20F}" destId="{4ECABC07-E6EF-438E-B253-A005143009B6}" srcOrd="8" destOrd="0" presId="urn:microsoft.com/office/officeart/2005/8/layout/bProcess3"/>
    <dgm:cxn modelId="{35509578-4AAF-4476-B183-BF2F777AC5E2}" type="presParOf" srcId="{B2A7DED3-A810-47D4-8E78-23F79D7DB20F}" destId="{A3AFF0CE-D7FD-4CE4-B457-7B2498E4C9DF}" srcOrd="9" destOrd="0" presId="urn:microsoft.com/office/officeart/2005/8/layout/bProcess3"/>
    <dgm:cxn modelId="{A1F377EB-E6AA-4E0D-B155-7D66BEF3537A}" type="presParOf" srcId="{A3AFF0CE-D7FD-4CE4-B457-7B2498E4C9DF}" destId="{90E98AF1-8627-4F67-AF0E-9490BF41D7C4}" srcOrd="0" destOrd="0" presId="urn:microsoft.com/office/officeart/2005/8/layout/bProcess3"/>
    <dgm:cxn modelId="{4516C278-C01A-4958-9A77-5F4CB71E9E7B}" type="presParOf" srcId="{B2A7DED3-A810-47D4-8E78-23F79D7DB20F}" destId="{553D9B72-D974-45D5-B04F-D64BB20CD795}" srcOrd="1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0D2143-9E75-446D-836A-D3006B3354DF}">
      <dsp:nvSpPr>
        <dsp:cNvPr id="0" name=""/>
        <dsp:cNvSpPr/>
      </dsp:nvSpPr>
      <dsp:spPr>
        <a:xfrm rot="5400000">
          <a:off x="1576532" y="914084"/>
          <a:ext cx="1430051" cy="172370"/>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DFC0AB1-C127-40BA-A6BC-72D24338E15F}">
      <dsp:nvSpPr>
        <dsp:cNvPr id="0" name=""/>
        <dsp:cNvSpPr/>
      </dsp:nvSpPr>
      <dsp:spPr>
        <a:xfrm>
          <a:off x="1905325" y="1162"/>
          <a:ext cx="1915231" cy="11491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TCGA-BRCA RNA-</a:t>
          </a:r>
          <a:r>
            <a:rPr lang="en-IN" sz="1300" kern="1200" dirty="0" err="1"/>
            <a:t>seq</a:t>
          </a:r>
          <a:r>
            <a:rPr lang="en-IN" sz="1300" kern="1200" dirty="0"/>
            <a:t> Data</a:t>
          </a:r>
        </a:p>
      </dsp:txBody>
      <dsp:txXfrm>
        <a:off x="1938982" y="34819"/>
        <a:ext cx="1847917" cy="1081825"/>
      </dsp:txXfrm>
    </dsp:sp>
    <dsp:sp modelId="{01648214-BF7B-4D6F-B0C1-E0EE019D42E7}">
      <dsp:nvSpPr>
        <dsp:cNvPr id="0" name=""/>
        <dsp:cNvSpPr/>
      </dsp:nvSpPr>
      <dsp:spPr>
        <a:xfrm rot="5400000">
          <a:off x="1576532" y="2350508"/>
          <a:ext cx="1430051" cy="172370"/>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98D852-E177-4EB0-A0FD-F9C64068925F}">
      <dsp:nvSpPr>
        <dsp:cNvPr id="0" name=""/>
        <dsp:cNvSpPr/>
      </dsp:nvSpPr>
      <dsp:spPr>
        <a:xfrm>
          <a:off x="1905325" y="1437586"/>
          <a:ext cx="1915231" cy="11491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Preprocessing &amp; Feature Alignment</a:t>
          </a:r>
        </a:p>
      </dsp:txBody>
      <dsp:txXfrm>
        <a:off x="1938982" y="1471243"/>
        <a:ext cx="1847917" cy="1081825"/>
      </dsp:txXfrm>
    </dsp:sp>
    <dsp:sp modelId="{61673C86-0F09-4F58-B106-994814E153BD}">
      <dsp:nvSpPr>
        <dsp:cNvPr id="0" name=""/>
        <dsp:cNvSpPr/>
      </dsp:nvSpPr>
      <dsp:spPr>
        <a:xfrm>
          <a:off x="2294744" y="3068720"/>
          <a:ext cx="2540886" cy="172370"/>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055604A-6F93-497F-BE3E-F2355AD775C6}">
      <dsp:nvSpPr>
        <dsp:cNvPr id="0" name=""/>
        <dsp:cNvSpPr/>
      </dsp:nvSpPr>
      <dsp:spPr>
        <a:xfrm>
          <a:off x="1905325" y="2874010"/>
          <a:ext cx="1915231" cy="11491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err="1"/>
            <a:t>XGBoost</a:t>
          </a:r>
          <a:r>
            <a:rPr lang="en-IN" sz="1300" kern="1200" dirty="0"/>
            <a:t> PAM50 Subtype Classifier</a:t>
          </a:r>
        </a:p>
      </dsp:txBody>
      <dsp:txXfrm>
        <a:off x="1938982" y="2907667"/>
        <a:ext cx="1847917" cy="1081825"/>
      </dsp:txXfrm>
    </dsp:sp>
    <dsp:sp modelId="{95C0F8E3-EDF2-4113-8F34-C92EFB36ECDA}">
      <dsp:nvSpPr>
        <dsp:cNvPr id="0" name=""/>
        <dsp:cNvSpPr/>
      </dsp:nvSpPr>
      <dsp:spPr>
        <a:xfrm rot="16200000">
          <a:off x="4123790" y="2350508"/>
          <a:ext cx="1430051" cy="172370"/>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0AD4E0-59C2-4934-BEC3-A7C3F7DB9E2E}">
      <dsp:nvSpPr>
        <dsp:cNvPr id="0" name=""/>
        <dsp:cNvSpPr/>
      </dsp:nvSpPr>
      <dsp:spPr>
        <a:xfrm>
          <a:off x="4452584" y="2874010"/>
          <a:ext cx="1915231" cy="11491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Subtype Prediction + Probabilities</a:t>
          </a:r>
        </a:p>
      </dsp:txBody>
      <dsp:txXfrm>
        <a:off x="4486241" y="2907667"/>
        <a:ext cx="1847917" cy="1081825"/>
      </dsp:txXfrm>
    </dsp:sp>
    <dsp:sp modelId="{3EA6576E-6FA1-4B1F-8941-D0278C7C1AF9}">
      <dsp:nvSpPr>
        <dsp:cNvPr id="0" name=""/>
        <dsp:cNvSpPr/>
      </dsp:nvSpPr>
      <dsp:spPr>
        <a:xfrm rot="16200000">
          <a:off x="4123790" y="914084"/>
          <a:ext cx="1430051" cy="172370"/>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3865EEE-5444-4BAE-948C-771CD2C2DCE9}">
      <dsp:nvSpPr>
        <dsp:cNvPr id="0" name=""/>
        <dsp:cNvSpPr/>
      </dsp:nvSpPr>
      <dsp:spPr>
        <a:xfrm>
          <a:off x="4452584" y="1437586"/>
          <a:ext cx="1915231" cy="11491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Interpretability-Oriented Explanation Layer </a:t>
          </a:r>
        </a:p>
        <a:p>
          <a:pPr marL="0" lvl="0" indent="0" algn="ctr" defTabSz="577850">
            <a:lnSpc>
              <a:spcPct val="90000"/>
            </a:lnSpc>
            <a:spcBef>
              <a:spcPct val="0"/>
            </a:spcBef>
            <a:spcAft>
              <a:spcPct val="35000"/>
            </a:spcAft>
            <a:buNone/>
          </a:pPr>
          <a:r>
            <a:rPr lang="en-IN" sz="1300" kern="1200" dirty="0"/>
            <a:t>(Feature-aware reasoning)</a:t>
          </a:r>
        </a:p>
      </dsp:txBody>
      <dsp:txXfrm>
        <a:off x="4486241" y="1471243"/>
        <a:ext cx="1847917" cy="1081825"/>
      </dsp:txXfrm>
    </dsp:sp>
    <dsp:sp modelId="{7BF85AC2-27DB-4B2D-92D8-FAB47A060185}">
      <dsp:nvSpPr>
        <dsp:cNvPr id="0" name=""/>
        <dsp:cNvSpPr/>
      </dsp:nvSpPr>
      <dsp:spPr>
        <a:xfrm>
          <a:off x="4842002" y="195872"/>
          <a:ext cx="2540886" cy="172370"/>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D57C4FA-D052-4245-A6AC-027C85E89D5C}">
      <dsp:nvSpPr>
        <dsp:cNvPr id="0" name=""/>
        <dsp:cNvSpPr/>
      </dsp:nvSpPr>
      <dsp:spPr>
        <a:xfrm>
          <a:off x="4452584" y="1162"/>
          <a:ext cx="1915231" cy="11491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RAG Knowledge Retrieval</a:t>
          </a:r>
        </a:p>
        <a:p>
          <a:pPr marL="0" lvl="0" indent="0" algn="ctr" defTabSz="577850">
            <a:lnSpc>
              <a:spcPct val="90000"/>
            </a:lnSpc>
            <a:spcBef>
              <a:spcPct val="0"/>
            </a:spcBef>
            <a:spcAft>
              <a:spcPct val="35000"/>
            </a:spcAft>
            <a:buNone/>
          </a:pPr>
          <a:r>
            <a:rPr lang="en-IN" sz="1300" kern="1200" dirty="0"/>
            <a:t>(Oncology literature + subtype biology)</a:t>
          </a:r>
        </a:p>
      </dsp:txBody>
      <dsp:txXfrm>
        <a:off x="4486241" y="34819"/>
        <a:ext cx="1847917" cy="1081825"/>
      </dsp:txXfrm>
    </dsp:sp>
    <dsp:sp modelId="{856042DA-F680-4B7F-BA3F-B18771019101}">
      <dsp:nvSpPr>
        <dsp:cNvPr id="0" name=""/>
        <dsp:cNvSpPr/>
      </dsp:nvSpPr>
      <dsp:spPr>
        <a:xfrm rot="5400000">
          <a:off x="6671048" y="914084"/>
          <a:ext cx="1430051" cy="172370"/>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B459C26-35F4-40E1-BFB4-7C3F0E529D05}">
      <dsp:nvSpPr>
        <dsp:cNvPr id="0" name=""/>
        <dsp:cNvSpPr/>
      </dsp:nvSpPr>
      <dsp:spPr>
        <a:xfrm>
          <a:off x="6999842" y="1162"/>
          <a:ext cx="1915231" cy="11491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LLM Reasoning for Biological Interpretation (Gemma via Ollama)</a:t>
          </a:r>
        </a:p>
      </dsp:txBody>
      <dsp:txXfrm>
        <a:off x="7033499" y="34819"/>
        <a:ext cx="1847917" cy="1081825"/>
      </dsp:txXfrm>
    </dsp:sp>
    <dsp:sp modelId="{901E7979-0610-4B2E-81C0-2072A46E8318}">
      <dsp:nvSpPr>
        <dsp:cNvPr id="0" name=""/>
        <dsp:cNvSpPr/>
      </dsp:nvSpPr>
      <dsp:spPr>
        <a:xfrm rot="5400000">
          <a:off x="6671048" y="2350508"/>
          <a:ext cx="1430051" cy="172370"/>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297DA30-65CC-4EC9-A043-301120142C19}">
      <dsp:nvSpPr>
        <dsp:cNvPr id="0" name=""/>
        <dsp:cNvSpPr/>
      </dsp:nvSpPr>
      <dsp:spPr>
        <a:xfrm>
          <a:off x="6999842" y="1437586"/>
          <a:ext cx="1915231" cy="11491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Agent-Based Explanation Interface (Query Routing &amp; Explanation Logic)</a:t>
          </a:r>
        </a:p>
      </dsp:txBody>
      <dsp:txXfrm>
        <a:off x="7033499" y="1471243"/>
        <a:ext cx="1847917" cy="1081825"/>
      </dsp:txXfrm>
    </dsp:sp>
    <dsp:sp modelId="{8925A3BA-D441-4DB3-8D96-5895FE5CA6B5}">
      <dsp:nvSpPr>
        <dsp:cNvPr id="0" name=""/>
        <dsp:cNvSpPr/>
      </dsp:nvSpPr>
      <dsp:spPr>
        <a:xfrm>
          <a:off x="6999842" y="2874010"/>
          <a:ext cx="1915231" cy="11491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IN" sz="1300" kern="1200" dirty="0"/>
            <a:t>Conversational Explanation Interface (</a:t>
          </a:r>
          <a:r>
            <a:rPr lang="en-IN" sz="1300" kern="1200" dirty="0" err="1"/>
            <a:t>Streamlit</a:t>
          </a:r>
          <a:r>
            <a:rPr lang="en-IN" sz="1300" kern="1200" dirty="0"/>
            <a:t> Web Interface)</a:t>
          </a:r>
        </a:p>
      </dsp:txBody>
      <dsp:txXfrm>
        <a:off x="7033499" y="2907667"/>
        <a:ext cx="1847917" cy="10818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F46059-9B8D-4263-810A-3BB0C8898378}">
      <dsp:nvSpPr>
        <dsp:cNvPr id="0" name=""/>
        <dsp:cNvSpPr/>
      </dsp:nvSpPr>
      <dsp:spPr>
        <a:xfrm>
          <a:off x="3356539" y="799967"/>
          <a:ext cx="615876" cy="91440"/>
        </a:xfrm>
        <a:custGeom>
          <a:avLst/>
          <a:gdLst/>
          <a:ahLst/>
          <a:cxnLst/>
          <a:rect l="0" t="0" r="0" b="0"/>
          <a:pathLst>
            <a:path>
              <a:moveTo>
                <a:pt x="0" y="45720"/>
              </a:moveTo>
              <a:lnTo>
                <a:pt x="61587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648315" y="842455"/>
        <a:ext cx="32323" cy="6464"/>
      </dsp:txXfrm>
    </dsp:sp>
    <dsp:sp modelId="{D5A0B7BC-7014-489D-92F8-8CFCE5DD0E8D}">
      <dsp:nvSpPr>
        <dsp:cNvPr id="0" name=""/>
        <dsp:cNvSpPr/>
      </dsp:nvSpPr>
      <dsp:spPr>
        <a:xfrm>
          <a:off x="547571" y="2457"/>
          <a:ext cx="2810767" cy="16864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N" sz="1800" kern="1200" dirty="0"/>
            <a:t>Predicted PAM50 Subtype</a:t>
          </a:r>
        </a:p>
      </dsp:txBody>
      <dsp:txXfrm>
        <a:off x="547571" y="2457"/>
        <a:ext cx="2810767" cy="1686460"/>
      </dsp:txXfrm>
    </dsp:sp>
    <dsp:sp modelId="{03CAFFA9-003D-4932-89D7-225BB87B78BA}">
      <dsp:nvSpPr>
        <dsp:cNvPr id="0" name=""/>
        <dsp:cNvSpPr/>
      </dsp:nvSpPr>
      <dsp:spPr>
        <a:xfrm>
          <a:off x="6813783" y="799967"/>
          <a:ext cx="615876" cy="91440"/>
        </a:xfrm>
        <a:custGeom>
          <a:avLst/>
          <a:gdLst/>
          <a:ahLst/>
          <a:cxnLst/>
          <a:rect l="0" t="0" r="0" b="0"/>
          <a:pathLst>
            <a:path>
              <a:moveTo>
                <a:pt x="0" y="45720"/>
              </a:moveTo>
              <a:lnTo>
                <a:pt x="61587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7105560" y="842455"/>
        <a:ext cx="32323" cy="6464"/>
      </dsp:txXfrm>
    </dsp:sp>
    <dsp:sp modelId="{1DD557F0-76B2-4E62-9FD2-02F05B0375A5}">
      <dsp:nvSpPr>
        <dsp:cNvPr id="0" name=""/>
        <dsp:cNvSpPr/>
      </dsp:nvSpPr>
      <dsp:spPr>
        <a:xfrm>
          <a:off x="4004816" y="2457"/>
          <a:ext cx="2810767" cy="16864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N" sz="1800" kern="1200" dirty="0"/>
            <a:t>Subtype-Specific Knowledge Base</a:t>
          </a:r>
        </a:p>
        <a:p>
          <a:pPr marL="0" lvl="0" indent="0" algn="ctr" defTabSz="800100">
            <a:lnSpc>
              <a:spcPct val="90000"/>
            </a:lnSpc>
            <a:spcBef>
              <a:spcPct val="0"/>
            </a:spcBef>
            <a:spcAft>
              <a:spcPct val="35000"/>
            </a:spcAft>
            <a:buNone/>
          </a:pPr>
          <a:r>
            <a:rPr lang="en-IN" sz="1800" kern="1200" dirty="0"/>
            <a:t>(PAM50 biology, TCGA context, subtype literature)</a:t>
          </a:r>
        </a:p>
      </dsp:txBody>
      <dsp:txXfrm>
        <a:off x="4004816" y="2457"/>
        <a:ext cx="2810767" cy="1686460"/>
      </dsp:txXfrm>
    </dsp:sp>
    <dsp:sp modelId="{16C46CF2-49B6-4FA7-B6AD-680736DC46D2}">
      <dsp:nvSpPr>
        <dsp:cNvPr id="0" name=""/>
        <dsp:cNvSpPr/>
      </dsp:nvSpPr>
      <dsp:spPr>
        <a:xfrm>
          <a:off x="1952955" y="1687118"/>
          <a:ext cx="6914489" cy="615876"/>
        </a:xfrm>
        <a:custGeom>
          <a:avLst/>
          <a:gdLst/>
          <a:ahLst/>
          <a:cxnLst/>
          <a:rect l="0" t="0" r="0" b="0"/>
          <a:pathLst>
            <a:path>
              <a:moveTo>
                <a:pt x="6914489" y="0"/>
              </a:moveTo>
              <a:lnTo>
                <a:pt x="6914489" y="325038"/>
              </a:lnTo>
              <a:lnTo>
                <a:pt x="0" y="325038"/>
              </a:lnTo>
              <a:lnTo>
                <a:pt x="0" y="615876"/>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236583" y="1991824"/>
        <a:ext cx="347232" cy="6464"/>
      </dsp:txXfrm>
    </dsp:sp>
    <dsp:sp modelId="{8AB2ACFC-081C-4242-9268-57D03A3C332D}">
      <dsp:nvSpPr>
        <dsp:cNvPr id="0" name=""/>
        <dsp:cNvSpPr/>
      </dsp:nvSpPr>
      <dsp:spPr>
        <a:xfrm>
          <a:off x="7462060" y="2457"/>
          <a:ext cx="2810767" cy="16864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N" sz="1800" kern="1200" dirty="0"/>
            <a:t>Vector Embeddings (Sentence Transformers)</a:t>
          </a:r>
        </a:p>
      </dsp:txBody>
      <dsp:txXfrm>
        <a:off x="7462060" y="2457"/>
        <a:ext cx="2810767" cy="1686460"/>
      </dsp:txXfrm>
    </dsp:sp>
    <dsp:sp modelId="{1D5A0168-7E23-4568-88BB-758E138D7602}">
      <dsp:nvSpPr>
        <dsp:cNvPr id="0" name=""/>
        <dsp:cNvSpPr/>
      </dsp:nvSpPr>
      <dsp:spPr>
        <a:xfrm>
          <a:off x="3356539" y="3132905"/>
          <a:ext cx="615876" cy="91440"/>
        </a:xfrm>
        <a:custGeom>
          <a:avLst/>
          <a:gdLst/>
          <a:ahLst/>
          <a:cxnLst/>
          <a:rect l="0" t="0" r="0" b="0"/>
          <a:pathLst>
            <a:path>
              <a:moveTo>
                <a:pt x="0" y="45720"/>
              </a:moveTo>
              <a:lnTo>
                <a:pt x="61587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648315" y="3175392"/>
        <a:ext cx="32323" cy="6464"/>
      </dsp:txXfrm>
    </dsp:sp>
    <dsp:sp modelId="{FA685047-83EB-41BD-A607-6A0E0B13E4FC}">
      <dsp:nvSpPr>
        <dsp:cNvPr id="0" name=""/>
        <dsp:cNvSpPr/>
      </dsp:nvSpPr>
      <dsp:spPr>
        <a:xfrm>
          <a:off x="547571" y="2335394"/>
          <a:ext cx="2810767" cy="16864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N" sz="1800" kern="1200" dirty="0"/>
            <a:t>Semantic Retrieval (</a:t>
          </a:r>
          <a:r>
            <a:rPr lang="en-IN" sz="1800" kern="1200" dirty="0" err="1"/>
            <a:t>ChromaDB</a:t>
          </a:r>
          <a:r>
            <a:rPr lang="en-IN" sz="1800" kern="1200" dirty="0"/>
            <a:t>)</a:t>
          </a:r>
        </a:p>
      </dsp:txBody>
      <dsp:txXfrm>
        <a:off x="547571" y="2335394"/>
        <a:ext cx="2810767" cy="1686460"/>
      </dsp:txXfrm>
    </dsp:sp>
    <dsp:sp modelId="{A3AFF0CE-D7FD-4CE4-B457-7B2498E4C9DF}">
      <dsp:nvSpPr>
        <dsp:cNvPr id="0" name=""/>
        <dsp:cNvSpPr/>
      </dsp:nvSpPr>
      <dsp:spPr>
        <a:xfrm>
          <a:off x="6813783" y="3132905"/>
          <a:ext cx="615876" cy="91440"/>
        </a:xfrm>
        <a:custGeom>
          <a:avLst/>
          <a:gdLst/>
          <a:ahLst/>
          <a:cxnLst/>
          <a:rect l="0" t="0" r="0" b="0"/>
          <a:pathLst>
            <a:path>
              <a:moveTo>
                <a:pt x="0" y="45720"/>
              </a:moveTo>
              <a:lnTo>
                <a:pt x="61587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7105560" y="3175392"/>
        <a:ext cx="32323" cy="6464"/>
      </dsp:txXfrm>
    </dsp:sp>
    <dsp:sp modelId="{4ECABC07-E6EF-438E-B253-A005143009B6}">
      <dsp:nvSpPr>
        <dsp:cNvPr id="0" name=""/>
        <dsp:cNvSpPr/>
      </dsp:nvSpPr>
      <dsp:spPr>
        <a:xfrm>
          <a:off x="4004816" y="2335394"/>
          <a:ext cx="2810767" cy="16864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N" sz="1800" kern="1200" dirty="0"/>
            <a:t>LLM (Gemma via Ollama)</a:t>
          </a:r>
        </a:p>
      </dsp:txBody>
      <dsp:txXfrm>
        <a:off x="4004816" y="2335394"/>
        <a:ext cx="2810767" cy="1686460"/>
      </dsp:txXfrm>
    </dsp:sp>
    <dsp:sp modelId="{553D9B72-D974-45D5-B04F-D64BB20CD795}">
      <dsp:nvSpPr>
        <dsp:cNvPr id="0" name=""/>
        <dsp:cNvSpPr/>
      </dsp:nvSpPr>
      <dsp:spPr>
        <a:xfrm>
          <a:off x="7462060" y="2335394"/>
          <a:ext cx="2810767" cy="16864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IN" sz="1800" kern="1200" dirty="0"/>
            <a:t>Biologically Grounded Explanation</a:t>
          </a:r>
        </a:p>
      </dsp:txBody>
      <dsp:txXfrm>
        <a:off x="7462060" y="2335394"/>
        <a:ext cx="2810767" cy="1686460"/>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3EE0F454-E0C0-493E-88CC-EC94C44BE258}" type="datetimeFigureOut">
              <a:rPr lang="en-IN" smtClean="0"/>
              <a:t>18-01-2026</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1840519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E0F454-E0C0-493E-88CC-EC94C44BE258}"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31695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3EE0F454-E0C0-493E-88CC-EC94C44BE258}" type="datetimeFigureOut">
              <a:rPr lang="en-IN" smtClean="0"/>
              <a:t>18-01-2026</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2740003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E0F454-E0C0-493E-88CC-EC94C44BE258}" type="datetimeFigureOut">
              <a:rPr lang="en-IN" smtClean="0"/>
              <a:t>18-01-2026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4227666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E0F454-E0C0-493E-88CC-EC94C44BE258}" type="datetimeFigureOut">
              <a:rPr lang="en-IN" smtClean="0"/>
              <a:t>18-01-2026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1654219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E0F454-E0C0-493E-88CC-EC94C44BE258}" type="datetimeFigureOut">
              <a:rPr lang="en-IN" smtClean="0"/>
              <a:t>18-01-2026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3504224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E0F454-E0C0-493E-88CC-EC94C44BE258}" type="datetimeFigureOut">
              <a:rPr lang="en-IN" smtClean="0"/>
              <a:t>18-01-2026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716747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E0F454-E0C0-493E-88CC-EC94C44BE258}" type="datetimeFigureOut">
              <a:rPr lang="en-IN" smtClean="0"/>
              <a:t>18-01-2026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1543815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E0F454-E0C0-493E-88CC-EC94C44BE258}" type="datetimeFigureOut">
              <a:rPr lang="en-IN" smtClean="0"/>
              <a:t>18-01-2026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1231198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E0F454-E0C0-493E-88CC-EC94C44BE258}" type="datetimeFigureOut">
              <a:rPr lang="en-IN" smtClean="0"/>
              <a:t>18-01-2026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2594160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EE0F454-E0C0-493E-88CC-EC94C44BE258}" type="datetimeFigureOut">
              <a:rPr lang="en-IN" smtClean="0"/>
              <a:t>18-01-2026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2084477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EE0F454-E0C0-493E-88CC-EC94C44BE258}" type="datetimeFigureOut">
              <a:rPr lang="en-IN" smtClean="0"/>
              <a:t>18-01-2026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0CACEB95-6765-42F7-8BB2-06443647B854}"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115020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3EE0F454-E0C0-493E-88CC-EC94C44BE258}" type="datetimeFigureOut">
              <a:rPr lang="en-IN" smtClean="0"/>
              <a:t>18-01-2026</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3584266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EE0F454-E0C0-493E-88CC-EC94C44BE258}" type="datetimeFigureOut">
              <a:rPr lang="en-IN" smtClean="0"/>
              <a:t>18-01-2026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4289901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EE0F454-E0C0-493E-88CC-EC94C44BE258}" type="datetimeFigureOut">
              <a:rPr lang="en-IN" smtClean="0"/>
              <a:t>18-01-2026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13384654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E0F454-E0C0-493E-88CC-EC94C44BE258}"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3155881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3EE0F454-E0C0-493E-88CC-EC94C44BE258}" type="datetimeFigureOut">
              <a:rPr lang="en-IN" smtClean="0"/>
              <a:t>18-01-2026</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0CACEB95-6765-42F7-8BB2-06443647B854}" type="slidenum">
              <a:rPr lang="en-IN" smtClean="0"/>
              <a:t>‹#›</a:t>
            </a:fld>
            <a:endParaRPr lang="en-IN"/>
          </a:p>
        </p:txBody>
      </p:sp>
    </p:spTree>
    <p:extLst>
      <p:ext uri="{BB962C8B-B14F-4D97-AF65-F5344CB8AC3E}">
        <p14:creationId xmlns:p14="http://schemas.microsoft.com/office/powerpoint/2010/main" val="449327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EE0F454-E0C0-493E-88CC-EC94C44BE258}" type="datetimeFigureOut">
              <a:rPr lang="en-IN" smtClean="0"/>
              <a:t>18-01-2026</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CACEB95-6765-42F7-8BB2-06443647B854}" type="slidenum">
              <a:rPr lang="en-IN" smtClean="0"/>
              <a:t>‹#›</a:t>
            </a:fld>
            <a:endParaRPr lang="en-IN"/>
          </a:p>
        </p:txBody>
      </p:sp>
    </p:spTree>
    <p:extLst>
      <p:ext uri="{BB962C8B-B14F-4D97-AF65-F5344CB8AC3E}">
        <p14:creationId xmlns:p14="http://schemas.microsoft.com/office/powerpoint/2010/main" val="3878423446"/>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 id="2147483891"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61D93-3883-BD0F-1960-F0B5E5ED2E16}"/>
              </a:ext>
            </a:extLst>
          </p:cNvPr>
          <p:cNvSpPr>
            <a:spLocks noGrp="1"/>
          </p:cNvSpPr>
          <p:nvPr>
            <p:ph type="ctrTitle"/>
          </p:nvPr>
        </p:nvSpPr>
        <p:spPr/>
        <p:txBody>
          <a:bodyPr>
            <a:normAutofit fontScale="90000"/>
          </a:bodyPr>
          <a:lstStyle/>
          <a:p>
            <a:r>
              <a:rPr lang="en-IN" b="1" dirty="0"/>
              <a:t>AI-Driven Explainable Cancer Subtype Prediction (TCGA-BRCA)</a:t>
            </a:r>
            <a:endParaRPr lang="en-IN" dirty="0"/>
          </a:p>
        </p:txBody>
      </p:sp>
      <p:sp>
        <p:nvSpPr>
          <p:cNvPr id="3" name="Subtitle 2">
            <a:extLst>
              <a:ext uri="{FF2B5EF4-FFF2-40B4-BE49-F238E27FC236}">
                <a16:creationId xmlns:a16="http://schemas.microsoft.com/office/drawing/2014/main" id="{921C807C-A28A-00C2-BC69-176FB04E1F03}"/>
              </a:ext>
            </a:extLst>
          </p:cNvPr>
          <p:cNvSpPr>
            <a:spLocks noGrp="1"/>
          </p:cNvSpPr>
          <p:nvPr>
            <p:ph type="subTitle" idx="1"/>
          </p:nvPr>
        </p:nvSpPr>
        <p:spPr>
          <a:xfrm>
            <a:off x="6607277" y="4365522"/>
            <a:ext cx="4375355" cy="892277"/>
          </a:xfrm>
        </p:spPr>
        <p:txBody>
          <a:bodyPr>
            <a:normAutofit fontScale="92500" lnSpcReduction="20000"/>
          </a:bodyPr>
          <a:lstStyle/>
          <a:p>
            <a:r>
              <a:rPr lang="en-IN" dirty="0"/>
              <a:t>Smrithi Radhakrishnan</a:t>
            </a:r>
          </a:p>
          <a:p>
            <a:r>
              <a:rPr lang="en-IN" dirty="0"/>
              <a:t>Data Science /Computational Oncology</a:t>
            </a:r>
          </a:p>
        </p:txBody>
      </p:sp>
    </p:spTree>
    <p:extLst>
      <p:ext uri="{BB962C8B-B14F-4D97-AF65-F5344CB8AC3E}">
        <p14:creationId xmlns:p14="http://schemas.microsoft.com/office/powerpoint/2010/main" val="53755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7913-D2C0-6A41-6ED6-C6C8B8F9AC13}"/>
              </a:ext>
            </a:extLst>
          </p:cNvPr>
          <p:cNvSpPr>
            <a:spLocks noGrp="1"/>
          </p:cNvSpPr>
          <p:nvPr>
            <p:ph type="title"/>
          </p:nvPr>
        </p:nvSpPr>
        <p:spPr/>
        <p:txBody>
          <a:bodyPr/>
          <a:lstStyle/>
          <a:p>
            <a:r>
              <a:rPr lang="en-IN" b="1" dirty="0"/>
              <a:t>Problem statement</a:t>
            </a:r>
          </a:p>
        </p:txBody>
      </p:sp>
      <p:sp>
        <p:nvSpPr>
          <p:cNvPr id="3" name="Content Placeholder 2">
            <a:extLst>
              <a:ext uri="{FF2B5EF4-FFF2-40B4-BE49-F238E27FC236}">
                <a16:creationId xmlns:a16="http://schemas.microsoft.com/office/drawing/2014/main" id="{0F9EB182-43D9-2C4E-B147-449D3E2D24F5}"/>
              </a:ext>
            </a:extLst>
          </p:cNvPr>
          <p:cNvSpPr>
            <a:spLocks noGrp="1"/>
          </p:cNvSpPr>
          <p:nvPr>
            <p:ph idx="1"/>
          </p:nvPr>
        </p:nvSpPr>
        <p:spPr/>
        <p:txBody>
          <a:bodyPr/>
          <a:lstStyle/>
          <a:p>
            <a:r>
              <a:rPr lang="en-US" dirty="0"/>
              <a:t>Breast cancer is molecularly heterogeneous</a:t>
            </a:r>
          </a:p>
          <a:p>
            <a:r>
              <a:rPr lang="en-US" dirty="0"/>
              <a:t>PAM50 subtypes drive:</a:t>
            </a:r>
          </a:p>
          <a:p>
            <a:pPr lvl="1">
              <a:buFontTx/>
              <a:buChar char="-"/>
            </a:pPr>
            <a:r>
              <a:rPr lang="en-US" dirty="0"/>
              <a:t>prognosis </a:t>
            </a:r>
          </a:p>
          <a:p>
            <a:pPr lvl="1">
              <a:buFontTx/>
              <a:buChar char="-"/>
            </a:pPr>
            <a:r>
              <a:rPr lang="en-US" dirty="0"/>
              <a:t>therapy selection</a:t>
            </a:r>
          </a:p>
          <a:p>
            <a:r>
              <a:rPr lang="en-US" dirty="0"/>
              <a:t>Many ML models are black boxes</a:t>
            </a:r>
          </a:p>
          <a:p>
            <a:r>
              <a:rPr lang="en-US" dirty="0"/>
              <a:t>Clinicians need interpretability + biological grounding</a:t>
            </a:r>
            <a:endParaRPr lang="en-IN" dirty="0"/>
          </a:p>
        </p:txBody>
      </p:sp>
    </p:spTree>
    <p:extLst>
      <p:ext uri="{BB962C8B-B14F-4D97-AF65-F5344CB8AC3E}">
        <p14:creationId xmlns:p14="http://schemas.microsoft.com/office/powerpoint/2010/main" val="1498738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54EA-32A3-E6F8-9ABA-EE18FBE920CF}"/>
              </a:ext>
            </a:extLst>
          </p:cNvPr>
          <p:cNvSpPr>
            <a:spLocks noGrp="1"/>
          </p:cNvSpPr>
          <p:nvPr>
            <p:ph type="title"/>
          </p:nvPr>
        </p:nvSpPr>
        <p:spPr/>
        <p:txBody>
          <a:bodyPr/>
          <a:lstStyle/>
          <a:p>
            <a:r>
              <a:rPr lang="en-IN" b="1" dirty="0"/>
              <a:t>Research objectives</a:t>
            </a:r>
          </a:p>
        </p:txBody>
      </p:sp>
      <p:sp>
        <p:nvSpPr>
          <p:cNvPr id="3" name="Content Placeholder 2">
            <a:extLst>
              <a:ext uri="{FF2B5EF4-FFF2-40B4-BE49-F238E27FC236}">
                <a16:creationId xmlns:a16="http://schemas.microsoft.com/office/drawing/2014/main" id="{FBC4AC42-7E0E-4D8E-E3B8-D018F601033D}"/>
              </a:ext>
            </a:extLst>
          </p:cNvPr>
          <p:cNvSpPr>
            <a:spLocks noGrp="1"/>
          </p:cNvSpPr>
          <p:nvPr>
            <p:ph idx="1"/>
          </p:nvPr>
        </p:nvSpPr>
        <p:spPr/>
        <p:txBody>
          <a:bodyPr/>
          <a:lstStyle/>
          <a:p>
            <a:r>
              <a:rPr lang="en-US" dirty="0"/>
              <a:t>Predict PAM50 subtypes from RNA-seq data</a:t>
            </a:r>
          </a:p>
          <a:p>
            <a:r>
              <a:rPr lang="en-US" dirty="0"/>
              <a:t>Build an interpretable ML pipeline</a:t>
            </a:r>
          </a:p>
          <a:p>
            <a:r>
              <a:rPr lang="en-US" dirty="0"/>
              <a:t>Provide biologically grounded explanations</a:t>
            </a:r>
          </a:p>
          <a:p>
            <a:r>
              <a:rPr lang="en-US" dirty="0"/>
              <a:t>Bridge ML predictions and oncology literature</a:t>
            </a:r>
            <a:endParaRPr lang="en-IN" dirty="0"/>
          </a:p>
        </p:txBody>
      </p:sp>
    </p:spTree>
    <p:extLst>
      <p:ext uri="{BB962C8B-B14F-4D97-AF65-F5344CB8AC3E}">
        <p14:creationId xmlns:p14="http://schemas.microsoft.com/office/powerpoint/2010/main" val="2382449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27B1B-A274-95FD-CE1E-8194576E0F63}"/>
              </a:ext>
            </a:extLst>
          </p:cNvPr>
          <p:cNvSpPr>
            <a:spLocks noGrp="1"/>
          </p:cNvSpPr>
          <p:nvPr>
            <p:ph type="title"/>
          </p:nvPr>
        </p:nvSpPr>
        <p:spPr/>
        <p:txBody>
          <a:bodyPr/>
          <a:lstStyle/>
          <a:p>
            <a:r>
              <a:rPr lang="en-IN" b="1" dirty="0"/>
              <a:t>Pipeline architecture</a:t>
            </a:r>
          </a:p>
        </p:txBody>
      </p:sp>
      <p:graphicFrame>
        <p:nvGraphicFramePr>
          <p:cNvPr id="4" name="Content Placeholder 3">
            <a:extLst>
              <a:ext uri="{FF2B5EF4-FFF2-40B4-BE49-F238E27FC236}">
                <a16:creationId xmlns:a16="http://schemas.microsoft.com/office/drawing/2014/main" id="{C2C5B2C8-DD58-B9BE-0D90-A7853D151E19}"/>
              </a:ext>
            </a:extLst>
          </p:cNvPr>
          <p:cNvGraphicFramePr>
            <a:graphicFrameLocks noGrp="1"/>
          </p:cNvGraphicFramePr>
          <p:nvPr>
            <p:ph idx="1"/>
            <p:extLst>
              <p:ext uri="{D42A27DB-BD31-4B8C-83A1-F6EECF244321}">
                <p14:modId xmlns:p14="http://schemas.microsoft.com/office/powerpoint/2010/main" val="2691466554"/>
              </p:ext>
            </p:extLst>
          </p:nvPr>
        </p:nvGraphicFramePr>
        <p:xfrm>
          <a:off x="685800" y="2193925"/>
          <a:ext cx="10820400" cy="40243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0528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1D212-95FB-3E0C-B7C7-6BC67F9C88A2}"/>
              </a:ext>
            </a:extLst>
          </p:cNvPr>
          <p:cNvSpPr>
            <a:spLocks noGrp="1"/>
          </p:cNvSpPr>
          <p:nvPr>
            <p:ph type="title"/>
          </p:nvPr>
        </p:nvSpPr>
        <p:spPr/>
        <p:txBody>
          <a:bodyPr/>
          <a:lstStyle/>
          <a:p>
            <a:r>
              <a:rPr lang="en-IN" b="1" dirty="0"/>
              <a:t>Dataset</a:t>
            </a:r>
          </a:p>
        </p:txBody>
      </p:sp>
      <p:sp>
        <p:nvSpPr>
          <p:cNvPr id="3" name="Content Placeholder 2">
            <a:extLst>
              <a:ext uri="{FF2B5EF4-FFF2-40B4-BE49-F238E27FC236}">
                <a16:creationId xmlns:a16="http://schemas.microsoft.com/office/drawing/2014/main" id="{6E1B8380-3796-10D6-0B4E-4919DF410032}"/>
              </a:ext>
            </a:extLst>
          </p:cNvPr>
          <p:cNvSpPr>
            <a:spLocks noGrp="1"/>
          </p:cNvSpPr>
          <p:nvPr>
            <p:ph idx="1"/>
          </p:nvPr>
        </p:nvSpPr>
        <p:spPr/>
        <p:txBody>
          <a:bodyPr/>
          <a:lstStyle/>
          <a:p>
            <a:r>
              <a:rPr lang="en-IN" dirty="0"/>
              <a:t>Data downloaded from UCSC Xena (TCGA- The Cancer Genome Atlas  BRCA – Breast Invasive Carcinoma)</a:t>
            </a:r>
          </a:p>
          <a:p>
            <a:pPr marL="0" indent="0">
              <a:buNone/>
            </a:pPr>
            <a:r>
              <a:rPr lang="en-IN" dirty="0"/>
              <a:t>	- Gene expression file </a:t>
            </a:r>
          </a:p>
          <a:p>
            <a:pPr marL="0" indent="0">
              <a:buNone/>
            </a:pPr>
            <a:r>
              <a:rPr lang="en-IN" dirty="0"/>
              <a:t>	- Phenotype file containing patient information like age, tumour subtype and PAM50 subtype column</a:t>
            </a:r>
          </a:p>
          <a:p>
            <a:pPr marL="0" indent="0">
              <a:buNone/>
            </a:pPr>
            <a:endParaRPr lang="en-IN" dirty="0"/>
          </a:p>
          <a:p>
            <a:r>
              <a:rPr lang="en-IN" dirty="0"/>
              <a:t>PAM50 Subtypes (Target column): 'Basal-like', 'HER2-enriched', 'Luminal A', 'Luminal B’, 'Normal-like’</a:t>
            </a:r>
          </a:p>
          <a:p>
            <a:pPr>
              <a:buFontTx/>
              <a:buChar char="-"/>
            </a:pPr>
            <a:endParaRPr lang="en-IN" dirty="0"/>
          </a:p>
        </p:txBody>
      </p:sp>
    </p:spTree>
    <p:extLst>
      <p:ext uri="{BB962C8B-B14F-4D97-AF65-F5344CB8AC3E}">
        <p14:creationId xmlns:p14="http://schemas.microsoft.com/office/powerpoint/2010/main" val="3877088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9409E-64A2-3E6A-634F-4DF6617355A0}"/>
              </a:ext>
            </a:extLst>
          </p:cNvPr>
          <p:cNvSpPr>
            <a:spLocks noGrp="1"/>
          </p:cNvSpPr>
          <p:nvPr>
            <p:ph type="title"/>
          </p:nvPr>
        </p:nvSpPr>
        <p:spPr>
          <a:xfrm>
            <a:off x="685800" y="1429828"/>
            <a:ext cx="4114800" cy="1600200"/>
          </a:xfrm>
        </p:spPr>
        <p:txBody>
          <a:bodyPr/>
          <a:lstStyle/>
          <a:p>
            <a:r>
              <a:rPr lang="en-IN" b="1" dirty="0"/>
              <a:t>Data preprocessing and integration</a:t>
            </a:r>
            <a:endParaRPr lang="en-IN" dirty="0"/>
          </a:p>
        </p:txBody>
      </p:sp>
      <p:sp>
        <p:nvSpPr>
          <p:cNvPr id="3" name="Content Placeholder 2">
            <a:extLst>
              <a:ext uri="{FF2B5EF4-FFF2-40B4-BE49-F238E27FC236}">
                <a16:creationId xmlns:a16="http://schemas.microsoft.com/office/drawing/2014/main" id="{DBD92986-45E4-CBDA-6044-8C28E989D5C4}"/>
              </a:ext>
            </a:extLst>
          </p:cNvPr>
          <p:cNvSpPr>
            <a:spLocks noGrp="1"/>
          </p:cNvSpPr>
          <p:nvPr>
            <p:ph idx="1"/>
          </p:nvPr>
        </p:nvSpPr>
        <p:spPr/>
        <p:txBody>
          <a:bodyPr>
            <a:normAutofit fontScale="92500"/>
          </a:bodyPr>
          <a:lstStyle/>
          <a:p>
            <a:r>
              <a:rPr lang="en-IN" dirty="0"/>
              <a:t>Loaded expression and phenotype files</a:t>
            </a:r>
          </a:p>
          <a:p>
            <a:r>
              <a:rPr lang="en-IN" dirty="0"/>
              <a:t>Expression dataset contains gene expressions of patient samples and phenotype dataset contains patient samples, clinical metadata. Transpose of expression dataset was carried out to change the patient samples to row ids</a:t>
            </a:r>
          </a:p>
          <a:p>
            <a:r>
              <a:rPr lang="en-IN" dirty="0"/>
              <a:t>Normalize sample ids – The samples in expression should match with phenotypes dataset. So when we normalize we only retain the samples which are there in both the datasets</a:t>
            </a:r>
          </a:p>
          <a:p>
            <a:r>
              <a:rPr lang="en-IN" dirty="0"/>
              <a:t>Found PAM50 subtype column in phenotype dataset. Renamed the subtypes with full names</a:t>
            </a:r>
          </a:p>
          <a:p>
            <a:r>
              <a:rPr lang="en-IN" dirty="0"/>
              <a:t>Aligned the X(features) and y(labels). Removed missing values and retained only numeric values</a:t>
            </a:r>
          </a:p>
          <a:p>
            <a:r>
              <a:rPr lang="en-IN" dirty="0"/>
              <a:t>Retained the top most variable 5000 genes</a:t>
            </a:r>
          </a:p>
        </p:txBody>
      </p:sp>
      <p:sp>
        <p:nvSpPr>
          <p:cNvPr id="4" name="Text Placeholder 3">
            <a:extLst>
              <a:ext uri="{FF2B5EF4-FFF2-40B4-BE49-F238E27FC236}">
                <a16:creationId xmlns:a16="http://schemas.microsoft.com/office/drawing/2014/main" id="{4885EBB9-462C-72B6-B198-FA773597B447}"/>
              </a:ext>
            </a:extLst>
          </p:cNvPr>
          <p:cNvSpPr>
            <a:spLocks noGrp="1"/>
          </p:cNvSpPr>
          <p:nvPr>
            <p:ph type="body" sz="half" idx="2"/>
          </p:nvPr>
        </p:nvSpPr>
        <p:spPr/>
        <p:txBody>
          <a:bodyPr/>
          <a:lstStyle/>
          <a:p>
            <a:endParaRPr lang="en-IN" dirty="0"/>
          </a:p>
        </p:txBody>
      </p:sp>
      <p:pic>
        <p:nvPicPr>
          <p:cNvPr id="5" name="Content Placeholder 4">
            <a:extLst>
              <a:ext uri="{FF2B5EF4-FFF2-40B4-BE49-F238E27FC236}">
                <a16:creationId xmlns:a16="http://schemas.microsoft.com/office/drawing/2014/main" id="{1759D2AA-40D9-B9FF-17E2-0FCC918B2FDB}"/>
              </a:ext>
            </a:extLst>
          </p:cNvPr>
          <p:cNvPicPr>
            <a:picLocks noGrp="1" noChangeAspect="1"/>
          </p:cNvPicPr>
          <p:nvPr>
            <p:ph idx="1"/>
          </p:nvPr>
        </p:nvPicPr>
        <p:blipFill>
          <a:blip r:embed="rId2"/>
          <a:srcRect l="18579" t="29699" r="31125" b="5268"/>
          <a:stretch>
            <a:fillRect/>
          </a:stretch>
        </p:blipFill>
        <p:spPr>
          <a:xfrm>
            <a:off x="944033" y="3312541"/>
            <a:ext cx="3598333" cy="2717801"/>
          </a:xfrm>
          <a:prstGeom prst="rect">
            <a:avLst/>
          </a:prstGeom>
        </p:spPr>
      </p:pic>
    </p:spTree>
    <p:extLst>
      <p:ext uri="{BB962C8B-B14F-4D97-AF65-F5344CB8AC3E}">
        <p14:creationId xmlns:p14="http://schemas.microsoft.com/office/powerpoint/2010/main" val="143338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E03B3-5789-6734-FF93-A5D07F0594E4}"/>
              </a:ext>
            </a:extLst>
          </p:cNvPr>
          <p:cNvSpPr>
            <a:spLocks noGrp="1"/>
          </p:cNvSpPr>
          <p:nvPr>
            <p:ph type="title"/>
          </p:nvPr>
        </p:nvSpPr>
        <p:spPr/>
        <p:txBody>
          <a:bodyPr/>
          <a:lstStyle/>
          <a:p>
            <a:r>
              <a:rPr lang="en-IN" dirty="0"/>
              <a:t>Machine Learning model and model performance</a:t>
            </a:r>
          </a:p>
        </p:txBody>
      </p:sp>
      <p:sp>
        <p:nvSpPr>
          <p:cNvPr id="3" name="Content Placeholder 2">
            <a:extLst>
              <a:ext uri="{FF2B5EF4-FFF2-40B4-BE49-F238E27FC236}">
                <a16:creationId xmlns:a16="http://schemas.microsoft.com/office/drawing/2014/main" id="{0770C2B3-A834-037E-5382-F62C17F556F3}"/>
              </a:ext>
            </a:extLst>
          </p:cNvPr>
          <p:cNvSpPr>
            <a:spLocks noGrp="1"/>
          </p:cNvSpPr>
          <p:nvPr>
            <p:ph idx="1"/>
          </p:nvPr>
        </p:nvSpPr>
        <p:spPr>
          <a:xfrm>
            <a:off x="838200" y="1690688"/>
            <a:ext cx="10515600" cy="4486275"/>
          </a:xfrm>
        </p:spPr>
        <p:txBody>
          <a:bodyPr>
            <a:normAutofit fontScale="92500" lnSpcReduction="20000"/>
          </a:bodyPr>
          <a:lstStyle/>
          <a:p>
            <a:r>
              <a:rPr lang="en-IN" dirty="0"/>
              <a:t>Trained the data with </a:t>
            </a:r>
            <a:r>
              <a:rPr lang="en-IN" dirty="0" err="1"/>
              <a:t>XGBoost</a:t>
            </a:r>
            <a:r>
              <a:rPr lang="en-IN" dirty="0"/>
              <a:t> model</a:t>
            </a:r>
          </a:p>
          <a:p>
            <a:r>
              <a:rPr lang="en-IN" dirty="0"/>
              <a:t>Accuracy: 91%</a:t>
            </a:r>
          </a:p>
          <a:p>
            <a:r>
              <a:rPr lang="en-IN" dirty="0"/>
              <a:t>Overall interpretation: The model achieves high predictive performance while maintaining subtype balance, avoiding dominance by high frequency classes</a:t>
            </a:r>
          </a:p>
          <a:p>
            <a:r>
              <a:rPr lang="en-US" dirty="0"/>
              <a:t>The </a:t>
            </a:r>
            <a:r>
              <a:rPr lang="en-US" dirty="0" err="1"/>
              <a:t>XGBoost</a:t>
            </a:r>
            <a:r>
              <a:rPr lang="en-US" dirty="0"/>
              <a:t> model achieves </a:t>
            </a:r>
            <a:r>
              <a:rPr lang="en-US" b="1" dirty="0"/>
              <a:t>high accuracy and biologically meaningful subtype separation</a:t>
            </a:r>
            <a:r>
              <a:rPr lang="en-US" dirty="0"/>
              <a:t>, with misclassifications largely confined to </a:t>
            </a:r>
            <a:r>
              <a:rPr lang="en-US" b="1" dirty="0"/>
              <a:t>known transcriptomic overlaps</a:t>
            </a:r>
            <a:r>
              <a:rPr lang="en-US" dirty="0"/>
              <a:t> (Luminal A ↔ Luminal B, HER2 ↔ Luminal B). This supports the model’s suitability for </a:t>
            </a:r>
            <a:r>
              <a:rPr lang="en-US" b="1" dirty="0"/>
              <a:t>interpretable subtype prediction and downstream biological analysis</a:t>
            </a:r>
            <a:r>
              <a:rPr lang="en-US" dirty="0"/>
              <a:t>.</a:t>
            </a:r>
            <a:endParaRPr lang="en-IN" dirty="0"/>
          </a:p>
          <a:p>
            <a:r>
              <a:rPr lang="en-IN" dirty="0"/>
              <a:t>Class-wise interpretation:</a:t>
            </a:r>
          </a:p>
          <a:p>
            <a:pPr>
              <a:buFontTx/>
              <a:buChar char="-"/>
            </a:pPr>
            <a:r>
              <a:rPr lang="en-IN" u="sng" dirty="0"/>
              <a:t>Basal like: </a:t>
            </a:r>
          </a:p>
          <a:p>
            <a:pPr>
              <a:buFontTx/>
              <a:buChar char="-"/>
            </a:pPr>
            <a:r>
              <a:rPr lang="en-US" b="1" dirty="0"/>
              <a:t>Precision:</a:t>
            </a:r>
            <a:r>
              <a:rPr lang="en-US" dirty="0"/>
              <a:t> 0.97 | </a:t>
            </a:r>
            <a:r>
              <a:rPr lang="en-US" b="1" dirty="0"/>
              <a:t>Recall:</a:t>
            </a:r>
            <a:r>
              <a:rPr lang="en-US" dirty="0"/>
              <a:t> 1.00 | </a:t>
            </a:r>
            <a:r>
              <a:rPr lang="en-US" b="1" dirty="0"/>
              <a:t>F1:</a:t>
            </a:r>
            <a:r>
              <a:rPr lang="en-US" dirty="0"/>
              <a:t> 0.98</a:t>
            </a:r>
          </a:p>
          <a:p>
            <a:pPr>
              <a:buFontTx/>
              <a:buChar char="-"/>
            </a:pPr>
            <a:r>
              <a:rPr lang="en-US" dirty="0"/>
              <a:t>Basal-like tumors are clearly separable at the transcriptomic level, with highly distinctive expression signatures.</a:t>
            </a:r>
          </a:p>
          <a:p>
            <a:pPr>
              <a:buFontTx/>
              <a:buChar char="-"/>
            </a:pPr>
            <a:r>
              <a:rPr lang="en-US" dirty="0"/>
              <a:t>No Basal-like samples were missed (perfect recall).</a:t>
            </a:r>
            <a:endParaRPr lang="en-IN" dirty="0"/>
          </a:p>
        </p:txBody>
      </p:sp>
    </p:spTree>
    <p:extLst>
      <p:ext uri="{BB962C8B-B14F-4D97-AF65-F5344CB8AC3E}">
        <p14:creationId xmlns:p14="http://schemas.microsoft.com/office/powerpoint/2010/main" val="1109648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3992B-6729-273B-ECD1-09D56604C805}"/>
              </a:ext>
            </a:extLst>
          </p:cNvPr>
          <p:cNvSpPr>
            <a:spLocks noGrp="1"/>
          </p:cNvSpPr>
          <p:nvPr>
            <p:ph type="title"/>
          </p:nvPr>
        </p:nvSpPr>
        <p:spPr>
          <a:xfrm>
            <a:off x="685800" y="1092200"/>
            <a:ext cx="4114800" cy="1600200"/>
          </a:xfrm>
        </p:spPr>
        <p:txBody>
          <a:bodyPr>
            <a:normAutofit fontScale="90000"/>
          </a:bodyPr>
          <a:lstStyle/>
          <a:p>
            <a:r>
              <a:rPr lang="en-IN" b="1" dirty="0"/>
              <a:t>Machine Learning model and model performance</a:t>
            </a:r>
          </a:p>
        </p:txBody>
      </p:sp>
      <p:sp>
        <p:nvSpPr>
          <p:cNvPr id="3" name="Content Placeholder 2">
            <a:extLst>
              <a:ext uri="{FF2B5EF4-FFF2-40B4-BE49-F238E27FC236}">
                <a16:creationId xmlns:a16="http://schemas.microsoft.com/office/drawing/2014/main" id="{042048A3-9617-C747-084A-CE113B70D7B1}"/>
              </a:ext>
            </a:extLst>
          </p:cNvPr>
          <p:cNvSpPr>
            <a:spLocks noGrp="1"/>
          </p:cNvSpPr>
          <p:nvPr>
            <p:ph idx="1"/>
          </p:nvPr>
        </p:nvSpPr>
        <p:spPr/>
        <p:txBody>
          <a:bodyPr>
            <a:normAutofit lnSpcReduction="10000"/>
          </a:bodyPr>
          <a:lstStyle/>
          <a:p>
            <a:r>
              <a:rPr lang="en-IN" b="1" dirty="0"/>
              <a:t>CLASS-WISE INTERPRETATION</a:t>
            </a:r>
            <a:r>
              <a:rPr lang="en-IN" dirty="0"/>
              <a:t>:</a:t>
            </a:r>
          </a:p>
          <a:p>
            <a:pPr>
              <a:buFont typeface="Wingdings" panose="05000000000000000000" pitchFamily="2" charset="2"/>
              <a:buChar char="§"/>
            </a:pPr>
            <a:r>
              <a:rPr lang="en-IN" b="1" dirty="0"/>
              <a:t>Basal like: </a:t>
            </a:r>
          </a:p>
          <a:p>
            <a:pPr>
              <a:buFontTx/>
              <a:buChar char="-"/>
            </a:pPr>
            <a:r>
              <a:rPr lang="en-US" dirty="0"/>
              <a:t>Precision: 0.97 | Recall: 1.00 | F1: 0.98</a:t>
            </a:r>
          </a:p>
          <a:p>
            <a:pPr>
              <a:buFontTx/>
              <a:buChar char="-"/>
            </a:pPr>
            <a:r>
              <a:rPr lang="en-US" dirty="0"/>
              <a:t>Basal-like tumors are clearly separable at the transcriptomic level, with highly distinctive expression signatures</a:t>
            </a:r>
          </a:p>
          <a:p>
            <a:pPr>
              <a:buFontTx/>
              <a:buChar char="-"/>
            </a:pPr>
            <a:r>
              <a:rPr lang="en-US" dirty="0"/>
              <a:t>No Basal-like samples were missed (perfect recall</a:t>
            </a:r>
            <a:endParaRPr lang="en-IN" dirty="0"/>
          </a:p>
          <a:p>
            <a:pPr>
              <a:buFont typeface="Wingdings" panose="05000000000000000000" pitchFamily="2" charset="2"/>
              <a:buChar char="§"/>
            </a:pPr>
            <a:r>
              <a:rPr lang="en-IN" b="1" dirty="0"/>
              <a:t>HER2-enriched:</a:t>
            </a:r>
          </a:p>
          <a:p>
            <a:pPr>
              <a:buFontTx/>
              <a:buChar char="-"/>
            </a:pPr>
            <a:r>
              <a:rPr lang="en-US" dirty="0"/>
              <a:t>Precision: 0.91 | Recall: 0.77 | F1: 0.83</a:t>
            </a:r>
          </a:p>
          <a:p>
            <a:pPr>
              <a:buFontTx/>
              <a:buChar char="-"/>
            </a:pPr>
            <a:r>
              <a:rPr lang="en-US" dirty="0"/>
              <a:t>Most predicted HER2-enriched cases are correct (high precision), but some true HER2 tumors are misclassified, often overlapping with Luminal B</a:t>
            </a:r>
          </a:p>
          <a:p>
            <a:pPr>
              <a:buFontTx/>
              <a:buChar char="-"/>
            </a:pPr>
            <a:r>
              <a:rPr lang="en-US" dirty="0"/>
              <a:t>Reflects known biological heterogeneity of HER2-positive breast cancer</a:t>
            </a:r>
          </a:p>
          <a:p>
            <a:endParaRPr lang="en-IN" dirty="0"/>
          </a:p>
        </p:txBody>
      </p:sp>
      <p:sp>
        <p:nvSpPr>
          <p:cNvPr id="4" name="Text Placeholder 3">
            <a:extLst>
              <a:ext uri="{FF2B5EF4-FFF2-40B4-BE49-F238E27FC236}">
                <a16:creationId xmlns:a16="http://schemas.microsoft.com/office/drawing/2014/main" id="{BD808605-9702-B0F4-809A-711F2436E7DE}"/>
              </a:ext>
            </a:extLst>
          </p:cNvPr>
          <p:cNvSpPr>
            <a:spLocks noGrp="1"/>
          </p:cNvSpPr>
          <p:nvPr>
            <p:ph type="body" sz="half" idx="2"/>
          </p:nvPr>
        </p:nvSpPr>
        <p:spPr>
          <a:xfrm>
            <a:off x="381000" y="2633133"/>
            <a:ext cx="4419600" cy="3251201"/>
          </a:xfrm>
        </p:spPr>
        <p:txBody>
          <a:bodyPr>
            <a:normAutofit fontScale="92500" lnSpcReduction="10000"/>
          </a:bodyPr>
          <a:lstStyle/>
          <a:p>
            <a:pPr marL="285750" indent="-285750">
              <a:buFont typeface="Arial" panose="020B0604020202020204" pitchFamily="34" charset="0"/>
              <a:buChar char="•"/>
            </a:pPr>
            <a:r>
              <a:rPr lang="en-IN" dirty="0"/>
              <a:t>Trained the data with </a:t>
            </a:r>
            <a:r>
              <a:rPr lang="en-IN" dirty="0" err="1"/>
              <a:t>XGBoost</a:t>
            </a:r>
            <a:r>
              <a:rPr lang="en-IN" dirty="0"/>
              <a:t> model</a:t>
            </a:r>
          </a:p>
          <a:p>
            <a:pPr marL="285750" indent="-285750">
              <a:buFont typeface="Arial" panose="020B0604020202020204" pitchFamily="34" charset="0"/>
              <a:buChar char="•"/>
            </a:pPr>
            <a:r>
              <a:rPr lang="en-IN" dirty="0"/>
              <a:t>Accuracy: 91%</a:t>
            </a:r>
          </a:p>
          <a:p>
            <a:pPr marL="285750" indent="-285750">
              <a:buFont typeface="Arial" panose="020B0604020202020204" pitchFamily="34" charset="0"/>
              <a:buChar char="•"/>
            </a:pPr>
            <a:r>
              <a:rPr lang="en-IN" dirty="0"/>
              <a:t>Overall interpretation: The model achieves high predictive performance while maintaining subtype balance, avoiding dominance by high frequency classes</a:t>
            </a:r>
          </a:p>
          <a:p>
            <a:pPr marL="285750" indent="-285750">
              <a:buFont typeface="Arial" panose="020B0604020202020204" pitchFamily="34" charset="0"/>
              <a:buChar char="•"/>
            </a:pPr>
            <a:r>
              <a:rPr lang="en-US" dirty="0"/>
              <a:t>The </a:t>
            </a:r>
            <a:r>
              <a:rPr lang="en-US" dirty="0" err="1"/>
              <a:t>XGBoost</a:t>
            </a:r>
            <a:r>
              <a:rPr lang="en-US" dirty="0"/>
              <a:t> model achieves high accuracy and biologically meaningful subtype separation, with misclassifications largely confined to known transcriptomic overlaps (Luminal A with Luminal B, HER2 with Luminal B). This supports the model’s suitability for interpretable subtype prediction and downstream biological analysis.</a:t>
            </a:r>
            <a:endParaRPr lang="en-IN" dirty="0"/>
          </a:p>
        </p:txBody>
      </p:sp>
    </p:spTree>
    <p:extLst>
      <p:ext uri="{BB962C8B-B14F-4D97-AF65-F5344CB8AC3E}">
        <p14:creationId xmlns:p14="http://schemas.microsoft.com/office/powerpoint/2010/main" val="4127040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99A49-728B-6D9A-2B3B-B3F418BB72F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41736E5-1FE9-75BB-C4AB-7465A45EAE20}"/>
              </a:ext>
            </a:extLst>
          </p:cNvPr>
          <p:cNvSpPr>
            <a:spLocks noGrp="1"/>
          </p:cNvSpPr>
          <p:nvPr>
            <p:ph sz="half" idx="1"/>
          </p:nvPr>
        </p:nvSpPr>
        <p:spPr/>
        <p:txBody>
          <a:bodyPr>
            <a:normAutofit fontScale="92500" lnSpcReduction="10000"/>
          </a:bodyPr>
          <a:lstStyle/>
          <a:p>
            <a:pPr>
              <a:buFont typeface="Wingdings" panose="05000000000000000000" pitchFamily="2" charset="2"/>
              <a:buChar char="§"/>
            </a:pPr>
            <a:r>
              <a:rPr lang="en-IN" b="1" dirty="0"/>
              <a:t>Luminal A:</a:t>
            </a:r>
          </a:p>
          <a:p>
            <a:pPr marL="0" indent="0">
              <a:buNone/>
            </a:pPr>
            <a:r>
              <a:rPr lang="en-US" dirty="0"/>
              <a:t>- Precision: 0.88 | Recall: 0.98 | F1: 0.92</a:t>
            </a:r>
          </a:p>
          <a:p>
            <a:pPr marL="0" indent="0">
              <a:buNone/>
            </a:pPr>
            <a:r>
              <a:rPr lang="en-US" dirty="0"/>
              <a:t>- Luminal A tumors are consistently identified, with very few false negatives</a:t>
            </a:r>
          </a:p>
          <a:p>
            <a:pPr marL="0" indent="0">
              <a:buNone/>
            </a:pPr>
            <a:r>
              <a:rPr lang="en-US" dirty="0"/>
              <a:t>- Strong estrogen-related gene expression patterns drive high recall</a:t>
            </a:r>
            <a:endParaRPr lang="en-IN" dirty="0"/>
          </a:p>
          <a:p>
            <a:pPr>
              <a:buFont typeface="Wingdings" panose="05000000000000000000" pitchFamily="2" charset="2"/>
              <a:buChar char="§"/>
            </a:pPr>
            <a:r>
              <a:rPr lang="en-IN" b="1" dirty="0"/>
              <a:t>Luminal B:</a:t>
            </a:r>
          </a:p>
          <a:p>
            <a:pPr marL="0" indent="0">
              <a:buNone/>
            </a:pPr>
            <a:r>
              <a:rPr lang="en-US" dirty="0"/>
              <a:t>- Precision: 0.89 | Recall: 0.79 | F1: 0.84</a:t>
            </a:r>
          </a:p>
          <a:p>
            <a:pPr marL="0" indent="0">
              <a:buNone/>
            </a:pPr>
            <a:r>
              <a:rPr lang="en-US" dirty="0"/>
              <a:t>- Moderate confusion with Luminal A reflects biological continuum between Luminal subtypes, rather than model error alone</a:t>
            </a:r>
          </a:p>
          <a:p>
            <a:endParaRPr lang="en-IN" dirty="0"/>
          </a:p>
          <a:p>
            <a:endParaRPr lang="en-IN" dirty="0"/>
          </a:p>
        </p:txBody>
      </p:sp>
      <p:sp>
        <p:nvSpPr>
          <p:cNvPr id="4" name="Content Placeholder 3">
            <a:extLst>
              <a:ext uri="{FF2B5EF4-FFF2-40B4-BE49-F238E27FC236}">
                <a16:creationId xmlns:a16="http://schemas.microsoft.com/office/drawing/2014/main" id="{2E15DFA2-4300-9267-0991-8C0862467BED}"/>
              </a:ext>
            </a:extLst>
          </p:cNvPr>
          <p:cNvSpPr>
            <a:spLocks noGrp="1"/>
          </p:cNvSpPr>
          <p:nvPr>
            <p:ph sz="half" idx="2"/>
          </p:nvPr>
        </p:nvSpPr>
        <p:spPr/>
        <p:txBody>
          <a:bodyPr>
            <a:normAutofit fontScale="92500" lnSpcReduction="10000"/>
          </a:bodyPr>
          <a:lstStyle/>
          <a:p>
            <a:pPr>
              <a:buFont typeface="Wingdings" panose="05000000000000000000" pitchFamily="2" charset="2"/>
              <a:buChar char="§"/>
            </a:pPr>
            <a:r>
              <a:rPr lang="en-IN" b="1" dirty="0"/>
              <a:t>Normal-like:</a:t>
            </a:r>
          </a:p>
          <a:p>
            <a:pPr marL="0" indent="0">
              <a:buNone/>
            </a:pPr>
            <a:r>
              <a:rPr lang="en-US" dirty="0"/>
              <a:t>- Precision: 1.00 | Recall: 0.79 | F1: 0.88</a:t>
            </a:r>
          </a:p>
          <a:p>
            <a:pPr marL="0" indent="0">
              <a:buNone/>
            </a:pPr>
            <a:r>
              <a:rPr lang="en-US" dirty="0"/>
              <a:t>- When predicted, Normal-like samples are always correct (perfect precision), but some are misclassified as Luminal A.</a:t>
            </a:r>
          </a:p>
          <a:p>
            <a:pPr marL="0" indent="0">
              <a:buNone/>
            </a:pPr>
            <a:r>
              <a:rPr lang="en-US" dirty="0"/>
              <a:t>- Expected due to lower tumor cellularity and stromal influence.</a:t>
            </a:r>
          </a:p>
          <a:p>
            <a:endParaRPr lang="en-IN" dirty="0"/>
          </a:p>
        </p:txBody>
      </p:sp>
    </p:spTree>
    <p:extLst>
      <p:ext uri="{BB962C8B-B14F-4D97-AF65-F5344CB8AC3E}">
        <p14:creationId xmlns:p14="http://schemas.microsoft.com/office/powerpoint/2010/main" val="335814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24B3E-5D3B-D65C-B2B1-995BF6458819}"/>
              </a:ext>
            </a:extLst>
          </p:cNvPr>
          <p:cNvSpPr>
            <a:spLocks noGrp="1"/>
          </p:cNvSpPr>
          <p:nvPr>
            <p:ph type="title"/>
          </p:nvPr>
        </p:nvSpPr>
        <p:spPr/>
        <p:txBody>
          <a:bodyPr/>
          <a:lstStyle/>
          <a:p>
            <a:r>
              <a:rPr lang="en-IN" b="1" dirty="0"/>
              <a:t>Validation and Robustness Considerations</a:t>
            </a:r>
          </a:p>
        </p:txBody>
      </p:sp>
      <p:sp>
        <p:nvSpPr>
          <p:cNvPr id="3" name="Content Placeholder 2">
            <a:extLst>
              <a:ext uri="{FF2B5EF4-FFF2-40B4-BE49-F238E27FC236}">
                <a16:creationId xmlns:a16="http://schemas.microsoft.com/office/drawing/2014/main" id="{E84E14DB-379C-4BEE-8554-C20C96D8FB4A}"/>
              </a:ext>
            </a:extLst>
          </p:cNvPr>
          <p:cNvSpPr>
            <a:spLocks noGrp="1"/>
          </p:cNvSpPr>
          <p:nvPr>
            <p:ph idx="1"/>
          </p:nvPr>
        </p:nvSpPr>
        <p:spPr/>
        <p:txBody>
          <a:bodyPr/>
          <a:lstStyle/>
          <a:p>
            <a:r>
              <a:rPr lang="en-IN" dirty="0"/>
              <a:t>Stratified train-test split to preserve subtype balance</a:t>
            </a:r>
          </a:p>
          <a:p>
            <a:r>
              <a:rPr lang="en-IN" dirty="0"/>
              <a:t>Performance consistency across major PAM50 subtypes</a:t>
            </a:r>
          </a:p>
          <a:p>
            <a:r>
              <a:rPr lang="en-IN" dirty="0"/>
              <a:t> </a:t>
            </a:r>
            <a:r>
              <a:rPr lang="en-US" dirty="0"/>
              <a:t>Misclassifications align with known biological overlaps (Luminal A </a:t>
            </a:r>
            <a:r>
              <a:rPr lang="en-US" dirty="0">
                <a:sym typeface="Wingdings" panose="05000000000000000000" pitchFamily="2" charset="2"/>
              </a:rPr>
              <a:t>with</a:t>
            </a:r>
            <a:r>
              <a:rPr lang="en-US" dirty="0"/>
              <a:t> B, HER2 with Luminal B)</a:t>
            </a:r>
          </a:p>
          <a:p>
            <a:r>
              <a:rPr lang="en-US" dirty="0"/>
              <a:t>Model behavior reflects biology, not random noise</a:t>
            </a:r>
            <a:endParaRPr lang="en-IN" dirty="0"/>
          </a:p>
        </p:txBody>
      </p:sp>
    </p:spTree>
    <p:extLst>
      <p:ext uri="{BB962C8B-B14F-4D97-AF65-F5344CB8AC3E}">
        <p14:creationId xmlns:p14="http://schemas.microsoft.com/office/powerpoint/2010/main" val="1990662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EF866-D891-A6AC-F37C-4D6BE8997F1E}"/>
              </a:ext>
            </a:extLst>
          </p:cNvPr>
          <p:cNvSpPr>
            <a:spLocks noGrp="1"/>
          </p:cNvSpPr>
          <p:nvPr>
            <p:ph type="title"/>
          </p:nvPr>
        </p:nvSpPr>
        <p:spPr/>
        <p:txBody>
          <a:bodyPr/>
          <a:lstStyle/>
          <a:p>
            <a:r>
              <a:rPr lang="en-IN" b="1" dirty="0"/>
              <a:t>Why </a:t>
            </a:r>
            <a:r>
              <a:rPr lang="en-IN" b="1" dirty="0" err="1"/>
              <a:t>XGBoost</a:t>
            </a:r>
            <a:r>
              <a:rPr lang="en-IN" b="1" dirty="0"/>
              <a:t> not deep learning?</a:t>
            </a:r>
          </a:p>
        </p:txBody>
      </p:sp>
      <p:sp>
        <p:nvSpPr>
          <p:cNvPr id="3" name="Content Placeholder 2">
            <a:extLst>
              <a:ext uri="{FF2B5EF4-FFF2-40B4-BE49-F238E27FC236}">
                <a16:creationId xmlns:a16="http://schemas.microsoft.com/office/drawing/2014/main" id="{960EC6F2-FF64-093B-BA1C-74F66F529C14}"/>
              </a:ext>
            </a:extLst>
          </p:cNvPr>
          <p:cNvSpPr>
            <a:spLocks noGrp="1"/>
          </p:cNvSpPr>
          <p:nvPr>
            <p:ph idx="1"/>
          </p:nvPr>
        </p:nvSpPr>
        <p:spPr>
          <a:xfrm>
            <a:off x="838200" y="1543665"/>
            <a:ext cx="10515600" cy="4633298"/>
          </a:xfrm>
        </p:spPr>
        <p:txBody>
          <a:bodyPr>
            <a:normAutofit/>
          </a:bodyPr>
          <a:lstStyle/>
          <a:p>
            <a:r>
              <a:rPr lang="en-IN" b="1" dirty="0"/>
              <a:t>High-dimensional, low-sample data</a:t>
            </a:r>
            <a:endParaRPr lang="en-IN" dirty="0"/>
          </a:p>
          <a:p>
            <a:pPr lvl="1"/>
            <a:r>
              <a:rPr lang="en-IN" dirty="0"/>
              <a:t>TCGA-BRCA: ~20,000 genes, ~1,000 samples</a:t>
            </a:r>
          </a:p>
          <a:p>
            <a:pPr lvl="1"/>
            <a:r>
              <a:rPr lang="en-IN" dirty="0"/>
              <a:t>Tree-based models handle this regime better than deep neural networks without overfitting</a:t>
            </a:r>
          </a:p>
          <a:p>
            <a:r>
              <a:rPr lang="en-IN" b="1" dirty="0"/>
              <a:t>Strong performance on tabular omics data</a:t>
            </a:r>
            <a:endParaRPr lang="en-IN" dirty="0"/>
          </a:p>
          <a:p>
            <a:pPr lvl="1"/>
            <a:r>
              <a:rPr lang="en-IN" dirty="0" err="1"/>
              <a:t>XGBoost</a:t>
            </a:r>
            <a:r>
              <a:rPr lang="en-IN" dirty="0"/>
              <a:t> consistently outperforms deep models on structured gene expression datasets</a:t>
            </a:r>
          </a:p>
          <a:p>
            <a:r>
              <a:rPr lang="en-IN" b="1" dirty="0"/>
              <a:t>Built-in regularization</a:t>
            </a:r>
            <a:endParaRPr lang="en-IN" dirty="0"/>
          </a:p>
          <a:p>
            <a:pPr lvl="1"/>
            <a:r>
              <a:rPr lang="en-IN" dirty="0"/>
              <a:t>Shrinkage, tree depth control, column subsampling → reduces noise-driven learning</a:t>
            </a:r>
          </a:p>
          <a:p>
            <a:r>
              <a:rPr lang="en-IN" b="1" dirty="0"/>
              <a:t>Interpretability-compatible by design</a:t>
            </a:r>
            <a:endParaRPr lang="en-IN" dirty="0"/>
          </a:p>
          <a:p>
            <a:pPr lvl="1"/>
            <a:r>
              <a:rPr lang="en-IN" dirty="0"/>
              <a:t>Enables feature attribution and downstream biological interpretation</a:t>
            </a:r>
          </a:p>
          <a:p>
            <a:endParaRPr lang="en-IN" dirty="0"/>
          </a:p>
        </p:txBody>
      </p:sp>
    </p:spTree>
    <p:extLst>
      <p:ext uri="{BB962C8B-B14F-4D97-AF65-F5344CB8AC3E}">
        <p14:creationId xmlns:p14="http://schemas.microsoft.com/office/powerpoint/2010/main" val="247711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3804E-33E6-752C-A8F6-F0D29262A1E5}"/>
              </a:ext>
            </a:extLst>
          </p:cNvPr>
          <p:cNvSpPr>
            <a:spLocks noGrp="1"/>
          </p:cNvSpPr>
          <p:nvPr>
            <p:ph type="title"/>
          </p:nvPr>
        </p:nvSpPr>
        <p:spPr/>
        <p:txBody>
          <a:bodyPr/>
          <a:lstStyle/>
          <a:p>
            <a:r>
              <a:rPr lang="en-US" b="1" dirty="0"/>
              <a:t>Why Explainability Matters?</a:t>
            </a:r>
            <a:endParaRPr lang="en-IN" b="1" dirty="0"/>
          </a:p>
        </p:txBody>
      </p:sp>
      <p:sp>
        <p:nvSpPr>
          <p:cNvPr id="3" name="Content Placeholder 2">
            <a:extLst>
              <a:ext uri="{FF2B5EF4-FFF2-40B4-BE49-F238E27FC236}">
                <a16:creationId xmlns:a16="http://schemas.microsoft.com/office/drawing/2014/main" id="{C09370AE-7AFF-30F7-2574-3315185B07DF}"/>
              </a:ext>
            </a:extLst>
          </p:cNvPr>
          <p:cNvSpPr>
            <a:spLocks noGrp="1"/>
          </p:cNvSpPr>
          <p:nvPr>
            <p:ph idx="1"/>
          </p:nvPr>
        </p:nvSpPr>
        <p:spPr>
          <a:xfrm>
            <a:off x="838200" y="1690688"/>
            <a:ext cx="10515600" cy="4670783"/>
          </a:xfrm>
        </p:spPr>
        <p:txBody>
          <a:bodyPr>
            <a:normAutofit/>
          </a:bodyPr>
          <a:lstStyle/>
          <a:p>
            <a:r>
              <a:rPr lang="en-US" dirty="0"/>
              <a:t>In oncology, models must answer </a:t>
            </a:r>
            <a:r>
              <a:rPr lang="en-US" b="1" dirty="0"/>
              <a:t>“why”</a:t>
            </a:r>
            <a:r>
              <a:rPr lang="en-US" dirty="0"/>
              <a:t>, not just </a:t>
            </a:r>
            <a:r>
              <a:rPr lang="en-US" b="1" dirty="0"/>
              <a:t>“what”. Explainability is essential because:</a:t>
            </a:r>
            <a:endParaRPr lang="en-US" dirty="0"/>
          </a:p>
          <a:p>
            <a:pPr marL="0" indent="0">
              <a:buNone/>
            </a:pPr>
            <a:r>
              <a:rPr lang="en-US" b="1" dirty="0"/>
              <a:t>- Clinical trust:</a:t>
            </a:r>
            <a:br>
              <a:rPr lang="en-US" dirty="0"/>
            </a:br>
            <a:r>
              <a:rPr lang="en-US" dirty="0"/>
              <a:t>Predictions without reasoning cannot be translated to biological or clinical insight</a:t>
            </a:r>
          </a:p>
          <a:p>
            <a:pPr marL="0" indent="0">
              <a:buNone/>
            </a:pPr>
            <a:r>
              <a:rPr lang="en-US" b="1" dirty="0"/>
              <a:t>- Biological validation:</a:t>
            </a:r>
            <a:br>
              <a:rPr lang="en-US" dirty="0"/>
            </a:br>
            <a:r>
              <a:rPr lang="en-US" dirty="0"/>
              <a:t>Identifying subtype-driving genes allows cross-checking with known cancer biology</a:t>
            </a:r>
          </a:p>
          <a:p>
            <a:pPr marL="0" indent="0">
              <a:buNone/>
            </a:pPr>
            <a:r>
              <a:rPr lang="en-US" b="1" dirty="0"/>
              <a:t>- Biomarker discovery:</a:t>
            </a:r>
            <a:br>
              <a:rPr lang="en-US" dirty="0"/>
            </a:br>
            <a:r>
              <a:rPr lang="en-US" dirty="0"/>
              <a:t>Explainable models can highlight candidate genes and pathways for further study</a:t>
            </a:r>
          </a:p>
          <a:p>
            <a:pPr marL="0" indent="0">
              <a:buNone/>
            </a:pPr>
            <a:r>
              <a:rPr lang="en-US" b="1" dirty="0"/>
              <a:t>- Heterogeneity awareness:</a:t>
            </a:r>
            <a:br>
              <a:rPr lang="en-US" dirty="0"/>
            </a:br>
            <a:r>
              <a:rPr lang="en-US" dirty="0"/>
              <a:t>Misclassifications may reflect real biological overlap, not model failure</a:t>
            </a:r>
          </a:p>
          <a:p>
            <a:endParaRPr lang="en-IN" dirty="0"/>
          </a:p>
        </p:txBody>
      </p:sp>
    </p:spTree>
    <p:extLst>
      <p:ext uri="{BB962C8B-B14F-4D97-AF65-F5344CB8AC3E}">
        <p14:creationId xmlns:p14="http://schemas.microsoft.com/office/powerpoint/2010/main" val="67932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515B4-92A2-8D73-7EDF-8241DDBD0BD1}"/>
              </a:ext>
            </a:extLst>
          </p:cNvPr>
          <p:cNvSpPr>
            <a:spLocks noGrp="1"/>
          </p:cNvSpPr>
          <p:nvPr>
            <p:ph type="title"/>
          </p:nvPr>
        </p:nvSpPr>
        <p:spPr/>
        <p:txBody>
          <a:bodyPr/>
          <a:lstStyle/>
          <a:p>
            <a:r>
              <a:rPr lang="en-IN" b="1" dirty="0"/>
              <a:t>Strategy used for explainability</a:t>
            </a:r>
          </a:p>
        </p:txBody>
      </p:sp>
      <p:sp>
        <p:nvSpPr>
          <p:cNvPr id="3" name="Content Placeholder 2">
            <a:extLst>
              <a:ext uri="{FF2B5EF4-FFF2-40B4-BE49-F238E27FC236}">
                <a16:creationId xmlns:a16="http://schemas.microsoft.com/office/drawing/2014/main" id="{03505EA5-61EC-61DD-8A90-4EEB3500B6D7}"/>
              </a:ext>
            </a:extLst>
          </p:cNvPr>
          <p:cNvSpPr>
            <a:spLocks noGrp="1"/>
          </p:cNvSpPr>
          <p:nvPr>
            <p:ph idx="1"/>
          </p:nvPr>
        </p:nvSpPr>
        <p:spPr>
          <a:xfrm>
            <a:off x="761999" y="1937503"/>
            <a:ext cx="10872020" cy="4847302"/>
          </a:xfrm>
        </p:spPr>
        <p:txBody>
          <a:bodyPr>
            <a:normAutofit fontScale="92500" lnSpcReduction="20000"/>
          </a:bodyPr>
          <a:lstStyle/>
          <a:p>
            <a:r>
              <a:rPr lang="en-IN" b="1" dirty="0"/>
              <a:t>Feature-level interpretability via model behaviour</a:t>
            </a:r>
          </a:p>
          <a:p>
            <a:pPr marL="0" indent="0">
              <a:buNone/>
            </a:pPr>
            <a:r>
              <a:rPr lang="en-IN" dirty="0"/>
              <a:t>- Used </a:t>
            </a:r>
            <a:r>
              <a:rPr lang="en-IN" dirty="0" err="1"/>
              <a:t>XGBoost</a:t>
            </a:r>
            <a:r>
              <a:rPr lang="en-IN" dirty="0"/>
              <a:t> feature importance patterns to identify genes contributing to subtype predictions</a:t>
            </a:r>
          </a:p>
          <a:p>
            <a:pPr marL="0" indent="0">
              <a:buNone/>
            </a:pPr>
            <a:r>
              <a:rPr lang="en-IN" dirty="0"/>
              <a:t>- Use permutation importance to identify how much performance drops when a gene is shuffled</a:t>
            </a:r>
          </a:p>
          <a:p>
            <a:r>
              <a:rPr lang="en-IN" b="1" dirty="0"/>
              <a:t>Literature-grounded interpretation (RAG-</a:t>
            </a:r>
            <a:r>
              <a:rPr lang="en-US" dirty="0"/>
              <a:t> </a:t>
            </a:r>
            <a:r>
              <a:rPr lang="en-US" b="1" dirty="0"/>
              <a:t>Retrieval-Augmented Generation</a:t>
            </a:r>
            <a:r>
              <a:rPr lang="en-US" dirty="0"/>
              <a:t> </a:t>
            </a:r>
            <a:r>
              <a:rPr lang="en-IN" b="1" dirty="0"/>
              <a:t>)</a:t>
            </a:r>
          </a:p>
          <a:p>
            <a:pPr marL="0" indent="0">
              <a:buNone/>
            </a:pPr>
            <a:r>
              <a:rPr lang="en-IN" dirty="0"/>
              <a:t>- Instead of relying solely on numeric importance:</a:t>
            </a:r>
          </a:p>
          <a:p>
            <a:pPr lvl="1"/>
            <a:r>
              <a:rPr lang="en-IN" dirty="0"/>
              <a:t>Retrieved oncology context from curated PAM50 and subtype-specific literature</a:t>
            </a:r>
          </a:p>
          <a:p>
            <a:pPr lvl="1"/>
            <a:r>
              <a:rPr lang="en-IN" dirty="0"/>
              <a:t>Used </a:t>
            </a:r>
            <a:r>
              <a:rPr lang="en-IN" dirty="0" err="1"/>
              <a:t>ChromaDB</a:t>
            </a:r>
            <a:r>
              <a:rPr lang="en-IN" dirty="0"/>
              <a:t> + sentence embeddings to ground explanations</a:t>
            </a:r>
          </a:p>
          <a:p>
            <a:r>
              <a:rPr lang="en-IN" b="1" dirty="0"/>
              <a:t> LLM-assisted biological explanation</a:t>
            </a:r>
          </a:p>
          <a:p>
            <a:pPr marL="0" indent="0">
              <a:buNone/>
            </a:pPr>
            <a:r>
              <a:rPr lang="en-IN" dirty="0"/>
              <a:t>- Gemma (via Ollama) synthesized:</a:t>
            </a:r>
          </a:p>
          <a:p>
            <a:pPr lvl="1"/>
            <a:r>
              <a:rPr lang="en-IN" dirty="0"/>
              <a:t>Model prediction</a:t>
            </a:r>
          </a:p>
          <a:p>
            <a:pPr lvl="1"/>
            <a:r>
              <a:rPr lang="en-IN" dirty="0"/>
              <a:t>Retrieved biological context</a:t>
            </a:r>
          </a:p>
          <a:p>
            <a:pPr marL="0" indent="0">
              <a:buNone/>
            </a:pPr>
            <a:r>
              <a:rPr lang="en-IN" dirty="0"/>
              <a:t>- Produced human-readable, biologically coherent explanations</a:t>
            </a:r>
          </a:p>
          <a:p>
            <a:pPr marL="0" indent="0">
              <a:buNone/>
            </a:pPr>
            <a:r>
              <a:rPr lang="en-IN" dirty="0"/>
              <a:t>In short, </a:t>
            </a:r>
            <a:r>
              <a:rPr lang="en-US" dirty="0"/>
              <a:t>explainability was achieved through model-aware interpretation + literature grounding, not black-box attribution</a:t>
            </a:r>
            <a:endParaRPr lang="en-IN" dirty="0"/>
          </a:p>
          <a:p>
            <a:pPr marL="0" indent="0">
              <a:buNone/>
            </a:pPr>
            <a:endParaRPr lang="en-IN" dirty="0"/>
          </a:p>
        </p:txBody>
      </p:sp>
    </p:spTree>
    <p:extLst>
      <p:ext uri="{BB962C8B-B14F-4D97-AF65-F5344CB8AC3E}">
        <p14:creationId xmlns:p14="http://schemas.microsoft.com/office/powerpoint/2010/main" val="1273028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7B28C-D676-2172-3537-325E38A579A3}"/>
              </a:ext>
            </a:extLst>
          </p:cNvPr>
          <p:cNvSpPr>
            <a:spLocks noGrp="1"/>
          </p:cNvSpPr>
          <p:nvPr>
            <p:ph type="title"/>
          </p:nvPr>
        </p:nvSpPr>
        <p:spPr/>
        <p:txBody>
          <a:bodyPr/>
          <a:lstStyle/>
          <a:p>
            <a:r>
              <a:rPr lang="en-IN" b="1" dirty="0"/>
              <a:t>Visualization of top 20 genes</a:t>
            </a:r>
          </a:p>
        </p:txBody>
      </p:sp>
      <p:pic>
        <p:nvPicPr>
          <p:cNvPr id="5" name="Content Placeholder 4">
            <a:extLst>
              <a:ext uri="{FF2B5EF4-FFF2-40B4-BE49-F238E27FC236}">
                <a16:creationId xmlns:a16="http://schemas.microsoft.com/office/drawing/2014/main" id="{12985BD4-2FAD-0CBF-95E7-D5451264FC9E}"/>
              </a:ext>
            </a:extLst>
          </p:cNvPr>
          <p:cNvPicPr>
            <a:picLocks noGrp="1" noChangeAspect="1"/>
          </p:cNvPicPr>
          <p:nvPr>
            <p:ph idx="1"/>
          </p:nvPr>
        </p:nvPicPr>
        <p:blipFill>
          <a:blip r:embed="rId2"/>
          <a:srcRect l="19468" t="23281" r="32721" b="7501"/>
          <a:stretch>
            <a:fillRect/>
          </a:stretch>
        </p:blipFill>
        <p:spPr>
          <a:xfrm>
            <a:off x="1312333" y="2760132"/>
            <a:ext cx="3420533" cy="2785534"/>
          </a:xfrm>
          <a:prstGeom prst="rect">
            <a:avLst/>
          </a:prstGeom>
        </p:spPr>
      </p:pic>
      <p:pic>
        <p:nvPicPr>
          <p:cNvPr id="6" name="Content Placeholder 4">
            <a:extLst>
              <a:ext uri="{FF2B5EF4-FFF2-40B4-BE49-F238E27FC236}">
                <a16:creationId xmlns:a16="http://schemas.microsoft.com/office/drawing/2014/main" id="{4D15D747-CFC5-6065-764B-78FDB19E65CE}"/>
              </a:ext>
            </a:extLst>
          </p:cNvPr>
          <p:cNvPicPr>
            <a:picLocks noChangeAspect="1"/>
          </p:cNvPicPr>
          <p:nvPr/>
        </p:nvPicPr>
        <p:blipFill>
          <a:blip r:embed="rId3"/>
          <a:srcRect l="18224" t="25700" r="30296" b="9710"/>
          <a:stretch>
            <a:fillRect/>
          </a:stretch>
        </p:blipFill>
        <p:spPr>
          <a:xfrm>
            <a:off x="5799667" y="2946399"/>
            <a:ext cx="3683000" cy="2599267"/>
          </a:xfrm>
          <a:prstGeom prst="rect">
            <a:avLst/>
          </a:prstGeom>
        </p:spPr>
      </p:pic>
    </p:spTree>
    <p:extLst>
      <p:ext uri="{BB962C8B-B14F-4D97-AF65-F5344CB8AC3E}">
        <p14:creationId xmlns:p14="http://schemas.microsoft.com/office/powerpoint/2010/main" val="3460264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14AFE-7032-70A2-F82D-FF97521D2B73}"/>
              </a:ext>
            </a:extLst>
          </p:cNvPr>
          <p:cNvSpPr>
            <a:spLocks noGrp="1"/>
          </p:cNvSpPr>
          <p:nvPr>
            <p:ph type="title"/>
          </p:nvPr>
        </p:nvSpPr>
        <p:spPr/>
        <p:txBody>
          <a:bodyPr/>
          <a:lstStyle/>
          <a:p>
            <a:r>
              <a:rPr lang="en-IN" b="1" dirty="0"/>
              <a:t>RAG based biological interpretation </a:t>
            </a:r>
          </a:p>
        </p:txBody>
      </p:sp>
      <p:sp>
        <p:nvSpPr>
          <p:cNvPr id="3" name="Content Placeholder 2">
            <a:extLst>
              <a:ext uri="{FF2B5EF4-FFF2-40B4-BE49-F238E27FC236}">
                <a16:creationId xmlns:a16="http://schemas.microsoft.com/office/drawing/2014/main" id="{D663C36A-4E5E-F2A9-4EE8-FA46641B1C6C}"/>
              </a:ext>
            </a:extLst>
          </p:cNvPr>
          <p:cNvSpPr>
            <a:spLocks noGrp="1"/>
          </p:cNvSpPr>
          <p:nvPr>
            <p:ph idx="1"/>
          </p:nvPr>
        </p:nvSpPr>
        <p:spPr>
          <a:xfrm>
            <a:off x="838200" y="2125133"/>
            <a:ext cx="10515600" cy="4051830"/>
          </a:xfrm>
        </p:spPr>
        <p:txBody>
          <a:bodyPr/>
          <a:lstStyle/>
          <a:p>
            <a:r>
              <a:rPr lang="en-US" dirty="0"/>
              <a:t>Gene expression–based models often produce accurate predictions but lack biological context</a:t>
            </a:r>
          </a:p>
          <a:p>
            <a:r>
              <a:rPr lang="en-US" dirty="0"/>
              <a:t>Interpreting subtype predictions requires: </a:t>
            </a:r>
          </a:p>
          <a:p>
            <a:pPr marL="0" indent="0">
              <a:buNone/>
            </a:pPr>
            <a:r>
              <a:rPr lang="en-US" dirty="0"/>
              <a:t>- Prior biological knowledge</a:t>
            </a:r>
          </a:p>
          <a:p>
            <a:pPr>
              <a:buFontTx/>
              <a:buChar char="-"/>
            </a:pPr>
            <a:r>
              <a:rPr lang="en-US" dirty="0"/>
              <a:t>Curated oncology literature</a:t>
            </a:r>
          </a:p>
          <a:p>
            <a:r>
              <a:rPr lang="en-US" b="1" dirty="0"/>
              <a:t>Goal:</a:t>
            </a:r>
            <a:r>
              <a:rPr lang="en-US" dirty="0"/>
              <a:t> Ground model predictions in peer-reviewed biological knowledge using RAG</a:t>
            </a:r>
          </a:p>
          <a:p>
            <a:r>
              <a:rPr lang="en-IN" dirty="0"/>
              <a:t>RAG work as </a:t>
            </a:r>
            <a:r>
              <a:rPr lang="en-US" dirty="0"/>
              <a:t>a hybrid AI framework that retrieves relevant cancer biology literature and uses an LLM to generate context-aware explanations of model predictions</a:t>
            </a:r>
            <a:endParaRPr lang="en-IN" dirty="0"/>
          </a:p>
        </p:txBody>
      </p:sp>
    </p:spTree>
    <p:extLst>
      <p:ext uri="{BB962C8B-B14F-4D97-AF65-F5344CB8AC3E}">
        <p14:creationId xmlns:p14="http://schemas.microsoft.com/office/powerpoint/2010/main" val="2754699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AE179-66A5-94BF-6A70-2BB8AA27AE27}"/>
              </a:ext>
            </a:extLst>
          </p:cNvPr>
          <p:cNvSpPr>
            <a:spLocks noGrp="1"/>
          </p:cNvSpPr>
          <p:nvPr>
            <p:ph type="title"/>
          </p:nvPr>
        </p:nvSpPr>
        <p:spPr/>
        <p:txBody>
          <a:bodyPr/>
          <a:lstStyle/>
          <a:p>
            <a:r>
              <a:rPr lang="en-IN" b="1" dirty="0"/>
              <a:t>RAG Pipeline Architecture</a:t>
            </a:r>
          </a:p>
        </p:txBody>
      </p:sp>
      <p:graphicFrame>
        <p:nvGraphicFramePr>
          <p:cNvPr id="4" name="Content Placeholder 3">
            <a:extLst>
              <a:ext uri="{FF2B5EF4-FFF2-40B4-BE49-F238E27FC236}">
                <a16:creationId xmlns:a16="http://schemas.microsoft.com/office/drawing/2014/main" id="{BAA8CBD6-DF8F-D33C-3425-2694217D3B28}"/>
              </a:ext>
            </a:extLst>
          </p:cNvPr>
          <p:cNvGraphicFramePr>
            <a:graphicFrameLocks noGrp="1"/>
          </p:cNvGraphicFramePr>
          <p:nvPr>
            <p:ph idx="1"/>
            <p:extLst>
              <p:ext uri="{D42A27DB-BD31-4B8C-83A1-F6EECF244321}">
                <p14:modId xmlns:p14="http://schemas.microsoft.com/office/powerpoint/2010/main" val="2856658012"/>
              </p:ext>
            </p:extLst>
          </p:nvPr>
        </p:nvGraphicFramePr>
        <p:xfrm>
          <a:off x="685800" y="2193925"/>
          <a:ext cx="10820400" cy="40243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4563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904829B-CEC0-A92F-9694-804D05D3E6DB}"/>
              </a:ext>
            </a:extLst>
          </p:cNvPr>
          <p:cNvSpPr>
            <a:spLocks noGrp="1"/>
          </p:cNvSpPr>
          <p:nvPr>
            <p:ph type="body" idx="1"/>
          </p:nvPr>
        </p:nvSpPr>
        <p:spPr>
          <a:xfrm>
            <a:off x="796822" y="997363"/>
            <a:ext cx="5157787" cy="823911"/>
          </a:xfrm>
        </p:spPr>
        <p:txBody>
          <a:bodyPr/>
          <a:lstStyle/>
          <a:p>
            <a:r>
              <a:rPr lang="en-IN" b="1" dirty="0"/>
              <a:t>Knowledge sources used</a:t>
            </a:r>
          </a:p>
        </p:txBody>
      </p:sp>
      <p:sp>
        <p:nvSpPr>
          <p:cNvPr id="4" name="Content Placeholder 3">
            <a:extLst>
              <a:ext uri="{FF2B5EF4-FFF2-40B4-BE49-F238E27FC236}">
                <a16:creationId xmlns:a16="http://schemas.microsoft.com/office/drawing/2014/main" id="{ADAC7B7E-CBE7-879E-F21F-2D02921E866B}"/>
              </a:ext>
            </a:extLst>
          </p:cNvPr>
          <p:cNvSpPr>
            <a:spLocks noGrp="1"/>
          </p:cNvSpPr>
          <p:nvPr>
            <p:ph sz="half" idx="2"/>
          </p:nvPr>
        </p:nvSpPr>
        <p:spPr>
          <a:xfrm>
            <a:off x="731632" y="2777067"/>
            <a:ext cx="5157787" cy="3412596"/>
          </a:xfrm>
        </p:spPr>
        <p:txBody>
          <a:bodyPr>
            <a:normAutofit/>
          </a:bodyPr>
          <a:lstStyle/>
          <a:p>
            <a:r>
              <a:rPr lang="en-IN" dirty="0"/>
              <a:t>PAM50 subtype biology summaries</a:t>
            </a:r>
          </a:p>
          <a:p>
            <a:r>
              <a:rPr lang="en-IN" dirty="0"/>
              <a:t>TCGA-BRCA dataset context</a:t>
            </a:r>
          </a:p>
          <a:p>
            <a:r>
              <a:rPr lang="en-IN" dirty="0"/>
              <a:t>Subtype-specific transcriptional characteristics</a:t>
            </a:r>
          </a:p>
          <a:p>
            <a:r>
              <a:rPr lang="en-IN" dirty="0"/>
              <a:t>Curated oncology text files</a:t>
            </a:r>
          </a:p>
          <a:p>
            <a:endParaRPr lang="en-IN" dirty="0"/>
          </a:p>
        </p:txBody>
      </p:sp>
      <p:sp>
        <p:nvSpPr>
          <p:cNvPr id="5" name="Text Placeholder 4">
            <a:extLst>
              <a:ext uri="{FF2B5EF4-FFF2-40B4-BE49-F238E27FC236}">
                <a16:creationId xmlns:a16="http://schemas.microsoft.com/office/drawing/2014/main" id="{AFEDDE06-9DE9-B7AC-E4AA-40C39A3ADA2C}"/>
              </a:ext>
            </a:extLst>
          </p:cNvPr>
          <p:cNvSpPr>
            <a:spLocks noGrp="1"/>
          </p:cNvSpPr>
          <p:nvPr>
            <p:ph type="body" sz="quarter" idx="3"/>
          </p:nvPr>
        </p:nvSpPr>
        <p:spPr>
          <a:xfrm>
            <a:off x="6096000" y="997362"/>
            <a:ext cx="5183188" cy="823912"/>
          </a:xfrm>
        </p:spPr>
        <p:txBody>
          <a:bodyPr/>
          <a:lstStyle/>
          <a:p>
            <a:r>
              <a:rPr lang="en-IN" b="1" dirty="0"/>
              <a:t>How Retrieval Works</a:t>
            </a:r>
          </a:p>
        </p:txBody>
      </p:sp>
      <p:sp>
        <p:nvSpPr>
          <p:cNvPr id="6" name="Content Placeholder 5">
            <a:extLst>
              <a:ext uri="{FF2B5EF4-FFF2-40B4-BE49-F238E27FC236}">
                <a16:creationId xmlns:a16="http://schemas.microsoft.com/office/drawing/2014/main" id="{C1EB361B-4C38-685C-FEEE-5336AF00E572}"/>
              </a:ext>
            </a:extLst>
          </p:cNvPr>
          <p:cNvSpPr>
            <a:spLocks noGrp="1"/>
          </p:cNvSpPr>
          <p:nvPr>
            <p:ph sz="quarter" idx="4"/>
          </p:nvPr>
        </p:nvSpPr>
        <p:spPr>
          <a:xfrm>
            <a:off x="6172200" y="2269067"/>
            <a:ext cx="5183188" cy="3920596"/>
          </a:xfrm>
        </p:spPr>
        <p:txBody>
          <a:bodyPr>
            <a:normAutofit/>
          </a:bodyPr>
          <a:lstStyle/>
          <a:p>
            <a:r>
              <a:rPr lang="en-IN" dirty="0"/>
              <a:t>Text split into semantic chunks</a:t>
            </a:r>
          </a:p>
          <a:p>
            <a:r>
              <a:rPr lang="en-IN" dirty="0"/>
              <a:t>Embedded using sentence-transformers</a:t>
            </a:r>
          </a:p>
          <a:p>
            <a:r>
              <a:rPr lang="en-IN" dirty="0"/>
              <a:t>Stored in </a:t>
            </a:r>
            <a:r>
              <a:rPr lang="en-IN" dirty="0" err="1"/>
              <a:t>ChromaDB</a:t>
            </a:r>
            <a:r>
              <a:rPr lang="en-IN" dirty="0"/>
              <a:t> vector store</a:t>
            </a:r>
          </a:p>
          <a:p>
            <a:r>
              <a:rPr lang="en-IN" dirty="0"/>
              <a:t>Top-k biologically relevant passages retrieved per query</a:t>
            </a:r>
          </a:p>
          <a:p>
            <a:pPr marL="0" indent="0">
              <a:buNone/>
            </a:pPr>
            <a:r>
              <a:rPr lang="en-US" dirty="0"/>
              <a:t>This ensures:</a:t>
            </a:r>
          </a:p>
          <a:p>
            <a:r>
              <a:rPr lang="en-US" dirty="0"/>
              <a:t>Reduced hallucination</a:t>
            </a:r>
          </a:p>
          <a:p>
            <a:r>
              <a:rPr lang="en-US" dirty="0"/>
              <a:t>Explanations remain anchored to known biology</a:t>
            </a:r>
          </a:p>
          <a:p>
            <a:endParaRPr lang="en-IN" dirty="0"/>
          </a:p>
        </p:txBody>
      </p:sp>
    </p:spTree>
    <p:extLst>
      <p:ext uri="{BB962C8B-B14F-4D97-AF65-F5344CB8AC3E}">
        <p14:creationId xmlns:p14="http://schemas.microsoft.com/office/powerpoint/2010/main" val="1169516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A7CADC-891D-2B31-BC83-54CFA995A1EB}"/>
              </a:ext>
            </a:extLst>
          </p:cNvPr>
          <p:cNvSpPr>
            <a:spLocks noGrp="1"/>
          </p:cNvSpPr>
          <p:nvPr>
            <p:ph type="body" idx="1"/>
          </p:nvPr>
        </p:nvSpPr>
        <p:spPr>
          <a:xfrm>
            <a:off x="763588" y="1055176"/>
            <a:ext cx="5157787" cy="823912"/>
          </a:xfrm>
        </p:spPr>
        <p:txBody>
          <a:bodyPr>
            <a:normAutofit lnSpcReduction="10000"/>
          </a:bodyPr>
          <a:lstStyle/>
          <a:p>
            <a:r>
              <a:rPr lang="en-IN" b="1" dirty="0"/>
              <a:t>LLM-Assisted Interpretation</a:t>
            </a:r>
          </a:p>
        </p:txBody>
      </p:sp>
      <p:sp>
        <p:nvSpPr>
          <p:cNvPr id="4" name="Content Placeholder 3">
            <a:extLst>
              <a:ext uri="{FF2B5EF4-FFF2-40B4-BE49-F238E27FC236}">
                <a16:creationId xmlns:a16="http://schemas.microsoft.com/office/drawing/2014/main" id="{2222E017-52EF-4DC8-A3AA-94FFEB4A452C}"/>
              </a:ext>
            </a:extLst>
          </p:cNvPr>
          <p:cNvSpPr>
            <a:spLocks noGrp="1"/>
          </p:cNvSpPr>
          <p:nvPr>
            <p:ph sz="half" idx="2"/>
          </p:nvPr>
        </p:nvSpPr>
        <p:spPr>
          <a:xfrm>
            <a:off x="763588" y="1976028"/>
            <a:ext cx="5157787" cy="4213636"/>
          </a:xfrm>
        </p:spPr>
        <p:txBody>
          <a:bodyPr>
            <a:normAutofit lnSpcReduction="10000"/>
          </a:bodyPr>
          <a:lstStyle/>
          <a:p>
            <a:r>
              <a:rPr lang="en-US" dirty="0"/>
              <a:t>Gemma LLM (local, via Ollama) used for:</a:t>
            </a:r>
          </a:p>
          <a:p>
            <a:pPr marL="0" indent="0">
              <a:buNone/>
            </a:pPr>
            <a:r>
              <a:rPr lang="en-US" dirty="0"/>
              <a:t>- Synthesizing retrieved biological context</a:t>
            </a:r>
          </a:p>
          <a:p>
            <a:pPr marL="0" indent="0">
              <a:buNone/>
            </a:pPr>
            <a:r>
              <a:rPr lang="en-US" dirty="0"/>
              <a:t>- Explaining subtype predictions in clear scientific language</a:t>
            </a:r>
          </a:p>
          <a:p>
            <a:r>
              <a:rPr lang="en-US" dirty="0"/>
              <a:t>LLM does not generate facts independently</a:t>
            </a:r>
          </a:p>
          <a:p>
            <a:r>
              <a:rPr lang="en-US" dirty="0"/>
              <a:t>Acts as a reasoning and summarization layer</a:t>
            </a:r>
          </a:p>
          <a:p>
            <a:r>
              <a:rPr lang="en-US" dirty="0"/>
              <a:t>The LLM operates under retrieved biological constraints</a:t>
            </a:r>
            <a:endParaRPr lang="en-IN" dirty="0"/>
          </a:p>
        </p:txBody>
      </p:sp>
      <p:sp>
        <p:nvSpPr>
          <p:cNvPr id="5" name="Text Placeholder 4">
            <a:extLst>
              <a:ext uri="{FF2B5EF4-FFF2-40B4-BE49-F238E27FC236}">
                <a16:creationId xmlns:a16="http://schemas.microsoft.com/office/drawing/2014/main" id="{BFD834C9-CD36-C17A-FA53-0867379A2031}"/>
              </a:ext>
            </a:extLst>
          </p:cNvPr>
          <p:cNvSpPr>
            <a:spLocks noGrp="1"/>
          </p:cNvSpPr>
          <p:nvPr>
            <p:ph type="body" sz="quarter" idx="3"/>
          </p:nvPr>
        </p:nvSpPr>
        <p:spPr>
          <a:xfrm>
            <a:off x="6270627" y="1055176"/>
            <a:ext cx="5183188" cy="823912"/>
          </a:xfrm>
        </p:spPr>
        <p:txBody>
          <a:bodyPr>
            <a:normAutofit lnSpcReduction="10000"/>
          </a:bodyPr>
          <a:lstStyle/>
          <a:p>
            <a:r>
              <a:rPr lang="en-IN" b="1" dirty="0"/>
              <a:t>Impact in Computational Oncology</a:t>
            </a:r>
          </a:p>
        </p:txBody>
      </p:sp>
      <p:sp>
        <p:nvSpPr>
          <p:cNvPr id="6" name="Content Placeholder 5">
            <a:extLst>
              <a:ext uri="{FF2B5EF4-FFF2-40B4-BE49-F238E27FC236}">
                <a16:creationId xmlns:a16="http://schemas.microsoft.com/office/drawing/2014/main" id="{B49F82E8-726F-CC77-9F2B-ABFFEDA200D0}"/>
              </a:ext>
            </a:extLst>
          </p:cNvPr>
          <p:cNvSpPr>
            <a:spLocks noGrp="1"/>
          </p:cNvSpPr>
          <p:nvPr>
            <p:ph sz="quarter" idx="4"/>
          </p:nvPr>
        </p:nvSpPr>
        <p:spPr>
          <a:xfrm>
            <a:off x="6197600" y="2055384"/>
            <a:ext cx="5765800" cy="4458640"/>
          </a:xfrm>
        </p:spPr>
        <p:txBody>
          <a:bodyPr>
            <a:normAutofit lnSpcReduction="10000"/>
          </a:bodyPr>
          <a:lstStyle/>
          <a:p>
            <a:r>
              <a:rPr lang="en-IN" dirty="0"/>
              <a:t>Bridges machine learning outputs with biological interpretation</a:t>
            </a:r>
          </a:p>
          <a:p>
            <a:r>
              <a:rPr lang="en-IN" dirty="0"/>
              <a:t>Supports:</a:t>
            </a:r>
          </a:p>
          <a:p>
            <a:pPr marL="0" indent="0">
              <a:buNone/>
            </a:pPr>
            <a:r>
              <a:rPr lang="en-IN" dirty="0"/>
              <a:t>- Hypothesis generation</a:t>
            </a:r>
          </a:p>
          <a:p>
            <a:pPr marL="0" indent="0">
              <a:buNone/>
            </a:pPr>
            <a:r>
              <a:rPr lang="en-IN" dirty="0"/>
              <a:t>- Biomarker contextualization</a:t>
            </a:r>
          </a:p>
          <a:p>
            <a:pPr marL="0" indent="0">
              <a:buNone/>
            </a:pPr>
            <a:r>
              <a:rPr lang="en-IN" dirty="0"/>
              <a:t>- Transparent AI-assisted decision support</a:t>
            </a:r>
          </a:p>
          <a:p>
            <a:r>
              <a:rPr lang="en-IN" dirty="0"/>
              <a:t>Aligns with translational and explainable AI research goals</a:t>
            </a:r>
          </a:p>
          <a:p>
            <a:r>
              <a:rPr lang="en-US" dirty="0"/>
              <a:t>RAG enables biologically grounded, literature-aware explanations of cancer subtype predictions, transforming black-box outputs into interpretable scientific insights</a:t>
            </a:r>
            <a:endParaRPr lang="en-IN" dirty="0"/>
          </a:p>
        </p:txBody>
      </p:sp>
    </p:spTree>
    <p:extLst>
      <p:ext uri="{BB962C8B-B14F-4D97-AF65-F5344CB8AC3E}">
        <p14:creationId xmlns:p14="http://schemas.microsoft.com/office/powerpoint/2010/main" val="1299029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10AE6-0FF8-6EAA-E744-41A9DB9737FE}"/>
              </a:ext>
            </a:extLst>
          </p:cNvPr>
          <p:cNvSpPr>
            <a:spLocks noGrp="1"/>
          </p:cNvSpPr>
          <p:nvPr>
            <p:ph type="title"/>
          </p:nvPr>
        </p:nvSpPr>
        <p:spPr>
          <a:xfrm>
            <a:off x="3005666" y="400307"/>
            <a:ext cx="8610600" cy="581827"/>
          </a:xfrm>
        </p:spPr>
        <p:txBody>
          <a:bodyPr>
            <a:normAutofit fontScale="90000"/>
          </a:bodyPr>
          <a:lstStyle/>
          <a:p>
            <a:r>
              <a:rPr lang="en-IN" b="1" dirty="0"/>
              <a:t>Deployment via </a:t>
            </a:r>
            <a:r>
              <a:rPr lang="en-IN" b="1" dirty="0" err="1"/>
              <a:t>streamlit</a:t>
            </a:r>
            <a:endParaRPr lang="en-IN" b="1" dirty="0"/>
          </a:p>
        </p:txBody>
      </p:sp>
      <p:pic>
        <p:nvPicPr>
          <p:cNvPr id="5" name="Content Placeholder 4">
            <a:extLst>
              <a:ext uri="{FF2B5EF4-FFF2-40B4-BE49-F238E27FC236}">
                <a16:creationId xmlns:a16="http://schemas.microsoft.com/office/drawing/2014/main" id="{122E71A4-C3C1-D9C0-FA70-089846F75BDE}"/>
              </a:ext>
            </a:extLst>
          </p:cNvPr>
          <p:cNvPicPr>
            <a:picLocks noGrp="1" noChangeAspect="1"/>
          </p:cNvPicPr>
          <p:nvPr>
            <p:ph idx="1"/>
          </p:nvPr>
        </p:nvPicPr>
        <p:blipFill>
          <a:blip r:embed="rId2"/>
          <a:srcRect t="8345" b="10250"/>
          <a:stretch>
            <a:fillRect/>
          </a:stretch>
        </p:blipFill>
        <p:spPr>
          <a:xfrm>
            <a:off x="97365" y="1164360"/>
            <a:ext cx="5352442" cy="2450906"/>
          </a:xfrm>
          <a:prstGeom prst="rect">
            <a:avLst/>
          </a:prstGeom>
        </p:spPr>
      </p:pic>
      <p:pic>
        <p:nvPicPr>
          <p:cNvPr id="8" name="Picture 7">
            <a:extLst>
              <a:ext uri="{FF2B5EF4-FFF2-40B4-BE49-F238E27FC236}">
                <a16:creationId xmlns:a16="http://schemas.microsoft.com/office/drawing/2014/main" id="{8B04BD68-CBF5-DE77-B004-24314F8FB405}"/>
              </a:ext>
            </a:extLst>
          </p:cNvPr>
          <p:cNvPicPr>
            <a:picLocks noChangeAspect="1"/>
          </p:cNvPicPr>
          <p:nvPr/>
        </p:nvPicPr>
        <p:blipFill>
          <a:blip r:embed="rId3"/>
          <a:stretch>
            <a:fillRect/>
          </a:stretch>
        </p:blipFill>
        <p:spPr>
          <a:xfrm>
            <a:off x="5577032" y="2776583"/>
            <a:ext cx="6432936" cy="3777385"/>
          </a:xfrm>
          <a:prstGeom prst="rect">
            <a:avLst/>
          </a:prstGeom>
        </p:spPr>
      </p:pic>
    </p:spTree>
    <p:extLst>
      <p:ext uri="{BB962C8B-B14F-4D97-AF65-F5344CB8AC3E}">
        <p14:creationId xmlns:p14="http://schemas.microsoft.com/office/powerpoint/2010/main" val="1802643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F26CE-0557-4465-0B62-2F55CA225F9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01B3931-2C96-3949-1C16-78363B310461}"/>
              </a:ext>
            </a:extLst>
          </p:cNvPr>
          <p:cNvPicPr>
            <a:picLocks noGrp="1" noChangeAspect="1"/>
          </p:cNvPicPr>
          <p:nvPr>
            <p:ph idx="1"/>
          </p:nvPr>
        </p:nvPicPr>
        <p:blipFill>
          <a:blip r:embed="rId2"/>
          <a:stretch>
            <a:fillRect/>
          </a:stretch>
        </p:blipFill>
        <p:spPr>
          <a:xfrm>
            <a:off x="127000" y="301095"/>
            <a:ext cx="5410199" cy="3043237"/>
          </a:xfrm>
          <a:prstGeom prst="rect">
            <a:avLst/>
          </a:prstGeom>
        </p:spPr>
      </p:pic>
      <p:pic>
        <p:nvPicPr>
          <p:cNvPr id="6" name="Content Placeholder 4">
            <a:extLst>
              <a:ext uri="{FF2B5EF4-FFF2-40B4-BE49-F238E27FC236}">
                <a16:creationId xmlns:a16="http://schemas.microsoft.com/office/drawing/2014/main" id="{ECF46D5F-4A19-2DA8-8C63-5BBF8270CE30}"/>
              </a:ext>
            </a:extLst>
          </p:cNvPr>
          <p:cNvPicPr>
            <a:picLocks noChangeAspect="1"/>
          </p:cNvPicPr>
          <p:nvPr/>
        </p:nvPicPr>
        <p:blipFill>
          <a:blip r:embed="rId3"/>
          <a:stretch>
            <a:fillRect/>
          </a:stretch>
        </p:blipFill>
        <p:spPr>
          <a:xfrm>
            <a:off x="126998" y="3278981"/>
            <a:ext cx="5410200" cy="3043237"/>
          </a:xfrm>
          <a:prstGeom prst="rect">
            <a:avLst/>
          </a:prstGeom>
        </p:spPr>
      </p:pic>
      <p:pic>
        <p:nvPicPr>
          <p:cNvPr id="7" name="Content Placeholder 4">
            <a:extLst>
              <a:ext uri="{FF2B5EF4-FFF2-40B4-BE49-F238E27FC236}">
                <a16:creationId xmlns:a16="http://schemas.microsoft.com/office/drawing/2014/main" id="{4399F04A-9F4B-D082-44CF-24AF09AA99BD}"/>
              </a:ext>
            </a:extLst>
          </p:cNvPr>
          <p:cNvPicPr>
            <a:picLocks noChangeAspect="1"/>
          </p:cNvPicPr>
          <p:nvPr/>
        </p:nvPicPr>
        <p:blipFill>
          <a:blip r:embed="rId4"/>
          <a:stretch>
            <a:fillRect/>
          </a:stretch>
        </p:blipFill>
        <p:spPr>
          <a:xfrm>
            <a:off x="5836076" y="1138233"/>
            <a:ext cx="6039230" cy="3459168"/>
          </a:xfrm>
          <a:prstGeom prst="rect">
            <a:avLst/>
          </a:prstGeom>
        </p:spPr>
      </p:pic>
      <p:sp>
        <p:nvSpPr>
          <p:cNvPr id="11" name="TextBox 10">
            <a:extLst>
              <a:ext uri="{FF2B5EF4-FFF2-40B4-BE49-F238E27FC236}">
                <a16:creationId xmlns:a16="http://schemas.microsoft.com/office/drawing/2014/main" id="{43695F18-AE86-B317-F9E5-9E58BD0D9263}"/>
              </a:ext>
            </a:extLst>
          </p:cNvPr>
          <p:cNvSpPr txBox="1"/>
          <p:nvPr/>
        </p:nvSpPr>
        <p:spPr>
          <a:xfrm>
            <a:off x="6096000" y="5396601"/>
            <a:ext cx="6096000" cy="646331"/>
          </a:xfrm>
          <a:prstGeom prst="rect">
            <a:avLst/>
          </a:prstGeom>
          <a:noFill/>
        </p:spPr>
        <p:txBody>
          <a:bodyPr wrap="square">
            <a:spAutoFit/>
          </a:bodyPr>
          <a:lstStyle/>
          <a:p>
            <a:r>
              <a:rPr lang="en-US" dirty="0"/>
              <a:t>The system is designed for </a:t>
            </a:r>
            <a:r>
              <a:rPr lang="en-US" i="1" dirty="0"/>
              <a:t>interpretability-first exploration</a:t>
            </a:r>
            <a:r>
              <a:rPr lang="en-US" dirty="0"/>
              <a:t>, not clinical decision-making</a:t>
            </a:r>
            <a:endParaRPr lang="en-IN" dirty="0"/>
          </a:p>
        </p:txBody>
      </p:sp>
    </p:spTree>
    <p:extLst>
      <p:ext uri="{BB962C8B-B14F-4D97-AF65-F5344CB8AC3E}">
        <p14:creationId xmlns:p14="http://schemas.microsoft.com/office/powerpoint/2010/main" val="1241664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3901A-234E-4742-26D3-C54E82264236}"/>
              </a:ext>
            </a:extLst>
          </p:cNvPr>
          <p:cNvSpPr>
            <a:spLocks noGrp="1"/>
          </p:cNvSpPr>
          <p:nvPr>
            <p:ph type="title"/>
          </p:nvPr>
        </p:nvSpPr>
        <p:spPr>
          <a:xfrm>
            <a:off x="2887134" y="552706"/>
            <a:ext cx="8940800" cy="1293028"/>
          </a:xfrm>
        </p:spPr>
        <p:txBody>
          <a:bodyPr>
            <a:normAutofit fontScale="90000"/>
          </a:bodyPr>
          <a:lstStyle/>
          <a:p>
            <a:r>
              <a:rPr lang="en-US" b="1" dirty="0"/>
              <a:t>Conversational AI Explanation Layer (Agent-Based, RAG-Powered)</a:t>
            </a:r>
            <a:endParaRPr lang="en-IN" b="1" dirty="0"/>
          </a:p>
        </p:txBody>
      </p:sp>
      <p:sp>
        <p:nvSpPr>
          <p:cNvPr id="3" name="Content Placeholder 2">
            <a:extLst>
              <a:ext uri="{FF2B5EF4-FFF2-40B4-BE49-F238E27FC236}">
                <a16:creationId xmlns:a16="http://schemas.microsoft.com/office/drawing/2014/main" id="{0692E9C6-BFCE-DA44-0596-5CFF69389D46}"/>
              </a:ext>
            </a:extLst>
          </p:cNvPr>
          <p:cNvSpPr>
            <a:spLocks noGrp="1"/>
          </p:cNvSpPr>
          <p:nvPr>
            <p:ph idx="1"/>
          </p:nvPr>
        </p:nvSpPr>
        <p:spPr>
          <a:xfrm>
            <a:off x="558800" y="1938868"/>
            <a:ext cx="10947400" cy="4279818"/>
          </a:xfrm>
        </p:spPr>
        <p:txBody>
          <a:bodyPr>
            <a:normAutofit fontScale="85000" lnSpcReduction="20000"/>
          </a:bodyPr>
          <a:lstStyle/>
          <a:p>
            <a:r>
              <a:rPr lang="en-IN" b="1" dirty="0"/>
              <a:t>Conversational layer / User Interaction layer:</a:t>
            </a:r>
          </a:p>
          <a:p>
            <a:pPr>
              <a:buFontTx/>
              <a:buChar char="-"/>
            </a:pPr>
            <a:r>
              <a:rPr lang="en-IN" dirty="0"/>
              <a:t>This enables natural language interaction with model predictions</a:t>
            </a:r>
          </a:p>
          <a:p>
            <a:pPr>
              <a:buFontTx/>
              <a:buChar char="-"/>
            </a:pPr>
            <a:r>
              <a:rPr lang="en-IN" dirty="0"/>
              <a:t>Allows users to ask:</a:t>
            </a:r>
          </a:p>
          <a:p>
            <a:pPr marL="0" indent="0">
              <a:buNone/>
            </a:pPr>
            <a:r>
              <a:rPr lang="en-IN" dirty="0"/>
              <a:t>-&gt; “What does this subtype mean?”</a:t>
            </a:r>
          </a:p>
          <a:p>
            <a:pPr marL="0" indent="0">
              <a:buNone/>
            </a:pPr>
            <a:r>
              <a:rPr lang="en-IN" dirty="0"/>
              <a:t>-&gt;“Why was HER2-enriched predicted?”</a:t>
            </a:r>
          </a:p>
          <a:p>
            <a:pPr marL="0" indent="0">
              <a:buNone/>
            </a:pPr>
            <a:r>
              <a:rPr lang="en-IN" dirty="0"/>
              <a:t>-&gt; “What genes/pathways are involved?”</a:t>
            </a:r>
          </a:p>
          <a:p>
            <a:r>
              <a:rPr lang="en-IN" b="1" dirty="0"/>
              <a:t>Implemented based on:</a:t>
            </a:r>
          </a:p>
          <a:p>
            <a:pPr>
              <a:buFontTx/>
              <a:buChar char="-"/>
            </a:pPr>
            <a:r>
              <a:rPr lang="en-US" dirty="0"/>
              <a:t>Agent-based routing logic (lightweight, Python-based)</a:t>
            </a:r>
          </a:p>
          <a:p>
            <a:pPr>
              <a:buFontTx/>
              <a:buChar char="-"/>
            </a:pPr>
            <a:r>
              <a:rPr lang="en-US" dirty="0"/>
              <a:t>Query intent inferred via prompt-level reasoning</a:t>
            </a:r>
          </a:p>
          <a:p>
            <a:pPr>
              <a:buFontTx/>
              <a:buChar char="-"/>
            </a:pPr>
            <a:r>
              <a:rPr lang="en-US" dirty="0"/>
              <a:t>Each query routed to:</a:t>
            </a:r>
          </a:p>
          <a:p>
            <a:pPr marL="0" indent="0">
              <a:buNone/>
            </a:pPr>
            <a:r>
              <a:rPr lang="en-US" dirty="0"/>
              <a:t>-&gt; Subtype biology explanation</a:t>
            </a:r>
          </a:p>
          <a:p>
            <a:pPr marL="0" indent="0">
              <a:buNone/>
            </a:pPr>
            <a:r>
              <a:rPr lang="en-US" dirty="0"/>
              <a:t>-&gt; Prediction reasoning</a:t>
            </a:r>
          </a:p>
          <a:p>
            <a:pPr marL="0" indent="0">
              <a:buNone/>
            </a:pPr>
            <a:r>
              <a:rPr lang="en-US" dirty="0"/>
              <a:t>-&gt; General PAM50 knowledge</a:t>
            </a:r>
          </a:p>
          <a:p>
            <a:endParaRPr lang="en-IN" dirty="0"/>
          </a:p>
        </p:txBody>
      </p:sp>
    </p:spTree>
    <p:extLst>
      <p:ext uri="{BB962C8B-B14F-4D97-AF65-F5344CB8AC3E}">
        <p14:creationId xmlns:p14="http://schemas.microsoft.com/office/powerpoint/2010/main" val="2409797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47A255-E5DA-EEE4-DE73-3C81C73F1981}"/>
              </a:ext>
            </a:extLst>
          </p:cNvPr>
          <p:cNvSpPr>
            <a:spLocks noGrp="1"/>
          </p:cNvSpPr>
          <p:nvPr>
            <p:ph idx="1"/>
          </p:nvPr>
        </p:nvSpPr>
        <p:spPr>
          <a:xfrm>
            <a:off x="838200" y="1430867"/>
            <a:ext cx="10822858" cy="5156746"/>
          </a:xfrm>
        </p:spPr>
        <p:txBody>
          <a:bodyPr>
            <a:normAutofit/>
          </a:bodyPr>
          <a:lstStyle/>
          <a:p>
            <a:r>
              <a:rPr lang="en-IN" b="1" dirty="0"/>
              <a:t>AI Backbone</a:t>
            </a:r>
          </a:p>
          <a:p>
            <a:pPr marL="0" indent="0">
              <a:buNone/>
            </a:pPr>
            <a:r>
              <a:rPr lang="en-IN" b="1" dirty="0"/>
              <a:t>- Retrieval-Augmented Generation (RAG)</a:t>
            </a:r>
            <a:endParaRPr lang="en-IN" dirty="0"/>
          </a:p>
          <a:p>
            <a:pPr marL="457200" lvl="1" indent="0">
              <a:buNone/>
            </a:pPr>
            <a:r>
              <a:rPr lang="en-IN" dirty="0"/>
              <a:t>-&gt; Vector search over curated oncology text</a:t>
            </a:r>
          </a:p>
          <a:p>
            <a:pPr marL="457200" lvl="1" indent="0">
              <a:buNone/>
            </a:pPr>
            <a:r>
              <a:rPr lang="en-IN" dirty="0"/>
              <a:t>-&gt; Context passed to LLM (Gemma via Ollama)</a:t>
            </a:r>
          </a:p>
          <a:p>
            <a:pPr marL="0" indent="0">
              <a:buNone/>
            </a:pPr>
            <a:r>
              <a:rPr lang="en-IN" dirty="0"/>
              <a:t>- Responses are literature-grounded, not hallucinated</a:t>
            </a:r>
          </a:p>
          <a:p>
            <a:r>
              <a:rPr lang="en-IN" b="1" dirty="0"/>
              <a:t>User Interface</a:t>
            </a:r>
          </a:p>
          <a:p>
            <a:pPr marL="0" indent="0">
              <a:buNone/>
            </a:pPr>
            <a:r>
              <a:rPr lang="en-IN" dirty="0"/>
              <a:t>- Integrated directly into </a:t>
            </a:r>
            <a:r>
              <a:rPr lang="en-IN" dirty="0" err="1"/>
              <a:t>Streamlit</a:t>
            </a:r>
            <a:endParaRPr lang="en-IN" dirty="0"/>
          </a:p>
          <a:p>
            <a:pPr marL="0" indent="0">
              <a:buNone/>
            </a:pPr>
            <a:r>
              <a:rPr lang="en-IN" dirty="0"/>
              <a:t>- Interactive, real-time explanations alongside predictions</a:t>
            </a:r>
          </a:p>
          <a:p>
            <a:pPr>
              <a:buFontTx/>
              <a:buChar char="-"/>
            </a:pPr>
            <a:r>
              <a:rPr lang="en-IN" dirty="0"/>
              <a:t>Designed for interpretability</a:t>
            </a:r>
          </a:p>
          <a:p>
            <a:r>
              <a:rPr lang="en-US" dirty="0"/>
              <a:t>Replaced classical NLU with a simpler, more transparent agent-based conversational layer grounded in retrieval and LLM reasoning. This reduced system complexity while maintaining interpretability and biological relevance</a:t>
            </a:r>
            <a:endParaRPr lang="en-IN" dirty="0"/>
          </a:p>
          <a:p>
            <a:endParaRPr lang="en-IN" dirty="0"/>
          </a:p>
        </p:txBody>
      </p:sp>
    </p:spTree>
    <p:extLst>
      <p:ext uri="{BB962C8B-B14F-4D97-AF65-F5344CB8AC3E}">
        <p14:creationId xmlns:p14="http://schemas.microsoft.com/office/powerpoint/2010/main" val="3428766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45EE7-DF73-7B25-7F1D-BFB320B188F9}"/>
              </a:ext>
            </a:extLst>
          </p:cNvPr>
          <p:cNvSpPr>
            <a:spLocks noGrp="1"/>
          </p:cNvSpPr>
          <p:nvPr>
            <p:ph type="title"/>
          </p:nvPr>
        </p:nvSpPr>
        <p:spPr>
          <a:xfrm>
            <a:off x="2040468" y="764373"/>
            <a:ext cx="9245600" cy="937427"/>
          </a:xfrm>
        </p:spPr>
        <p:txBody>
          <a:bodyPr/>
          <a:lstStyle/>
          <a:p>
            <a:r>
              <a:rPr lang="en-IN" b="1" dirty="0"/>
              <a:t>Challenges faced and solutions</a:t>
            </a:r>
          </a:p>
        </p:txBody>
      </p:sp>
      <p:sp>
        <p:nvSpPr>
          <p:cNvPr id="3" name="Content Placeholder 2">
            <a:extLst>
              <a:ext uri="{FF2B5EF4-FFF2-40B4-BE49-F238E27FC236}">
                <a16:creationId xmlns:a16="http://schemas.microsoft.com/office/drawing/2014/main" id="{4C5E6B6D-246A-F8E7-0BCC-1C2032450953}"/>
              </a:ext>
            </a:extLst>
          </p:cNvPr>
          <p:cNvSpPr>
            <a:spLocks noGrp="1"/>
          </p:cNvSpPr>
          <p:nvPr>
            <p:ph idx="1"/>
          </p:nvPr>
        </p:nvSpPr>
        <p:spPr>
          <a:xfrm>
            <a:off x="811161" y="1701801"/>
            <a:ext cx="10695039" cy="4908208"/>
          </a:xfrm>
        </p:spPr>
        <p:txBody>
          <a:bodyPr>
            <a:normAutofit fontScale="70000" lnSpcReduction="20000"/>
          </a:bodyPr>
          <a:lstStyle/>
          <a:p>
            <a:r>
              <a:rPr lang="en-US" b="1" dirty="0"/>
              <a:t>Problem 1: SHAP-based explainability was initially planned but proved impractical</a:t>
            </a:r>
          </a:p>
          <a:p>
            <a:pPr marL="0" indent="0">
              <a:buNone/>
            </a:pPr>
            <a:r>
              <a:rPr lang="en-US" dirty="0"/>
              <a:t>- The project was initially designed to use SHAP for gene-level attribution in the </a:t>
            </a:r>
            <a:r>
              <a:rPr lang="en-US" dirty="0" err="1"/>
              <a:t>XGBoost</a:t>
            </a:r>
            <a:r>
              <a:rPr lang="en-US" dirty="0"/>
              <a:t> PAM50 model</a:t>
            </a:r>
          </a:p>
          <a:p>
            <a:pPr marL="0" indent="0">
              <a:buNone/>
            </a:pPr>
            <a:r>
              <a:rPr lang="en-US" dirty="0"/>
              <a:t>- In practice, SHAP introduced significant computational overhead, version conflicts, and instability with high-dimensional RNA-seq data</a:t>
            </a:r>
          </a:p>
          <a:p>
            <a:pPr marL="0" indent="0">
              <a:buNone/>
            </a:pPr>
            <a:r>
              <a:rPr lang="en-US" dirty="0"/>
              <a:t>- Translating raw SHAP values into biologically meaningful explanations was non-trivial and risked superficial interpretation</a:t>
            </a:r>
          </a:p>
          <a:p>
            <a:r>
              <a:rPr lang="en-US" b="1" dirty="0"/>
              <a:t>Solution:</a:t>
            </a:r>
            <a:endParaRPr lang="en-US" dirty="0"/>
          </a:p>
          <a:p>
            <a:pPr marL="0" indent="0">
              <a:buNone/>
            </a:pPr>
            <a:r>
              <a:rPr lang="en-US" b="1" dirty="0"/>
              <a:t>- </a:t>
            </a:r>
            <a:r>
              <a:rPr lang="en-US" dirty="0"/>
              <a:t>Strategically deprioritized SHAP to avoid unstable or misleading explanations</a:t>
            </a:r>
          </a:p>
          <a:p>
            <a:pPr marL="0" indent="0">
              <a:buNone/>
            </a:pPr>
            <a:r>
              <a:rPr lang="en-US" dirty="0"/>
              <a:t>- Instead, focused on:</a:t>
            </a:r>
          </a:p>
          <a:p>
            <a:pPr marL="0" indent="0">
              <a:buNone/>
            </a:pPr>
            <a:r>
              <a:rPr lang="en-US" dirty="0"/>
              <a:t>- Model-level interpretability-</a:t>
            </a:r>
          </a:p>
          <a:p>
            <a:pPr lvl="1"/>
            <a:r>
              <a:rPr lang="en-US" dirty="0"/>
              <a:t>Robust subtype prediction using </a:t>
            </a:r>
            <a:r>
              <a:rPr lang="en-US" dirty="0" err="1"/>
              <a:t>XGBoost</a:t>
            </a:r>
            <a:r>
              <a:rPr lang="en-US" dirty="0"/>
              <a:t> global feature importance – which genes matter most overall</a:t>
            </a:r>
          </a:p>
          <a:p>
            <a:pPr lvl="1"/>
            <a:r>
              <a:rPr lang="en-US" dirty="0"/>
              <a:t>Permutation style importance to identify genes influencing subtype prediction overall</a:t>
            </a:r>
          </a:p>
          <a:p>
            <a:pPr marL="0" indent="0">
              <a:buNone/>
            </a:pPr>
            <a:r>
              <a:rPr lang="en-US" dirty="0"/>
              <a:t>- Biology level interpretability </a:t>
            </a:r>
          </a:p>
          <a:p>
            <a:pPr marL="0" indent="0">
              <a:buNone/>
            </a:pPr>
            <a:r>
              <a:rPr lang="en-US" dirty="0"/>
              <a:t>- Literature grounded interpretation using a Retrieval-Augmented Generation (RAG) framework</a:t>
            </a:r>
          </a:p>
          <a:p>
            <a:pPr marL="0" indent="0">
              <a:buNone/>
            </a:pPr>
            <a:r>
              <a:rPr lang="en-US" dirty="0"/>
              <a:t>- Link model important genes to:</a:t>
            </a:r>
          </a:p>
          <a:p>
            <a:pPr lvl="1"/>
            <a:r>
              <a:rPr lang="en-US" dirty="0"/>
              <a:t>Curated oncology literature</a:t>
            </a:r>
          </a:p>
          <a:p>
            <a:pPr lvl="1"/>
            <a:r>
              <a:rPr lang="en-US" dirty="0"/>
              <a:t>PAM50 biology</a:t>
            </a:r>
          </a:p>
          <a:p>
            <a:pPr lvl="1"/>
            <a:r>
              <a:rPr lang="en-US" dirty="0"/>
              <a:t>LLM-assisted explanation grounded in known molecular mechanisms</a:t>
            </a:r>
          </a:p>
          <a:p>
            <a:pPr marL="0" indent="0">
              <a:buNone/>
            </a:pPr>
            <a:r>
              <a:rPr lang="en-US" dirty="0"/>
              <a:t>- This shift emphasized biological plausibility and interpretive clarity over unstable feature attribution</a:t>
            </a:r>
          </a:p>
        </p:txBody>
      </p:sp>
    </p:spTree>
    <p:extLst>
      <p:ext uri="{BB962C8B-B14F-4D97-AF65-F5344CB8AC3E}">
        <p14:creationId xmlns:p14="http://schemas.microsoft.com/office/powerpoint/2010/main" val="2820419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397D01-7188-F005-CEE9-E4254F7C5354}"/>
              </a:ext>
            </a:extLst>
          </p:cNvPr>
          <p:cNvSpPr>
            <a:spLocks noGrp="1"/>
          </p:cNvSpPr>
          <p:nvPr>
            <p:ph idx="1"/>
          </p:nvPr>
        </p:nvSpPr>
        <p:spPr>
          <a:xfrm>
            <a:off x="838200" y="1279013"/>
            <a:ext cx="10515600" cy="5248787"/>
          </a:xfrm>
        </p:spPr>
        <p:txBody>
          <a:bodyPr>
            <a:normAutofit fontScale="77500" lnSpcReduction="20000"/>
          </a:bodyPr>
          <a:lstStyle/>
          <a:p>
            <a:r>
              <a:rPr lang="en-US" b="1" dirty="0"/>
              <a:t>Problem 2: Planned Rasa NLU–based chatbot added system complexity</a:t>
            </a:r>
            <a:endParaRPr lang="en-US" dirty="0"/>
          </a:p>
          <a:p>
            <a:pPr marL="0" indent="0">
              <a:buNone/>
            </a:pPr>
            <a:r>
              <a:rPr lang="en-US" dirty="0"/>
              <a:t>- The project initially planned to include a Rasa NLU/Core–based conversational chatbot to explain subtype predictions</a:t>
            </a:r>
          </a:p>
          <a:p>
            <a:pPr marL="0" indent="0">
              <a:buNone/>
            </a:pPr>
            <a:r>
              <a:rPr lang="en-US" dirty="0"/>
              <a:t>- Integrating Rasa introduced:</a:t>
            </a:r>
          </a:p>
          <a:p>
            <a:pPr lvl="1"/>
            <a:r>
              <a:rPr lang="en-US" dirty="0"/>
              <a:t>High configuration overhead (intents, domain, rules, policies)</a:t>
            </a:r>
          </a:p>
          <a:p>
            <a:pPr lvl="1"/>
            <a:r>
              <a:rPr lang="en-US" dirty="0"/>
              <a:t>Version and dependency conflicts on Windows</a:t>
            </a:r>
          </a:p>
          <a:p>
            <a:pPr lvl="1"/>
            <a:r>
              <a:rPr lang="en-US" dirty="0"/>
              <a:t>Tight coupling between dialogue management and scientific explanation</a:t>
            </a:r>
          </a:p>
          <a:p>
            <a:pPr marL="0" indent="0">
              <a:buNone/>
            </a:pPr>
            <a:r>
              <a:rPr lang="en-US" dirty="0"/>
              <a:t>- This complexity did not directly improve the biological interpretability of model outputs</a:t>
            </a:r>
          </a:p>
          <a:p>
            <a:r>
              <a:rPr lang="en-US" b="1" dirty="0"/>
              <a:t>Solution:</a:t>
            </a:r>
            <a:endParaRPr lang="en-US" dirty="0"/>
          </a:p>
          <a:p>
            <a:pPr marL="0" indent="0">
              <a:buNone/>
            </a:pPr>
            <a:r>
              <a:rPr lang="en-US" dirty="0"/>
              <a:t>- Intentionally replaced Rasa NLU with a lightweight agent-based conversational layer</a:t>
            </a:r>
          </a:p>
          <a:p>
            <a:pPr marL="0" indent="0">
              <a:buNone/>
            </a:pPr>
            <a:r>
              <a:rPr lang="en-US" dirty="0"/>
              <a:t>- Instead of intent classification, the system uses:</a:t>
            </a:r>
          </a:p>
          <a:p>
            <a:pPr lvl="1"/>
            <a:r>
              <a:rPr lang="en-US" dirty="0"/>
              <a:t>Rule-based query routing</a:t>
            </a:r>
          </a:p>
          <a:p>
            <a:pPr lvl="1"/>
            <a:r>
              <a:rPr lang="en-US" dirty="0"/>
              <a:t>LLM-driven reasoning with RAG</a:t>
            </a:r>
          </a:p>
          <a:p>
            <a:pPr marL="0" indent="0">
              <a:buNone/>
            </a:pPr>
            <a:r>
              <a:rPr lang="en-US" dirty="0"/>
              <a:t>- User questions are answered by:</a:t>
            </a:r>
          </a:p>
          <a:p>
            <a:pPr lvl="1"/>
            <a:r>
              <a:rPr lang="en-US" dirty="0"/>
              <a:t>Retrieving relevant oncology context (PAM50 biology, subtype characteristics)</a:t>
            </a:r>
          </a:p>
          <a:p>
            <a:pPr lvl="1"/>
            <a:r>
              <a:rPr lang="en-US" dirty="0"/>
              <a:t>Generating grounded explanations via an LLM</a:t>
            </a:r>
          </a:p>
          <a:p>
            <a:pPr marL="0" indent="0">
              <a:buNone/>
            </a:pPr>
            <a:r>
              <a:rPr lang="en-US" dirty="0"/>
              <a:t>- This approach enabled flexible, domain-aware interaction without brittle dialogue rules</a:t>
            </a:r>
          </a:p>
          <a:p>
            <a:pPr marL="0" indent="0">
              <a:buNone/>
            </a:pPr>
            <a:r>
              <a:rPr lang="en-US" dirty="0"/>
              <a:t>- Replaced heavyweight NLU with a simpler, more robust agent-based explanation interface</a:t>
            </a:r>
          </a:p>
          <a:p>
            <a:endParaRPr lang="en-US" dirty="0"/>
          </a:p>
          <a:p>
            <a:endParaRPr lang="en-IN" dirty="0"/>
          </a:p>
        </p:txBody>
      </p:sp>
    </p:spTree>
    <p:extLst>
      <p:ext uri="{BB962C8B-B14F-4D97-AF65-F5344CB8AC3E}">
        <p14:creationId xmlns:p14="http://schemas.microsoft.com/office/powerpoint/2010/main" val="2277564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24DC3-2B3E-0A47-C5B0-FC764B0B52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53AB0FC-F74F-9A3B-F9F4-27F40666837A}"/>
              </a:ext>
            </a:extLst>
          </p:cNvPr>
          <p:cNvSpPr>
            <a:spLocks noGrp="1"/>
          </p:cNvSpPr>
          <p:nvPr>
            <p:ph idx="1"/>
          </p:nvPr>
        </p:nvSpPr>
        <p:spPr/>
        <p:txBody>
          <a:bodyPr>
            <a:normAutofit fontScale="77500" lnSpcReduction="20000"/>
          </a:bodyPr>
          <a:lstStyle/>
          <a:p>
            <a:r>
              <a:rPr lang="en-US" b="1" dirty="0"/>
              <a:t>Problem 3: Library and dependency conflicts</a:t>
            </a:r>
          </a:p>
          <a:p>
            <a:pPr marL="0" indent="0">
              <a:buNone/>
            </a:pPr>
            <a:r>
              <a:rPr lang="en-US" dirty="0"/>
              <a:t>- Frequent version conflicts (</a:t>
            </a:r>
            <a:r>
              <a:rPr lang="en-US" dirty="0" err="1"/>
              <a:t>LangChain</a:t>
            </a:r>
            <a:r>
              <a:rPr lang="en-US" dirty="0"/>
              <a:t>, </a:t>
            </a:r>
            <a:r>
              <a:rPr lang="en-US" dirty="0" err="1"/>
              <a:t>ChromaDB</a:t>
            </a:r>
            <a:r>
              <a:rPr lang="en-US" dirty="0"/>
              <a:t>, </a:t>
            </a:r>
            <a:r>
              <a:rPr lang="en-US" dirty="0" err="1"/>
              <a:t>Pydantic</a:t>
            </a:r>
            <a:r>
              <a:rPr lang="en-US" dirty="0"/>
              <a:t>, TensorFlow)</a:t>
            </a:r>
          </a:p>
          <a:p>
            <a:pPr marL="0" indent="0">
              <a:buNone/>
            </a:pPr>
            <a:r>
              <a:rPr lang="en-US" dirty="0"/>
              <a:t>- Errors during environment setup and execution</a:t>
            </a:r>
          </a:p>
          <a:p>
            <a:r>
              <a:rPr lang="en-US" b="1" dirty="0"/>
              <a:t>Solution:</a:t>
            </a:r>
            <a:endParaRPr lang="en-US" dirty="0"/>
          </a:p>
          <a:p>
            <a:pPr marL="0" indent="0">
              <a:buNone/>
            </a:pPr>
            <a:r>
              <a:rPr lang="en-US" dirty="0"/>
              <a:t>- Carefully aligned compatible library versions</a:t>
            </a:r>
          </a:p>
          <a:p>
            <a:pPr marL="0" indent="0">
              <a:buNone/>
            </a:pPr>
            <a:r>
              <a:rPr lang="en-US" dirty="0"/>
              <a:t>- Isolated the project in a dedicated Conda environment</a:t>
            </a:r>
          </a:p>
          <a:p>
            <a:pPr marL="0" indent="0">
              <a:buNone/>
            </a:pPr>
            <a:r>
              <a:rPr lang="en-US" dirty="0"/>
              <a:t>- Simplified the stack where possible</a:t>
            </a:r>
          </a:p>
          <a:p>
            <a:r>
              <a:rPr lang="en-IN" b="1" dirty="0"/>
              <a:t>Problem 4: Vector database locking and persistence issues</a:t>
            </a:r>
          </a:p>
          <a:p>
            <a:pPr marL="0" indent="0">
              <a:buNone/>
            </a:pPr>
            <a:r>
              <a:rPr lang="en-IN" dirty="0"/>
              <a:t>- </a:t>
            </a:r>
            <a:r>
              <a:rPr lang="en-IN" dirty="0" err="1"/>
              <a:t>ChromaDB</a:t>
            </a:r>
            <a:r>
              <a:rPr lang="en-IN" dirty="0"/>
              <a:t> caused file locking and schema errors during development</a:t>
            </a:r>
          </a:p>
          <a:p>
            <a:pPr marL="0" indent="0">
              <a:buNone/>
            </a:pPr>
            <a:r>
              <a:rPr lang="en-IN" dirty="0"/>
              <a:t>- Difficulty deleting or reusing existing vector stores</a:t>
            </a:r>
          </a:p>
          <a:p>
            <a:r>
              <a:rPr lang="en-IN" b="1" dirty="0"/>
              <a:t>Solution:</a:t>
            </a:r>
            <a:endParaRPr lang="en-IN" dirty="0"/>
          </a:p>
          <a:p>
            <a:pPr marL="0" indent="0">
              <a:buNone/>
            </a:pPr>
            <a:r>
              <a:rPr lang="en-IN" dirty="0"/>
              <a:t>- Rebuilt the vector database cleanly</a:t>
            </a:r>
          </a:p>
          <a:p>
            <a:pPr marL="0" indent="0">
              <a:buNone/>
            </a:pPr>
            <a:r>
              <a:rPr lang="en-IN" dirty="0"/>
              <a:t>- Standardized the directory structure and persistence logic</a:t>
            </a:r>
          </a:p>
          <a:p>
            <a:endParaRPr lang="en-IN" dirty="0"/>
          </a:p>
        </p:txBody>
      </p:sp>
    </p:spTree>
    <p:extLst>
      <p:ext uri="{BB962C8B-B14F-4D97-AF65-F5344CB8AC3E}">
        <p14:creationId xmlns:p14="http://schemas.microsoft.com/office/powerpoint/2010/main" val="34136495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E7C39-C9FC-0A3D-CEDD-7455DE1C6D45}"/>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4E14BE7D-47CD-79C0-5EF2-63E1C643BE24}"/>
              </a:ext>
            </a:extLst>
          </p:cNvPr>
          <p:cNvSpPr>
            <a:spLocks noGrp="1"/>
          </p:cNvSpPr>
          <p:nvPr>
            <p:ph idx="1"/>
          </p:nvPr>
        </p:nvSpPr>
        <p:spPr/>
        <p:txBody>
          <a:bodyPr>
            <a:normAutofit fontScale="85000" lnSpcReduction="20000"/>
          </a:bodyPr>
          <a:lstStyle/>
          <a:p>
            <a:r>
              <a:rPr lang="en-US" b="1" dirty="0"/>
              <a:t>Problem 5: Data path and file handling issues</a:t>
            </a:r>
          </a:p>
          <a:p>
            <a:pPr marL="0" indent="0">
              <a:buNone/>
            </a:pPr>
            <a:r>
              <a:rPr lang="en-US" dirty="0"/>
              <a:t>- Errors due to incorrect file paths (processed data, parquet files)</a:t>
            </a:r>
          </a:p>
          <a:p>
            <a:pPr marL="0" indent="0">
              <a:buNone/>
            </a:pPr>
            <a:r>
              <a:rPr lang="en-US" dirty="0"/>
              <a:t>- Differences between development and execution directories</a:t>
            </a:r>
          </a:p>
          <a:p>
            <a:r>
              <a:rPr lang="en-US" b="1" dirty="0"/>
              <a:t>Solution:</a:t>
            </a:r>
            <a:endParaRPr lang="en-US" dirty="0"/>
          </a:p>
          <a:p>
            <a:pPr marL="0" indent="0">
              <a:buNone/>
            </a:pPr>
            <a:r>
              <a:rPr lang="en-US" dirty="0"/>
              <a:t>- Standardized folder structure</a:t>
            </a:r>
          </a:p>
          <a:p>
            <a:pPr marL="0" indent="0">
              <a:buNone/>
            </a:pPr>
            <a:r>
              <a:rPr lang="en-US" dirty="0"/>
              <a:t>- Added explicit path handling and validation</a:t>
            </a:r>
          </a:p>
          <a:p>
            <a:r>
              <a:rPr lang="en-US" b="1" dirty="0"/>
              <a:t>Problem 6: Integrating ML output with the UI</a:t>
            </a:r>
          </a:p>
          <a:p>
            <a:pPr marL="0" indent="0">
              <a:buNone/>
            </a:pPr>
            <a:r>
              <a:rPr lang="en-US" dirty="0"/>
              <a:t>- Passing predictions into the conversational explanation layer required careful state handling</a:t>
            </a:r>
          </a:p>
          <a:p>
            <a:r>
              <a:rPr lang="en-US" b="1" dirty="0"/>
              <a:t>Solution:</a:t>
            </a:r>
            <a:endParaRPr lang="en-US" dirty="0"/>
          </a:p>
          <a:p>
            <a:pPr marL="0" indent="0">
              <a:buNone/>
            </a:pPr>
            <a:r>
              <a:rPr lang="en-US" dirty="0"/>
              <a:t>- Used </a:t>
            </a:r>
            <a:r>
              <a:rPr lang="en-US" dirty="0" err="1"/>
              <a:t>Streamlit</a:t>
            </a:r>
            <a:r>
              <a:rPr lang="en-US" dirty="0"/>
              <a:t> session state to store predictions</a:t>
            </a:r>
          </a:p>
          <a:p>
            <a:pPr marL="0" indent="0">
              <a:buNone/>
            </a:pPr>
            <a:r>
              <a:rPr lang="en-US" dirty="0"/>
              <a:t>- Cleanly connected model output → explanation → user interaction</a:t>
            </a:r>
          </a:p>
          <a:p>
            <a:endParaRPr lang="en-IN" dirty="0"/>
          </a:p>
        </p:txBody>
      </p:sp>
    </p:spTree>
    <p:extLst>
      <p:ext uri="{BB962C8B-B14F-4D97-AF65-F5344CB8AC3E}">
        <p14:creationId xmlns:p14="http://schemas.microsoft.com/office/powerpoint/2010/main" val="38300688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49656-B9A9-0083-74C9-49E4EA7881B4}"/>
              </a:ext>
            </a:extLst>
          </p:cNvPr>
          <p:cNvSpPr>
            <a:spLocks noGrp="1"/>
          </p:cNvSpPr>
          <p:nvPr>
            <p:ph type="title"/>
          </p:nvPr>
        </p:nvSpPr>
        <p:spPr/>
        <p:txBody>
          <a:bodyPr/>
          <a:lstStyle/>
          <a:p>
            <a:r>
              <a:rPr lang="en-IN" b="1" dirty="0"/>
              <a:t>Summary</a:t>
            </a:r>
          </a:p>
        </p:txBody>
      </p:sp>
      <p:sp>
        <p:nvSpPr>
          <p:cNvPr id="3" name="Content Placeholder 2">
            <a:extLst>
              <a:ext uri="{FF2B5EF4-FFF2-40B4-BE49-F238E27FC236}">
                <a16:creationId xmlns:a16="http://schemas.microsoft.com/office/drawing/2014/main" id="{1E724DC4-43B8-7B46-EF0F-C93F485BF060}"/>
              </a:ext>
            </a:extLst>
          </p:cNvPr>
          <p:cNvSpPr>
            <a:spLocks noGrp="1"/>
          </p:cNvSpPr>
          <p:nvPr>
            <p:ph idx="1"/>
          </p:nvPr>
        </p:nvSpPr>
        <p:spPr/>
        <p:txBody>
          <a:bodyPr>
            <a:normAutofit/>
          </a:bodyPr>
          <a:lstStyle/>
          <a:p>
            <a:r>
              <a:rPr lang="en-IN" b="1" dirty="0"/>
              <a:t>What was built?</a:t>
            </a:r>
          </a:p>
          <a:p>
            <a:pPr>
              <a:buFontTx/>
              <a:buChar char="-"/>
            </a:pPr>
            <a:r>
              <a:rPr lang="en-IN" dirty="0"/>
              <a:t>An interpretable PAM50 breast cancer subtype prediction pipeline using TCGA BRCA RNA </a:t>
            </a:r>
            <a:r>
              <a:rPr lang="en-IN" dirty="0" err="1"/>
              <a:t>seq</a:t>
            </a:r>
            <a:r>
              <a:rPr lang="en-IN" dirty="0"/>
              <a:t> data</a:t>
            </a:r>
          </a:p>
          <a:p>
            <a:pPr>
              <a:buFontTx/>
              <a:buChar char="-"/>
            </a:pPr>
            <a:r>
              <a:rPr lang="en-IN" dirty="0" err="1"/>
              <a:t>XGBoost</a:t>
            </a:r>
            <a:r>
              <a:rPr lang="en-IN" dirty="0"/>
              <a:t> based multi class classification with robust preprocessing and validation</a:t>
            </a:r>
          </a:p>
          <a:p>
            <a:pPr>
              <a:buFontTx/>
              <a:buChar char="-"/>
            </a:pPr>
            <a:r>
              <a:rPr lang="en-IN" dirty="0"/>
              <a:t>RAG-powered biological interpretation layer to contextualize predictions using curated oncology literature</a:t>
            </a:r>
          </a:p>
          <a:p>
            <a:pPr>
              <a:buFontTx/>
              <a:buChar char="-"/>
            </a:pPr>
            <a:r>
              <a:rPr lang="en-IN" dirty="0"/>
              <a:t>Interactive deployment via </a:t>
            </a:r>
            <a:r>
              <a:rPr lang="en-IN" dirty="0" err="1"/>
              <a:t>Streamlit</a:t>
            </a:r>
            <a:r>
              <a:rPr lang="en-IN" dirty="0"/>
              <a:t> with an agent based explanation interface</a:t>
            </a:r>
          </a:p>
          <a:p>
            <a:endParaRPr lang="en-IN" dirty="0"/>
          </a:p>
        </p:txBody>
      </p:sp>
    </p:spTree>
    <p:extLst>
      <p:ext uri="{BB962C8B-B14F-4D97-AF65-F5344CB8AC3E}">
        <p14:creationId xmlns:p14="http://schemas.microsoft.com/office/powerpoint/2010/main" val="408550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69694-EEA0-EF8F-CA13-FB6883ED47E6}"/>
              </a:ext>
            </a:extLst>
          </p:cNvPr>
          <p:cNvSpPr>
            <a:spLocks noGrp="1"/>
          </p:cNvSpPr>
          <p:nvPr>
            <p:ph idx="1"/>
          </p:nvPr>
        </p:nvSpPr>
        <p:spPr>
          <a:xfrm>
            <a:off x="838199" y="1253067"/>
            <a:ext cx="11127659" cy="4487333"/>
          </a:xfrm>
        </p:spPr>
        <p:txBody>
          <a:bodyPr/>
          <a:lstStyle/>
          <a:p>
            <a:r>
              <a:rPr lang="en-IN" b="1" dirty="0"/>
              <a:t>Why it matters?</a:t>
            </a:r>
          </a:p>
          <a:p>
            <a:pPr>
              <a:buFontTx/>
              <a:buChar char="-"/>
            </a:pPr>
            <a:r>
              <a:rPr lang="en-IN" dirty="0"/>
              <a:t>Moves beyond black-box prediction towards biologically interpretable AI</a:t>
            </a:r>
          </a:p>
          <a:p>
            <a:pPr>
              <a:buFontTx/>
              <a:buChar char="-"/>
            </a:pPr>
            <a:r>
              <a:rPr lang="en-IN" dirty="0"/>
              <a:t>Bridges ML outputs and cancer biology understanding</a:t>
            </a:r>
          </a:p>
          <a:p>
            <a:pPr>
              <a:buFontTx/>
              <a:buChar char="-"/>
            </a:pPr>
            <a:r>
              <a:rPr lang="en-IN" dirty="0"/>
              <a:t>Enables transparent subtype reasoning relevant for biomarker discovery and hypothesis generation</a:t>
            </a:r>
          </a:p>
          <a:p>
            <a:r>
              <a:rPr lang="en-IN" b="1" dirty="0"/>
              <a:t>Core take aways</a:t>
            </a:r>
          </a:p>
          <a:p>
            <a:pPr marL="0" indent="0">
              <a:buNone/>
            </a:pPr>
            <a:r>
              <a:rPr lang="en-IN" dirty="0"/>
              <a:t>- Explainability is essential for trust and usability in computational oncology</a:t>
            </a:r>
          </a:p>
          <a:p>
            <a:pPr marL="0" indent="0">
              <a:buNone/>
            </a:pPr>
            <a:r>
              <a:rPr lang="en-IN" dirty="0"/>
              <a:t>- Literature grounded AI (RAG) enhances interpretability without replacing     biological expertise</a:t>
            </a:r>
          </a:p>
          <a:p>
            <a:pPr marL="0" indent="0">
              <a:buNone/>
            </a:pPr>
            <a:r>
              <a:rPr lang="en-IN" dirty="0"/>
              <a:t>- Interdisciplinary integration of ML, bioinformatics, and AI reasoning is key for precision medicine research</a:t>
            </a:r>
          </a:p>
          <a:p>
            <a:endParaRPr lang="en-IN" dirty="0"/>
          </a:p>
          <a:p>
            <a:pPr>
              <a:buFontTx/>
              <a:buChar char="-"/>
            </a:pPr>
            <a:endParaRPr lang="en-IN" dirty="0"/>
          </a:p>
        </p:txBody>
      </p:sp>
    </p:spTree>
    <p:extLst>
      <p:ext uri="{BB962C8B-B14F-4D97-AF65-F5344CB8AC3E}">
        <p14:creationId xmlns:p14="http://schemas.microsoft.com/office/powerpoint/2010/main" val="3616328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56EB5-473A-4DD1-A93C-75AE130AD34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ACDAA60-273D-905C-E042-5611DF5F5E54}"/>
              </a:ext>
            </a:extLst>
          </p:cNvPr>
          <p:cNvSpPr>
            <a:spLocks noGrp="1"/>
          </p:cNvSpPr>
          <p:nvPr>
            <p:ph idx="1"/>
          </p:nvPr>
        </p:nvSpPr>
        <p:spPr/>
        <p:txBody>
          <a:bodyPr/>
          <a:lstStyle/>
          <a:p>
            <a:r>
              <a:rPr lang="en-IN" b="1" dirty="0"/>
              <a:t>Impact</a:t>
            </a:r>
          </a:p>
          <a:p>
            <a:pPr>
              <a:buFontTx/>
              <a:buChar char="-"/>
            </a:pPr>
            <a:r>
              <a:rPr lang="en-IN" dirty="0"/>
              <a:t>Provides a reusable framework for explainable cancer subtype modelling</a:t>
            </a:r>
          </a:p>
          <a:p>
            <a:pPr>
              <a:buFontTx/>
              <a:buChar char="-"/>
            </a:pPr>
            <a:r>
              <a:rPr lang="en-IN" dirty="0"/>
              <a:t>This work demonstrates how explainable AI can translate high- dimensional transcriptomic data into biologically meaningful insight</a:t>
            </a:r>
          </a:p>
          <a:p>
            <a:pPr>
              <a:buFontTx/>
              <a:buChar char="-"/>
            </a:pPr>
            <a:r>
              <a:rPr lang="en-US" dirty="0"/>
              <a:t>This project </a:t>
            </a:r>
            <a:r>
              <a:rPr lang="en-IN" dirty="0"/>
              <a:t>also </a:t>
            </a:r>
            <a:r>
              <a:rPr lang="en-US" dirty="0"/>
              <a:t>demonstrates readiness for PhD-level research in computational oncology by integrating machine learning, cancer biology, and explainable AI into a coherent, reproducible framework</a:t>
            </a:r>
            <a:endParaRPr lang="en-IN" dirty="0"/>
          </a:p>
        </p:txBody>
      </p:sp>
    </p:spTree>
    <p:extLst>
      <p:ext uri="{BB962C8B-B14F-4D97-AF65-F5344CB8AC3E}">
        <p14:creationId xmlns:p14="http://schemas.microsoft.com/office/powerpoint/2010/main" val="3635192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64BDC-D13F-CE50-AC26-A1B862C145AE}"/>
              </a:ext>
            </a:extLst>
          </p:cNvPr>
          <p:cNvSpPr>
            <a:spLocks noGrp="1"/>
          </p:cNvSpPr>
          <p:nvPr>
            <p:ph type="title"/>
          </p:nvPr>
        </p:nvSpPr>
        <p:spPr>
          <a:xfrm>
            <a:off x="1260988" y="2854708"/>
            <a:ext cx="10515600" cy="1325563"/>
          </a:xfrm>
        </p:spPr>
        <p:txBody>
          <a:bodyPr/>
          <a:lstStyle/>
          <a:p>
            <a:r>
              <a:rPr lang="en-IN" b="1" dirty="0"/>
              <a:t>Thank you</a:t>
            </a:r>
          </a:p>
        </p:txBody>
      </p:sp>
    </p:spTree>
    <p:extLst>
      <p:ext uri="{BB962C8B-B14F-4D97-AF65-F5344CB8AC3E}">
        <p14:creationId xmlns:p14="http://schemas.microsoft.com/office/powerpoint/2010/main" val="3567470976"/>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TM04033937[[fn=Vapor Trail]]</Template>
  <TotalTime>4469</TotalTime>
  <Words>2114</Words>
  <Application>Microsoft Office PowerPoint</Application>
  <PresentationFormat>Widescreen</PresentationFormat>
  <Paragraphs>258</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Century Gothic</vt:lpstr>
      <vt:lpstr>Wingdings</vt:lpstr>
      <vt:lpstr>Vapor Trail</vt:lpstr>
      <vt:lpstr>AI-Driven Explainable Cancer Subtype Prediction (TCGA-BRCA)</vt:lpstr>
      <vt:lpstr>Problem statement</vt:lpstr>
      <vt:lpstr>Research objectives</vt:lpstr>
      <vt:lpstr>Pipeline architecture</vt:lpstr>
      <vt:lpstr>Dataset</vt:lpstr>
      <vt:lpstr>Data preprocessing and integration</vt:lpstr>
      <vt:lpstr>Machine Learning model and model performance</vt:lpstr>
      <vt:lpstr>Machine Learning model and model performance</vt:lpstr>
      <vt:lpstr>PowerPoint Presentation</vt:lpstr>
      <vt:lpstr>Validation and Robustness Considerations</vt:lpstr>
      <vt:lpstr>Why XGBoost not deep learning?</vt:lpstr>
      <vt:lpstr>Why Explainability Matters?</vt:lpstr>
      <vt:lpstr>Strategy used for explainability</vt:lpstr>
      <vt:lpstr>Visualization of top 20 genes</vt:lpstr>
      <vt:lpstr>RAG based biological interpretation </vt:lpstr>
      <vt:lpstr>RAG Pipeline Architecture</vt:lpstr>
      <vt:lpstr>PowerPoint Presentation</vt:lpstr>
      <vt:lpstr>PowerPoint Presentation</vt:lpstr>
      <vt:lpstr>Deployment via streamlit</vt:lpstr>
      <vt:lpstr>PowerPoint Presentation</vt:lpstr>
      <vt:lpstr>Conversational AI Explanation Layer (Agent-Based, RAG-Powered)</vt:lpstr>
      <vt:lpstr>PowerPoint Presentation</vt:lpstr>
      <vt:lpstr>Challenges faced and solutions</vt:lpstr>
      <vt:lpstr>PowerPoint Presentation</vt:lpstr>
      <vt:lpstr>PowerPoint Presentation</vt:lpstr>
      <vt:lpstr>PowerPoint Presentation</vt:lpstr>
      <vt:lpstr>Summary</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Smrithi Radhakrishnan</dc:creator>
  <cp:lastModifiedBy>Smrithi Radhakrishnan</cp:lastModifiedBy>
  <cp:revision>14</cp:revision>
  <dcterms:created xsi:type="dcterms:W3CDTF">2025-12-03T09:09:11Z</dcterms:created>
  <dcterms:modified xsi:type="dcterms:W3CDTF">2026-01-20T11:03:54Z</dcterms:modified>
</cp:coreProperties>
</file>