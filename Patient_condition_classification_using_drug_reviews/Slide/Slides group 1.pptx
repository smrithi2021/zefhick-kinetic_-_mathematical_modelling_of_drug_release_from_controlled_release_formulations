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4" r:id="rId1"/>
  </p:sldMasterIdLst>
  <p:notesMasterIdLst>
    <p:notesMasterId r:id="rId33"/>
  </p:notesMasterIdLst>
  <p:sldIdLst>
    <p:sldId id="256" r:id="rId2"/>
    <p:sldId id="257" r:id="rId3"/>
    <p:sldId id="258" r:id="rId4"/>
    <p:sldId id="301" r:id="rId5"/>
    <p:sldId id="290" r:id="rId6"/>
    <p:sldId id="262" r:id="rId7"/>
    <p:sldId id="265" r:id="rId8"/>
    <p:sldId id="267" r:id="rId9"/>
    <p:sldId id="291" r:id="rId10"/>
    <p:sldId id="272" r:id="rId11"/>
    <p:sldId id="292" r:id="rId12"/>
    <p:sldId id="274" r:id="rId13"/>
    <p:sldId id="279" r:id="rId14"/>
    <p:sldId id="278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59" r:id="rId25"/>
    <p:sldId id="293" r:id="rId26"/>
    <p:sldId id="295" r:id="rId27"/>
    <p:sldId id="294" r:id="rId28"/>
    <p:sldId id="296" r:id="rId29"/>
    <p:sldId id="297" r:id="rId30"/>
    <p:sldId id="298" r:id="rId31"/>
    <p:sldId id="29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DD9B4-AA6A-4AC9-A05E-18FDB588BC8A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C3BAF-A84B-4AB6-A3A8-CE29E65671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60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F44A-067A-4012-A01B-0F5F546C90C4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68E3-9D72-43BD-B036-FA7EEA980711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0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BE9-0657-41FE-B5D8-D30363307DDC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13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44583-D576-4070-A57A-1FD491AD2DF6}" type="datetime1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80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2E97-ADDA-4144-B2D6-F7B08AF81E37}" type="datetime1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42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8D5DF-765A-4AC8-929B-912A16240690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85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D946F-5E54-4569-9804-FCAC5D0F6ACD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58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25493-5387-4CBD-8E56-3D3CE05A23A0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6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10B6-3D77-4024-BBB6-5D0C420A874A}" type="datetime1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1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D071-5F05-4BC6-87DC-6A5188A9C781}" type="datetime1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E0A4-6A51-48A8-8EEF-82527EAE34C1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994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AAD1-5E00-406B-ADAF-6DF91633A115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648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94123-05E6-47E3-89D5-6C6E38DC4A4F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472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87E6D-7B46-47E5-965C-DDAD40589985}" type="datetime1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848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9B7AA-C052-4252-B331-6DF83294B190}" type="datetime1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507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C9B3C-6E1C-4962-915E-E9A1064067CE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503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2C8FF-B8CB-4272-B23A-9A75FE5CF8E1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8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7CA067C-BEF8-432D-B54D-DBBA4688D101}" type="datetime1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E1BD6-2499-4156-97E6-C4CA3D18CB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4238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316D-20B8-348A-D8D1-BB32D1A1C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179872"/>
            <a:ext cx="9513045" cy="275303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Patient's Condition Classification Using Drug Reviews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EE7C3-D4A3-AA31-AE5F-F7E66BFBE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7316" y="4680154"/>
            <a:ext cx="2890684" cy="577645"/>
          </a:xfrm>
        </p:spPr>
        <p:txBody>
          <a:bodyPr/>
          <a:lstStyle/>
          <a:p>
            <a:r>
              <a:rPr lang="en-IN" dirty="0"/>
              <a:t>Project Group - 1</a:t>
            </a:r>
          </a:p>
        </p:txBody>
      </p:sp>
    </p:spTree>
    <p:extLst>
      <p:ext uri="{BB962C8B-B14F-4D97-AF65-F5344CB8AC3E}">
        <p14:creationId xmlns:p14="http://schemas.microsoft.com/office/powerpoint/2010/main" val="698969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3502B-F7DD-738A-D663-9EFAED77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27C67-0A20-4886-CBD9-9CE419D71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02426"/>
            <a:ext cx="8946541" cy="404597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patient’s condition—such as Depression, Type 2 Diabetes or High Blood Pressure—from patient reviews using NLP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alternate drug in case of patient dissatisfaction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35589-4737-037A-4E97-2CACB1F7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22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B847-5E3E-6E6F-8144-8CAC19E9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 processing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97BAF-7921-7241-2233-CF86FF5C0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9404723" cy="439515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 was performed using NLTK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  to reduce words to the base form</a:t>
            </a: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899 null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Messy User Reviews: Reviews had spelling mistakes, slang, and random text</a:t>
            </a: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the dataset to include only the target conditions: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Depression, Diabetes Type 2 and High Blood Pressure. This effectively removed all null values from the working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the text using basic NLP tools to make it easier for the model to understand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20431-0A7F-3B8C-82BB-D8601D022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48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6357-4E0D-D6B3-3660-3684FC1D8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Insights and Data Visualization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941F3-7953-F3C5-4413-861F980AE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02658"/>
            <a:ext cx="8946541" cy="464574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was performed – Depression was the most reviewed medical condition followed by Diabetes Type-2 and High Blood Pressure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A2463-D55E-1E1F-D06C-2E9A3C889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4</a:t>
            </a:fld>
            <a:endParaRPr lang="en-IN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CF665325-1A89-32B4-D77C-430FDD5C3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517" y="2747494"/>
            <a:ext cx="8007762" cy="36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8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E3278-E4CD-0BA3-AD1F-60C6848E6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83" y="1818968"/>
            <a:ext cx="4274933" cy="3819831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drug ratings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Highest rating was 10 with about 3700 ratings in this category. The lowest was 4 with around 450 ratings in this category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reviewed drugs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Bupropion followed by Sertraline and Venlafaxine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D50B86F-7EE8-72DE-F3C9-52342286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723" y="1288027"/>
            <a:ext cx="5025364" cy="2635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560F20-9BD9-2C05-EFCC-49259A4DD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723" y="4089062"/>
            <a:ext cx="5032622" cy="263504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A5BF3-D140-D073-158B-B9DBBD54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32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C394-C74D-650A-B553-1E81FD694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2619"/>
            <a:ext cx="4717026" cy="5744345"/>
          </a:xfrm>
        </p:spPr>
        <p:txBody>
          <a:bodyPr>
            <a:normAutofit lnSpcReduction="1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review word 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reviews are between 20–80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peaks around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frequency is just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1500 reviews for this word count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reviews are very long (over 100–300 words)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reviews are much shorter, concentrated below 80 words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reviews are significantly higher. There are approximately 9,700 positive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about 4,300 negative reviews</a:t>
            </a:r>
          </a:p>
          <a:p>
            <a:pPr marL="0" indent="0">
              <a:buNone/>
            </a:pPr>
            <a:endParaRPr lang="en-US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8AFAA-D3FF-2C62-97A3-6D97E1DF8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541" y="432619"/>
            <a:ext cx="4507104" cy="2921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3B0705-8F4C-D472-72D0-6F9B4CBB3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315" y="3591975"/>
            <a:ext cx="4483330" cy="2997354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F256885-CA31-9490-50DA-D0AA7FC4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667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4018F-41F9-3E67-CCAB-923E5C19D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11278"/>
            <a:ext cx="4884535" cy="5737122"/>
          </a:xfrm>
        </p:spPr>
        <p:txBody>
          <a:bodyPr>
            <a:normAutofit fontScale="92500" lnSpcReduction="1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Length by Sentiment: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Length Is Similar Across Sentiments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positive and negative reviews have a similar median length (around 35–40 words)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interquartile ranges (IQR) are nearly the same: most reviews fall between ~20 and ~65 words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positive and negative reviews have outliers (some very long reviews),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negative review nearing 300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positive reviews between 150–250 words</a:t>
            </a:r>
          </a:p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 by rating was analysed and plotted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word for rating 1, 2, 3, 4, &amp; 5 were – “day”, “week”, ”mg” and “taking”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CEA1E-B30A-E3A4-A845-903951C1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7" y="295729"/>
            <a:ext cx="4532671" cy="2589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F70D09-1A5B-BA33-84A4-B7A9CA13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847" y="3431922"/>
            <a:ext cx="4532671" cy="2914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9119F-4239-4BE1-10E6-CE826AE0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6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ECB7E4-44A9-C3AE-CA51-7460F86A6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254" y="466527"/>
            <a:ext cx="5565058" cy="26774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B7694-347A-0179-6928-6C3A26145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0" y="1805246"/>
            <a:ext cx="5261675" cy="283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C1166C-4D60-EC73-C71E-C5D044FCB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55" y="3503195"/>
            <a:ext cx="5565058" cy="29896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E4D35E-442B-49DA-E0FE-2261FA7615E7}"/>
              </a:ext>
            </a:extLst>
          </p:cNvPr>
          <p:cNvSpPr txBox="1"/>
          <p:nvPr/>
        </p:nvSpPr>
        <p:spPr>
          <a:xfrm>
            <a:off x="6926413" y="254954"/>
            <a:ext cx="395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N-gram analysis and Word cloud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372F3-09F8-AD85-1F67-F4F806CF1A1C}"/>
              </a:ext>
            </a:extLst>
          </p:cNvPr>
          <p:cNvSpPr txBox="1"/>
          <p:nvPr/>
        </p:nvSpPr>
        <p:spPr>
          <a:xfrm>
            <a:off x="6096000" y="1066178"/>
            <a:ext cx="1356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Tri-gram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DFEDA-752F-0BE7-5A4F-0B85FBC78D5A}"/>
              </a:ext>
            </a:extLst>
          </p:cNvPr>
          <p:cNvSpPr txBox="1"/>
          <p:nvPr/>
        </p:nvSpPr>
        <p:spPr>
          <a:xfrm>
            <a:off x="9812594" y="4796695"/>
            <a:ext cx="132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93E5E-77BD-EAD0-2E9E-6EF13B4A7F41}"/>
              </a:ext>
            </a:extLst>
          </p:cNvPr>
          <p:cNvSpPr txBox="1"/>
          <p:nvPr/>
        </p:nvSpPr>
        <p:spPr>
          <a:xfrm>
            <a:off x="6286689" y="5919020"/>
            <a:ext cx="155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cloud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67E7AD-F375-6195-2690-454F5563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65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78C27-D7B2-D28B-BEF3-292E97E9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20" y="344129"/>
            <a:ext cx="6263148" cy="5855109"/>
          </a:xfrm>
        </p:spPr>
        <p:txBody>
          <a:bodyPr>
            <a:normAutofit fontScale="92500" lnSpcReduction="1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vectorizer: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Like “day”, “week”, “mg” and “effect” occur more in positive reviews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 patients often talk about dosage, duration and progress, possibly indicating effective treatment experiences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Words Used Across Both Sentiments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Words like “doctor”, “blood”, “medication”, and “like” show relatively balanced usage across both ratings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more neutral or factual terms, commonly used regardless of sentiment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Negative Sentiment Association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like “depression” and “anxiety” are prominent, even in negative ratings (large light blue portions), which may signal: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from patients not seeing improvement in those conditions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D1768E3-4A0C-B8F9-18FA-0C58B01DB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556" y="1063416"/>
            <a:ext cx="5427624" cy="31822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A0449-635F-B3D1-133E-339003CA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2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9F94-5A9C-77F3-70A0-2E55DCEB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BDE044-415B-54E0-0768-D8AF4F2A1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96" y="1369905"/>
            <a:ext cx="5385619" cy="28284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F91BA5-6D09-E3A0-4080-10D762355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791" y="3038168"/>
            <a:ext cx="6134415" cy="3504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E11873-877A-6051-1885-28A98B047871}"/>
              </a:ext>
            </a:extLst>
          </p:cNvPr>
          <p:cNvSpPr txBox="1"/>
          <p:nvPr/>
        </p:nvSpPr>
        <p:spPr>
          <a:xfrm>
            <a:off x="5732662" y="1799376"/>
            <a:ext cx="302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0 - Negative sentiment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68437-465D-6A52-11E3-1C3BC533600E}"/>
              </a:ext>
            </a:extLst>
          </p:cNvPr>
          <p:cNvSpPr txBox="1"/>
          <p:nvPr/>
        </p:nvSpPr>
        <p:spPr>
          <a:xfrm>
            <a:off x="2703872" y="5887974"/>
            <a:ext cx="298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1 - Positive sentiment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88A0267-08A7-450C-466E-FDE53631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041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67ED8-22A5-99AC-5B84-31C7E5999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85136"/>
            <a:ext cx="8946541" cy="59632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0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us understand which words are more influential (i.e., uniquely important) in each sentiment class. These reviews often revolve around timing, dosage, and disappointment in efficacy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reviews focus on successful treatment, symptom relief, and emotional improvement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6BD018-66F6-1CD2-7418-6FBDD8A3E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502701"/>
              </p:ext>
            </p:extLst>
          </p:nvPr>
        </p:nvGraphicFramePr>
        <p:xfrm>
          <a:off x="383457" y="1950720"/>
          <a:ext cx="10962968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353">
                  <a:extLst>
                    <a:ext uri="{9D8B030D-6E8A-4147-A177-3AD203B41FA5}">
                      <a16:colId xmlns:a16="http://schemas.microsoft.com/office/drawing/2014/main" val="2423873044"/>
                    </a:ext>
                  </a:extLst>
                </a:gridCol>
                <a:gridCol w="1286381">
                  <a:extLst>
                    <a:ext uri="{9D8B030D-6E8A-4147-A177-3AD203B41FA5}">
                      <a16:colId xmlns:a16="http://schemas.microsoft.com/office/drawing/2014/main" val="1208307484"/>
                    </a:ext>
                  </a:extLst>
                </a:gridCol>
                <a:gridCol w="8611234">
                  <a:extLst>
                    <a:ext uri="{9D8B030D-6E8A-4147-A177-3AD203B41FA5}">
                      <a16:colId xmlns:a16="http://schemas.microsoft.com/office/drawing/2014/main" val="3541884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008553"/>
                  </a:ext>
                </a:extLst>
              </a:tr>
              <a:tr h="1249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Likely refers to how long the user tried the drug without 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14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Highlights dosage concerns, possibly due to ineffectiveness or side effects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79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Frequently used when users discuss ongoing treatment with no relief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1785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226307-FE4C-CDD8-3C02-CED5EAC8B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8274"/>
              </p:ext>
            </p:extLst>
          </p:nvPr>
        </p:nvGraphicFramePr>
        <p:xfrm>
          <a:off x="506361" y="4833866"/>
          <a:ext cx="109629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71">
                  <a:extLst>
                    <a:ext uri="{9D8B030D-6E8A-4147-A177-3AD203B41FA5}">
                      <a16:colId xmlns:a16="http://schemas.microsoft.com/office/drawing/2014/main" val="252399415"/>
                    </a:ext>
                  </a:extLst>
                </a:gridCol>
                <a:gridCol w="1347019">
                  <a:extLst>
                    <a:ext uri="{9D8B030D-6E8A-4147-A177-3AD203B41FA5}">
                      <a16:colId xmlns:a16="http://schemas.microsoft.com/office/drawing/2014/main" val="3993708945"/>
                    </a:ext>
                  </a:extLst>
                </a:gridCol>
                <a:gridCol w="8588478">
                  <a:extLst>
                    <a:ext uri="{9D8B030D-6E8A-4147-A177-3AD203B41FA5}">
                      <a16:colId xmlns:a16="http://schemas.microsoft.com/office/drawing/2014/main" val="3274173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69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Likely reflects dosage, but likely used in successful treatment stories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00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Likely highlights positive outcomes of the drug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634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Indicates long-term benefits — users report improvement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505573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FBD230-860E-0821-F3BD-FFEC4CEF9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439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7671-39CA-F6D6-EFA2-EE0E13CF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8155"/>
            <a:ext cx="9404723" cy="57288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wise sentiment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C33D2-5AE5-5C02-22F3-A030F1574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65238"/>
            <a:ext cx="5791200" cy="5771536"/>
          </a:xfrm>
        </p:spPr>
        <p:txBody>
          <a:bodyPr>
            <a:normAutofit fontScale="70000" lnSpcReduction="20000"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number of reviews overall, significantly more than the other two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the reviews are positive, but a considerable portion (~25%) are negative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patient engagement with antidepressants (more feedback)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report positive sentiment, though a meaningful group may experience adverse effects or no improvement</a:t>
            </a: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Diabetes, Type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total reviews compared to depression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reviews are roughly double the negative ones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patient satisfaction with diabetes medications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Likely variability in drug effectiveness, with some unmet expectations</a:t>
            </a: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Blood Pressure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trend to diabetes: more positive than negative reviews, but total volume is slightly less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Possibly due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blood pressure control with available medications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side effects or better tolerance in the user base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65F5A-9F0C-20A9-8A7E-6DC8B87CC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5" y="1457674"/>
            <a:ext cx="6211887" cy="321264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AAF85-51C2-5873-79DA-342F0EF7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8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7AC7-E2FB-E999-452D-F9CF7A67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1858297"/>
            <a:ext cx="8825657" cy="1570703"/>
          </a:xfrm>
        </p:spPr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24554-7A68-D8AC-AEFF-BDE930433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27A5-1A5F-1667-B10C-202C50E2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383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738C-8B33-9572-D49C-EC078297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84AC-8521-608C-D56B-838A26ADF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5" y="1553497"/>
            <a:ext cx="6381136" cy="4694903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– 94.76%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for Depression: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correctly predicted 1791 out of all Depression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were misclassified as High BP (15) or Diabetes (8)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class shows the strongest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Accuracy for High Blood Pressure: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388 correctly predicted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67 instances were misclassified as Depression — a notable misclassification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confusion with Diabetes (9 cases)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Diabetes, Type 2 – Reasonably Accurate: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464 correct predictions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confusion with Depression (40) and High BP (7), but not as severe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D4CA8E-4FA8-16AD-1749-DD09AF64C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018" y="1553497"/>
            <a:ext cx="4823176" cy="337319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A7C5861-A4B9-42E3-7AB5-341801D6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570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3F07F-5306-C7DB-4268-57D6A503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D5D0A-F8E6-B648-7F77-A8917490C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989006"/>
            <a:ext cx="8946541" cy="3259393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AUC values close to 1 suggest that the model can be trusted to make reliable predictions for Depression, High BP, and especially Diabetes. However, such high AUCs has a probability of overfitting.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C577F-C659-A82F-EB44-3C846B64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980" y="268728"/>
            <a:ext cx="6388428" cy="434997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F75ED-5284-711E-0F27-62E9698C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39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54D6-F4A5-EF10-929D-F35BECA7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98323"/>
            <a:ext cx="9404723" cy="115037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9056B-36F1-C465-6E20-66068B74F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786581"/>
            <a:ext cx="6548414" cy="5909187"/>
          </a:xfrm>
        </p:spPr>
        <p:txBody>
          <a:bodyPr>
            <a:no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– 94%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for Class 0 (Depression):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model correctly predicted 1774 out of all true Class 0 cases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Only 23 were misclassified as Class 1 (High BP) and 17 as Class 2 (Diabetes)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This class shows the strongest performance, with minimal confusion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Accuracy for Class 1 (High Blood Pressure):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- 408 instances were correctly predicted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However, 46 were misclassified as Class 0 (Depression), indicating some overlap or feature similarity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- 10 were misclassified as Class 2 (Diabetes), though to a lesser extent</a:t>
            </a:r>
          </a:p>
          <a:p>
            <a:pPr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performance is solid, but with notable confusion with Class 0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Accuracy for Class 2 (Diabetes):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- 466 predictions were correct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- 32 were misclassified as Class 0 (Depression) and 13 as Class 1 (High BP)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While there is some confusion, performance remains strong and consistent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BCBA6-0114-C501-75C1-68B895256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525" y="1435511"/>
            <a:ext cx="4921503" cy="37424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2BF5-DB91-93E2-70CF-F37186DD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938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B79B-C191-D06B-280B-22C28DBB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EF7445-8307-6F73-F8A5-D715D72F74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8704" y="4815392"/>
            <a:ext cx="105596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model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strong across all classes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minimal drop-off in performance for any individual class.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it's worth monitoring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despite equal AUC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(seen in the confusion matrix)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still exist — especially between Class 1 and Class 0.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C86C2-E465-7A9C-175E-01ABBE74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21" y="336259"/>
            <a:ext cx="7086964" cy="436267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43EFD-0C18-45DE-8B3B-BA067CC1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722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E33A-1E68-1ED4-D6D7-2168CB72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aggressive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66850-0B35-FE66-C42E-B6C32F709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1327356"/>
            <a:ext cx="5830529" cy="5077926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– 95%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for Class 0 (Depression):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model correctly predicted 1762 instances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Only 28 were misclassified as Class 1 (High BP) and 24 as Class 2 (Diabetes)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This class shows exceptionally high performance, with over 96% accuracy and minimal confusion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 for Class 1 (High Blood Pressure):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415 cases were correctly classified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39 instances were misclassified as Class 0, and 10 as Class 2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While the class is predicted well, there’s some confusion with Class 0, likely due to overlapping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Accuracy for Class 2 (Diabetes):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- 479 correct predictions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Minor misclassifications: 21 as Class 0 and 11 as Class 1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Shows improvement over the previous matrix — more confident predictions and reduced error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33AD3-9F41-14CE-F040-D5F11A616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391" y="1638912"/>
            <a:ext cx="4667490" cy="40324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2490B0-DF05-D7E0-AE3D-A323603CF6BC}"/>
              </a:ext>
            </a:extLst>
          </p:cNvPr>
          <p:cNvSpPr/>
          <p:nvPr/>
        </p:nvSpPr>
        <p:spPr>
          <a:xfrm>
            <a:off x="7266039" y="1651819"/>
            <a:ext cx="953729" cy="2014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C475179-9A16-06F2-4098-DE414FDC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147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BD33-795B-F4BC-EB50-478D2B0A5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549C251-E141-4034-1270-3141EA5537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39195"/>
            <a:ext cx="9304022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Passive Aggressive Classifier performs exceptionally well in this multi-class setting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Class 1 (likely High BP) shows slightly lower AUC, it's still well above typical performance thresholds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 with confusion matrix insights, this model offers strong generalization and high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discriminative power across all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39DF9-51B7-EF44-2FD9-ED9347C1E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479" y="524681"/>
            <a:ext cx="6032810" cy="430552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5A5F1-47BE-A665-F4C1-9B91BC10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03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D654-307D-52D4-1863-87274877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E622-4E6C-0F36-DB2B-3A3E1DD3A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324" y="1170039"/>
            <a:ext cx="5785147" cy="561421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– 95.73%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Depression, Class 0  – Extremely High Accuracy: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This is the best-performing class with very minimal confusion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Indicates strong feature separability for this class (likely Depression, based on earlier context)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Blood Pressure, Class 1 – Good Accuracy, Some Confusion: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model confuses Class 1 with Class 0 more often than vice versa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Suggests that Class 1 shares feature similarity with Class 0, possibly making boundary decisions harder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Diabetes, Class 2 – High Accuracy, Slight Overlap: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Still performs very well, though minor confusion exists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Class 2 remains consistently strong across all previous matrices and ROC curves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3DF4AA-714A-9414-75C5-06E20C83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471" y="1313835"/>
            <a:ext cx="5785147" cy="399435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5EC1E0-C1D1-FF41-DC96-BBE0DF12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594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BD79-136A-680D-64EE-03F6D667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D1766E5-A023-B48B-FA1B-E1BE2F92C2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8102" y="5270224"/>
            <a:ext cx="95237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is a top-tier model performance, particularly for a multi-class classification task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misclassifications are likely due to minor overlap in features rather than major model weakness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2B6695-E7FF-A651-2233-F135FA6D9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56" y="318212"/>
            <a:ext cx="6343976" cy="4686541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21C816-CEDB-25CF-4006-4E95E462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565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421C-68F8-3520-71D2-6970EFF6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B6651-AB63-E32F-62CD-0580CAD5F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04336"/>
            <a:ext cx="5794018" cy="4984954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– 96.55%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0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Depression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class shows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strongest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both high precision and recall. The model almost never misses a Condition 0 case.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1 (High Blood Pressure)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struggles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with identifying Condition 1. A significant number of true cases were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(false negatives). Needs improvement in recall.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2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Diabetes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class is handled quite well by the model, with a high F1-score and minimal misclassification.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performs exceptionally well overall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1 is slightly underperforming compared to the other two — focus on improving recall for this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precision and recall suggest that the model is not just memorizing, but generalizing well across classes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2E2107-8EC3-4A09-EF8C-4FF3FA045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606" y="1329408"/>
            <a:ext cx="5316230" cy="3354477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62730E7-AD90-A81B-E3D6-B56CF2A3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888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0C5C-F25E-A43D-E036-16FE1B75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E474A-B9A4-7E07-C89B-A734DCA1E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414684"/>
            <a:ext cx="8946541" cy="183371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performs at or near perfection in multi-class classification for the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Class 0 and Class 2 are flawlessly handled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1, while still highly accurate, shows slight room for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performance model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26E6F-A897-2E04-CD8C-91E73D65A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05" y="376237"/>
            <a:ext cx="5531134" cy="385464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576AE-C80C-EA5A-4977-D3B42DA2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214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E5270-20F7-D65F-E27C-9C1168AE6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40542"/>
            <a:ext cx="8946541" cy="5427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for creating BERT model-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Training Time &amp; Crashes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training of the BERT model on local machines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took over 14 hours, frequently crashing due to resource exhaustion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 speed was very slow due to small batch sizes and default settings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Compatibility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version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was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incompatible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installed versions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other dependencies. This led to import errors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limitations in the local environment made it difficult to fine-tune BERT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kernel restarts during model training hindered experimentation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3DAFFC7-8130-DE1E-C6B1-93AB6AED9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665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DCD326E-CDD6-30DD-EC81-C17888D154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7338" y="489798"/>
            <a:ext cx="10125127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Resolution-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Switched to Google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the project to Google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offered free GPU access, more memory, and greater 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move reduced crashes and allowed longer training sessions</a:t>
            </a:r>
          </a:p>
          <a:p>
            <a:pPr>
              <a:buClr>
                <a:srgbClr val="B31166">
                  <a:lumMod val="60000"/>
                  <a:lumOff val="40000"/>
                </a:srgbClr>
              </a:buClr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Hyperparameters</a:t>
            </a:r>
          </a:p>
          <a:p>
            <a:pPr>
              <a:buClr>
                <a:srgbClr val="B31166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per_device_train_batch_size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was increased from 15 to 50, which improved training speed and memory efficiency</a:t>
            </a:r>
          </a:p>
          <a:p>
            <a:pPr>
              <a:buClr>
                <a:srgbClr val="B31166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 were reduced from 3 to 1 to prevent overfitting and reduce time per run</a:t>
            </a:r>
          </a:p>
          <a:p>
            <a:pPr>
              <a:buClr>
                <a:srgbClr val="B31166">
                  <a:lumMod val="60000"/>
                  <a:lumOff val="40000"/>
                </a:srgbClr>
              </a:buClr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Transitioned to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B31166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Switched from TensorFlow to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had better compatibility with the current environment</a:t>
            </a:r>
          </a:p>
          <a:p>
            <a:pPr>
              <a:buClr>
                <a:srgbClr val="B31166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PyTorch’s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seamless integration with Hugging Face Transformers made implementation more manageable</a:t>
            </a:r>
          </a:p>
          <a:p>
            <a:pPr>
              <a:buClr>
                <a:srgbClr val="B31166">
                  <a:lumMod val="60000"/>
                  <a:lumOff val="40000"/>
                </a:srgbClr>
              </a:buClr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Model-Specific Fixes</a:t>
            </a:r>
          </a:p>
          <a:p>
            <a:pPr>
              <a:buClr>
                <a:srgbClr val="B31166">
                  <a:lumMod val="60000"/>
                  <a:lumOff val="4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the tokenizer usage to avoid TensorFlow dependency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return_tensors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='pt' used for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Clr>
                <a:srgbClr val="B31166">
                  <a:lumMod val="60000"/>
                  <a:lumOff val="40000"/>
                </a:srgbClr>
              </a:buClr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overall time to train the model was thereby reduced to about 4 hours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7023A-FC9A-8005-BEBC-C70AACA0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408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8423-7BA4-A2D2-A248-6506670D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1858297"/>
            <a:ext cx="8825657" cy="157070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93125-3305-03DA-24A9-FC2448EA6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53853-2DBF-8337-A317-5687F3C9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883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3549-A551-91FA-51E4-7893E085F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71484"/>
            <a:ext cx="8946541" cy="45769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 Used: VS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Flask Web 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C69EC-1208-1709-272A-8344706FD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052" y="1071716"/>
            <a:ext cx="4051508" cy="446427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DD55D-AD1A-68C9-CBF3-076AE8EA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657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DB9E-5028-B679-CCC3-45484BBF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B2073-BDCD-39A5-F074-F74B8EDCB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73" y="4517101"/>
            <a:ext cx="9604341" cy="17312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– Patient review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– Predicts disease condition and sentiment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Negative sentiment- Alternate drugs would be recommended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30D50-F049-6D99-D229-97EE6BC0D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233" y="231802"/>
            <a:ext cx="4581832" cy="42181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D77D7-1D91-9A4C-0AC1-22078F259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73" y="298907"/>
            <a:ext cx="4824605" cy="332919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B3B36B-AEBF-CDCC-621E-2E29FBD6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810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E38D-5EC6-CC5D-3E09-CE3B0E33F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894736"/>
            <a:ext cx="8946541" cy="535366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Two Things at Once: Needed to predict both condition and sentiment from one review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Built two separate models – one for condition and one for sentiment – and combined their results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Suggesting Alternative Drugs.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review was negative, we had to find better drug options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Created a list of alternative drugs for each condition and showed them when needed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Connecting Model with Flask App. Hard to run machine learning inside a web app smoothly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Loaded the model once when the app started and used it for fast predictions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F472E-4C45-0670-E1B2-CF2D99C5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94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B115-9901-9727-80AF-1D6814BD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27819"/>
            <a:ext cx="9404723" cy="481781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Conclusion-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&amp; Key Insights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F098C-86F1-3BD9-4FA7-1B928A762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3" y="678426"/>
            <a:ext cx="10894142" cy="5761703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94.76%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Aggressive Classifier: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95.73%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BERT: 96.55%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(Best Performing)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Class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models,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(Class 0)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consistently shows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prediction accuracy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minimal confusion, and strong feature separation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Class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Blood Pressure (Class 1)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gets confused with Depression — possibly due to overlapping language or shared symptoms in reviews.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class had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recall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most models, especially in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room for improvement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Consistency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(Class 2)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accuracy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models, with minimal misclassification and high precision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BERT Excels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accuracy (96.55%)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precision and recall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robust generalization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strong for Depression and Diabetes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SVM was chosen for model building due to its faster training time and lower computational requirements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EDFD0-CFFB-878B-8693-B88D61D9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450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D176-580F-18F3-6DB6-60A1F4DC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F0FCA-F198-8A21-FA4A-B4175B91C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3E155-8ED5-7715-F8F7-B6052C9FF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BD6-2499-4156-97E6-C4CA3D18CB0C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0673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1472</TotalTime>
  <Words>2263</Words>
  <Application>Microsoft Office PowerPoint</Application>
  <PresentationFormat>Widescreen</PresentationFormat>
  <Paragraphs>302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Patient's Condition Classification Using Drug Reviews</vt:lpstr>
      <vt:lpstr>Business objective</vt:lpstr>
      <vt:lpstr>Pre processing steps</vt:lpstr>
      <vt:lpstr>EDA Insights and Data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TF-IDF Analysis</vt:lpstr>
      <vt:lpstr>PowerPoint Presentation</vt:lpstr>
      <vt:lpstr>Condition wise sentiment distribution</vt:lpstr>
      <vt:lpstr>Model building</vt:lpstr>
      <vt:lpstr>Logistic Regression</vt:lpstr>
      <vt:lpstr>PowerPoint Presentation</vt:lpstr>
      <vt:lpstr>Naive Bayes </vt:lpstr>
      <vt:lpstr>PowerPoint Presentation</vt:lpstr>
      <vt:lpstr>Passive aggressive classifier</vt:lpstr>
      <vt:lpstr>PowerPoint Presentation</vt:lpstr>
      <vt:lpstr>Support Vector Machine</vt:lpstr>
      <vt:lpstr>PowerPoint Presentation</vt:lpstr>
      <vt:lpstr>BERT</vt:lpstr>
      <vt:lpstr>PowerPoint Presentation</vt:lpstr>
      <vt:lpstr>PowerPoint Presentation</vt:lpstr>
      <vt:lpstr>PowerPoint Presentation</vt:lpstr>
      <vt:lpstr>Deployment</vt:lpstr>
      <vt:lpstr>PowerPoint Presentation</vt:lpstr>
      <vt:lpstr>PowerPoint Presentation</vt:lpstr>
      <vt:lpstr>PowerPoint Presentation</vt:lpstr>
      <vt:lpstr>Conclusion- Model Comparison &amp; Key Insights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Smrithi Radhakrishnan</dc:creator>
  <cp:lastModifiedBy>Smrithi Radhakrishnan</cp:lastModifiedBy>
  <cp:revision>15</cp:revision>
  <dcterms:created xsi:type="dcterms:W3CDTF">2025-07-10T11:09:06Z</dcterms:created>
  <dcterms:modified xsi:type="dcterms:W3CDTF">2025-07-11T11:41:11Z</dcterms:modified>
</cp:coreProperties>
</file>